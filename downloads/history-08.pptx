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18606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9478" y="95099"/>
            <a:ext cx="1711782" cy="3296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96" b="1" i="0">
                <a:solidFill>
                  <a:srgbClr val="19395E"/>
                </a:solidFill>
                <a:latin typeface="Liberation Sans"/>
              </a:rPr>
              <a:t>ASBS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498" y="424775"/>
            <a:ext cx="4691551" cy="2028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536474"/>
                </a:solidFill>
                <a:latin typeface="Liberation Sans"/>
              </a:rPr>
              <a:t>Feedback-conditioned proposal transport for frozen VLAs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6798" y="792491"/>
            <a:ext cx="2092178" cy="2726172"/>
          </a:xfrm>
          <a:prstGeom prst="roundRect">
            <a:avLst/>
          </a:prstGeom>
          <a:solidFill>
            <a:srgbClr val="EEF5FC"/>
          </a:solidFill>
          <a:ln w="9509">
            <a:solidFill>
              <a:srgbClr val="8BA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6277" y="912950"/>
            <a:ext cx="1775181" cy="2218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7" b="1" i="0">
                <a:solidFill>
                  <a:srgbClr val="19395E"/>
                </a:solidFill>
                <a:latin typeface="Liberation Sans"/>
              </a:rPr>
              <a:t>Deployment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617" y="1223607"/>
            <a:ext cx="950990" cy="1584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536474"/>
                </a:solidFill>
                <a:latin typeface="Liberation Sans"/>
              </a:rPr>
              <a:t>instruction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277" y="1394785"/>
            <a:ext cx="1806881" cy="285297"/>
          </a:xfrm>
          <a:prstGeom prst="roundRect">
            <a:avLst/>
          </a:prstGeom>
          <a:solidFill>
            <a:srgbClr val="FFFFFF"/>
          </a:solidFill>
          <a:ln w="6339">
            <a:solidFill>
              <a:srgbClr val="C3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356" y="1451845"/>
            <a:ext cx="1661062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19395E"/>
                </a:solidFill>
                <a:latin typeface="Liberation Sans"/>
              </a:rPr>
              <a:t>new target / changed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617" y="1768841"/>
            <a:ext cx="1014389" cy="1584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536474"/>
                </a:solidFill>
                <a:latin typeface="Liberation Sans"/>
              </a:rPr>
              <a:t>observation</a:t>
            </a:r>
          </a:p>
        </p:txBody>
      </p:sp>
      <p:pic>
        <p:nvPicPr>
          <p:cNvPr id="10" name="Picture 9" descr="context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77" y="1946360"/>
            <a:ext cx="1806881" cy="9953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2617" y="3036828"/>
            <a:ext cx="760792" cy="1584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536474"/>
                </a:solidFill>
                <a:latin typeface="Liberation Sans"/>
              </a:rPr>
              <a:t>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297" y="3246046"/>
            <a:ext cx="171178" cy="1394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2815" y="3246046"/>
            <a:ext cx="171178" cy="1394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333" y="3246046"/>
            <a:ext cx="171178" cy="1394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851" y="3246046"/>
            <a:ext cx="171178" cy="1394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5369" y="3246046"/>
            <a:ext cx="171178" cy="1394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887" y="3246046"/>
            <a:ext cx="171178" cy="1394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50406" y="3246046"/>
            <a:ext cx="171178" cy="1394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27924" y="3246046"/>
            <a:ext cx="171178" cy="1394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13221" y="3214347"/>
            <a:ext cx="171178" cy="1901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8" b="1" i="0">
                <a:solidFill>
                  <a:srgbClr val="536474"/>
                </a:solidFill>
                <a:latin typeface="Liberation Sans"/>
              </a:rPr>
              <a:t>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2574" y="792491"/>
            <a:ext cx="6352614" cy="2726172"/>
          </a:xfrm>
          <a:prstGeom prst="roundRect">
            <a:avLst/>
          </a:prstGeom>
          <a:solidFill>
            <a:srgbClr val="FFF6E6"/>
          </a:solidFill>
          <a:ln w="12679">
            <a:solidFill>
              <a:srgbClr val="D98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62772" y="912950"/>
            <a:ext cx="3550363" cy="240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D9871B"/>
                </a:solidFill>
                <a:latin typeface="Liberation Sans"/>
              </a:rPr>
              <a:t>Feedback-conditioned adapter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2772" y="1299686"/>
            <a:ext cx="2218977" cy="1933680"/>
          </a:xfrm>
          <a:prstGeom prst="roundRect">
            <a:avLst/>
          </a:prstGeom>
          <a:solidFill>
            <a:srgbClr val="EEF5FC"/>
          </a:solidFill>
          <a:ln w="11411">
            <a:solidFill>
              <a:srgbClr val="8BA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2251" y="1394785"/>
            <a:ext cx="1946360" cy="2028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9395E"/>
                </a:solidFill>
                <a:latin typeface="Liberation Sans"/>
              </a:rPr>
              <a:t>Frozen VLA proposal service</a:t>
            </a:r>
          </a:p>
        </p:txBody>
      </p:sp>
      <p:pic>
        <p:nvPicPr>
          <p:cNvPr id="25" name="Picture 24" descr="vla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251" y="1680082"/>
            <a:ext cx="760792" cy="85589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64482" y="1730802"/>
            <a:ext cx="995369" cy="1584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536474"/>
                </a:solidFill>
                <a:latin typeface="Liberation Sans"/>
              </a:rPr>
              <a:t>checkpoint fixed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4482" y="1959039"/>
            <a:ext cx="1141188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19395E"/>
                </a:solidFill>
                <a:latin typeface="Liberation Sans"/>
              </a:rPr>
              <a:t>native proposal  z ~ p0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1667" y="2371135"/>
            <a:ext cx="164838" cy="133138"/>
          </a:xfrm>
          <a:prstGeom prst="rect">
            <a:avLst/>
          </a:prstGeom>
          <a:solidFill>
            <a:srgbClr val="4D9EA3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72845" y="2371135"/>
            <a:ext cx="164838" cy="133138"/>
          </a:xfrm>
          <a:prstGeom prst="rect">
            <a:avLst/>
          </a:prstGeom>
          <a:solidFill>
            <a:srgbClr val="4D9EA3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44023" y="2371135"/>
            <a:ext cx="164838" cy="133138"/>
          </a:xfrm>
          <a:prstGeom prst="rect">
            <a:avLst/>
          </a:prstGeom>
          <a:solidFill>
            <a:srgbClr val="4D9EA3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15201" y="2371135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380" y="2371135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57558" y="2371135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28736" y="2371135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99914" y="2371135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1667" y="2586693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72845" y="2586693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44023" y="2586693"/>
            <a:ext cx="164838" cy="133138"/>
          </a:xfrm>
          <a:prstGeom prst="rect">
            <a:avLst/>
          </a:prstGeom>
          <a:solidFill>
            <a:srgbClr val="4D9EA3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15201" y="2586693"/>
            <a:ext cx="164838" cy="133138"/>
          </a:xfrm>
          <a:prstGeom prst="rect">
            <a:avLst/>
          </a:prstGeom>
          <a:solidFill>
            <a:srgbClr val="4D9EA3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86380" y="2586693"/>
            <a:ext cx="164838" cy="133138"/>
          </a:xfrm>
          <a:prstGeom prst="rect">
            <a:avLst/>
          </a:prstGeom>
          <a:solidFill>
            <a:srgbClr val="4D9EA3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57558" y="2586693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28736" y="2586693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9914" y="2586693"/>
            <a:ext cx="164838" cy="1331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7172" y="2542313"/>
            <a:ext cx="158498" cy="1901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536474"/>
                </a:solidFill>
                <a:latin typeface="Liberation Sans"/>
              </a:rPr>
              <a:t>…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08548" y="2250676"/>
            <a:ext cx="215558" cy="0"/>
          </a:xfrm>
          <a:prstGeom prst="line">
            <a:avLst/>
          </a:prstGeom>
          <a:ln w="15849">
            <a:solidFill>
              <a:srgbClr val="D9871B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312865" y="1299686"/>
            <a:ext cx="3296766" cy="1933680"/>
          </a:xfrm>
          <a:prstGeom prst="roundRect">
            <a:avLst/>
          </a:prstGeom>
          <a:solidFill>
            <a:srgbClr val="FFFBF3"/>
          </a:solidFill>
          <a:ln w="11411">
            <a:solidFill>
              <a:srgbClr val="D98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65024" y="1394785"/>
            <a:ext cx="1584983" cy="2028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7" b="1" i="0">
                <a:solidFill>
                  <a:srgbClr val="D9871B"/>
                </a:solidFill>
                <a:latin typeface="Liberation Sans"/>
              </a:rPr>
              <a:t>ASBS transport</a:t>
            </a:r>
          </a:p>
        </p:txBody>
      </p:sp>
      <p:pic>
        <p:nvPicPr>
          <p:cNvPr id="48" name="Picture 47" descr="transport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463" y="1787861"/>
            <a:ext cx="2948069" cy="11919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541103" y="1648383"/>
            <a:ext cx="633993" cy="1901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0" i="0">
                <a:solidFill>
                  <a:srgbClr val="19395E"/>
                </a:solidFill>
                <a:latin typeface="Liberation Sans"/>
              </a:rPr>
              <a:t>p0(z)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3083" y="1648383"/>
            <a:ext cx="1039749" cy="1901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98" b="0" i="0">
                <a:solidFill>
                  <a:srgbClr val="19395E"/>
                </a:solidFill>
                <a:latin typeface="Liberation Sans"/>
              </a:rPr>
              <a:t>q(z | feedback)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47443" y="2998789"/>
            <a:ext cx="2802251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536474"/>
                </a:solidFill>
                <a:latin typeface="Liberation Sans"/>
              </a:rPr>
              <a:t>changes proposal law; keeps decoder fixed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15743" y="215557"/>
            <a:ext cx="3550363" cy="583274"/>
          </a:xfrm>
          <a:prstGeom prst="roundRect">
            <a:avLst/>
          </a:prstGeom>
          <a:solidFill>
            <a:srgbClr val="F7FAFC"/>
          </a:solidFill>
          <a:ln w="8241">
            <a:solidFill>
              <a:srgbClr val="C6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5222" y="291637"/>
            <a:ext cx="1775181" cy="1711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19395E"/>
                </a:solidFill>
                <a:latin typeface="Liberation Sans"/>
              </a:rPr>
              <a:t>Consequence feedback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68443" y="310656"/>
            <a:ext cx="1470864" cy="1331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98" b="1" i="0">
                <a:solidFill>
                  <a:srgbClr val="536474"/>
                </a:solidFill>
                <a:latin typeface="Liberation Sans"/>
              </a:rPr>
              <a:t>same observation · fixed continuation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2281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20060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27839" y="519874"/>
            <a:ext cx="101438" cy="1077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5618" y="519874"/>
            <a:ext cx="101438" cy="1077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43397" y="519874"/>
            <a:ext cx="101438" cy="1077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51176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58954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85753" y="519874"/>
            <a:ext cx="107778" cy="107778"/>
          </a:xfrm>
          <a:prstGeom prst="ellipse">
            <a:avLst/>
          </a:prstGeom>
          <a:solidFill>
            <a:srgbClr val="86A976"/>
          </a:solidFill>
          <a:ln w="2540">
            <a:solidFill>
              <a:srgbClr val="86A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16598" y="640333"/>
            <a:ext cx="526214" cy="120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86A976"/>
                </a:solidFill>
                <a:latin typeface="Liberation Sans"/>
              </a:rPr>
              <a:t>progress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90070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897849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05628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13407" y="519874"/>
            <a:ext cx="101438" cy="1077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21186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28964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36743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63542" y="519874"/>
            <a:ext cx="107778" cy="107778"/>
          </a:xfrm>
          <a:prstGeom prst="ellipse">
            <a:avLst/>
          </a:prstGeom>
          <a:solidFill>
            <a:srgbClr val="D96F5D"/>
          </a:solidFill>
          <a:ln w="2540">
            <a:solidFill>
              <a:srgbClr val="D96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94387" y="640333"/>
            <a:ext cx="526214" cy="120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D96F5D"/>
                </a:solidFill>
                <a:latin typeface="Liberation Sans"/>
              </a:rPr>
              <a:t>failure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7859" y="519874"/>
            <a:ext cx="101438" cy="1077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75638" y="519874"/>
            <a:ext cx="101438" cy="107778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83417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91196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98975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06753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14532" y="519874"/>
            <a:ext cx="101438" cy="1077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641331" y="519874"/>
            <a:ext cx="107778" cy="107778"/>
          </a:xfrm>
          <a:prstGeom prst="ellipse">
            <a:avLst/>
          </a:prstGeom>
          <a:solidFill>
            <a:srgbClr val="536474"/>
          </a:solidFill>
          <a:ln w="2540">
            <a:solidFill>
              <a:srgbClr val="53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72176" y="640333"/>
            <a:ext cx="526214" cy="120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536474"/>
                </a:solidFill>
                <a:latin typeface="Liberation Sans"/>
              </a:rPr>
              <a:t>unknown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6973928" y="811511"/>
            <a:ext cx="304317" cy="424776"/>
          </a:xfrm>
          <a:prstGeom prst="line">
            <a:avLst/>
          </a:prstGeom>
          <a:ln w="12679">
            <a:solidFill>
              <a:srgbClr val="D9871B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9002707" y="792491"/>
            <a:ext cx="3043168" cy="2726172"/>
          </a:xfrm>
          <a:prstGeom prst="roundRect">
            <a:avLst/>
          </a:prstGeom>
          <a:solidFill>
            <a:srgbClr val="EFF8EF"/>
          </a:solidFill>
          <a:ln w="11411">
            <a:solidFill>
              <a:srgbClr val="86A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61206" y="919290"/>
            <a:ext cx="2345775" cy="2218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7" b="1" i="0">
                <a:solidFill>
                  <a:srgbClr val="2F6540"/>
                </a:solidFill>
                <a:latin typeface="Liberation Sans"/>
              </a:rPr>
              <a:t>Trusted execution loop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80226" y="1312366"/>
            <a:ext cx="665693" cy="1584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536474"/>
                </a:solidFill>
                <a:latin typeface="Liberation Sans"/>
              </a:rPr>
              <a:t>adapted z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80226" y="1521584"/>
            <a:ext cx="164838" cy="13947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51404" y="1521584"/>
            <a:ext cx="164838" cy="13947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22582" y="1521584"/>
            <a:ext cx="164838" cy="13947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93760" y="1521584"/>
            <a:ext cx="164838" cy="13947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9985397" y="1591323"/>
            <a:ext cx="221898" cy="0"/>
          </a:xfrm>
          <a:prstGeom prst="line">
            <a:avLst/>
          </a:prstGeom>
          <a:ln w="12679">
            <a:solidFill>
              <a:srgbClr val="19395E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10270694" y="1331386"/>
            <a:ext cx="1534264" cy="456475"/>
          </a:xfrm>
          <a:prstGeom prst="roundRect">
            <a:avLst/>
          </a:prstGeom>
          <a:solidFill>
            <a:srgbClr val="E7F3F4"/>
          </a:solidFill>
          <a:ln w="8875">
            <a:solidFill>
              <a:srgbClr val="5AA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334094" y="1382105"/>
            <a:ext cx="1407465" cy="336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8" b="1" i="0">
                <a:solidFill>
                  <a:srgbClr val="19395E"/>
                </a:solidFill>
                <a:latin typeface="Liberation Sans"/>
              </a:rPr>
              <a:t>same frozen</a:t>
            </a:r>
            <a:br/>
            <a:r>
              <a:rPr sz="1098" b="1" i="0">
                <a:solidFill>
                  <a:srgbClr val="19395E"/>
                </a:solidFill>
                <a:latin typeface="Liberation Sans"/>
              </a:rPr>
              <a:t>VLA decoder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1031487" y="1838581"/>
            <a:ext cx="0" cy="202878"/>
          </a:xfrm>
          <a:prstGeom prst="line">
            <a:avLst/>
          </a:prstGeom>
          <a:ln w="12679">
            <a:solidFill>
              <a:srgbClr val="19395E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10321414" y="2155577"/>
            <a:ext cx="152158" cy="15849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79912" y="2155577"/>
            <a:ext cx="152158" cy="15849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638411" y="2155577"/>
            <a:ext cx="152158" cy="15849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796909" y="2155577"/>
            <a:ext cx="152158" cy="15849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955407" y="2155577"/>
            <a:ext cx="152158" cy="15849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113906" y="2155577"/>
            <a:ext cx="152158" cy="15849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272404" y="2155577"/>
            <a:ext cx="152158" cy="15849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430902" y="2155577"/>
            <a:ext cx="152158" cy="15849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397493" y="2383815"/>
            <a:ext cx="1255307" cy="1584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8" b="1" i="0">
                <a:solidFill>
                  <a:srgbClr val="536474"/>
                </a:solidFill>
                <a:latin typeface="Liberation Sans"/>
              </a:rPr>
              <a:t>execute prefix</a:t>
            </a:r>
          </a:p>
        </p:txBody>
      </p:sp>
      <p:pic>
        <p:nvPicPr>
          <p:cNvPr id="103" name="Picture 102" descr="exec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206" y="2624733"/>
            <a:ext cx="950990" cy="710072"/>
          </a:xfrm>
          <a:prstGeom prst="rect">
            <a:avLst/>
          </a:prstGeom>
        </p:spPr>
      </p:pic>
      <p:pic>
        <p:nvPicPr>
          <p:cNvPr id="104" name="Picture 103" descr="new_ob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7295" y="2624733"/>
            <a:ext cx="950990" cy="71007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0194615" y="3366505"/>
            <a:ext cx="976350" cy="1394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536474"/>
                </a:solidFill>
                <a:latin typeface="Liberation Sans"/>
              </a:rPr>
              <a:t>new observation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247044" y="2865650"/>
            <a:ext cx="665693" cy="3486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2F6540"/>
                </a:solidFill>
                <a:latin typeface="Liberation Sans"/>
              </a:rPr>
              <a:t>re-observe →</a:t>
            </a:r>
            <a:br/>
            <a:r>
              <a:rPr sz="798" b="1" i="0">
                <a:solidFill>
                  <a:srgbClr val="2F6540"/>
                </a:solidFill>
                <a:latin typeface="Liberation Sans"/>
              </a:rPr>
              <a:t>update feedback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58498" y="3727881"/>
            <a:ext cx="11874698" cy="0"/>
          </a:xfrm>
          <a:prstGeom prst="line">
            <a:avLst/>
          </a:prstGeom>
          <a:ln w="8241">
            <a:solidFill>
              <a:srgbClr val="A6B8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58498" y="3822980"/>
            <a:ext cx="1648383" cy="1901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536474"/>
                </a:solidFill>
                <a:latin typeface="Liberation Sans"/>
              </a:rPr>
              <a:t>Closed-loop rollout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6475" y="4057558"/>
            <a:ext cx="1584983" cy="697392"/>
          </a:xfrm>
          <a:prstGeom prst="roundRect">
            <a:avLst/>
          </a:prstGeom>
          <a:solidFill>
            <a:srgbClr val="FFFFFF"/>
          </a:solidFill>
          <a:ln w="7607">
            <a:solidFill>
              <a:srgbClr val="B8C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45234" y="4133637"/>
            <a:ext cx="196537" cy="196537"/>
          </a:xfrm>
          <a:prstGeom prst="ellipse">
            <a:avLst/>
          </a:prstGeom>
          <a:solidFill>
            <a:srgbClr val="19395E"/>
          </a:solidFill>
          <a:ln w="2540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5234" y="4139977"/>
            <a:ext cx="196537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8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2491" y="4127297"/>
            <a:ext cx="1166548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19395E"/>
                </a:solidFill>
                <a:latin typeface="Liberation Sans"/>
              </a:rPr>
              <a:t>observe</a:t>
            </a:r>
          </a:p>
        </p:txBody>
      </p:sp>
      <p:pic>
        <p:nvPicPr>
          <p:cNvPr id="113" name="Picture 112" descr="context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53" y="4342855"/>
            <a:ext cx="1299686" cy="361376"/>
          </a:xfrm>
          <a:prstGeom prst="rect">
            <a:avLst/>
          </a:prstGeom>
        </p:spPr>
      </p:pic>
      <p:cxnSp>
        <p:nvCxnSpPr>
          <p:cNvPr id="114" name="Connector 113"/>
          <p:cNvCxnSpPr/>
          <p:nvPr/>
        </p:nvCxnSpPr>
        <p:spPr>
          <a:xfrm>
            <a:off x="2054138" y="4412594"/>
            <a:ext cx="209218" cy="0"/>
          </a:xfrm>
          <a:prstGeom prst="line">
            <a:avLst/>
          </a:prstGeom>
          <a:ln w="10777">
            <a:solidFill>
              <a:srgbClr val="536474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2345775" y="4057558"/>
            <a:ext cx="1584983" cy="697392"/>
          </a:xfrm>
          <a:prstGeom prst="roundRect">
            <a:avLst/>
          </a:prstGeom>
          <a:solidFill>
            <a:srgbClr val="FFFFFF"/>
          </a:solidFill>
          <a:ln w="7607">
            <a:solidFill>
              <a:srgbClr val="B8C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434535" y="4133637"/>
            <a:ext cx="196537" cy="196537"/>
          </a:xfrm>
          <a:prstGeom prst="ellipse">
            <a:avLst/>
          </a:prstGeom>
          <a:solidFill>
            <a:srgbClr val="19395E"/>
          </a:solidFill>
          <a:ln w="2540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34535" y="4139977"/>
            <a:ext cx="196537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8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81792" y="4127297"/>
            <a:ext cx="1166548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19395E"/>
                </a:solidFill>
                <a:latin typeface="Liberation Sans"/>
              </a:rPr>
              <a:t>sample candidates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631073" y="4374555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70551" y="4374555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910030" y="4374555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049508" y="4374555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188987" y="4374555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328465" y="4374555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467944" y="4374555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631073" y="4507693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770551" y="4507693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910030" y="4507693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049508" y="4507693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188987" y="4507693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328465" y="4507693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467944" y="4507693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3943439" y="4412594"/>
            <a:ext cx="209218" cy="0"/>
          </a:xfrm>
          <a:prstGeom prst="line">
            <a:avLst/>
          </a:prstGeom>
          <a:ln w="10777">
            <a:solidFill>
              <a:srgbClr val="536474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4260436" y="4057558"/>
            <a:ext cx="1584983" cy="697392"/>
          </a:xfrm>
          <a:prstGeom prst="roundRect">
            <a:avLst/>
          </a:prstGeom>
          <a:solidFill>
            <a:srgbClr val="FFFFFF"/>
          </a:solidFill>
          <a:ln w="7607">
            <a:solidFill>
              <a:srgbClr val="B8C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349195" y="4133637"/>
            <a:ext cx="196537" cy="196537"/>
          </a:xfrm>
          <a:prstGeom prst="ellipse">
            <a:avLst/>
          </a:prstGeom>
          <a:solidFill>
            <a:srgbClr val="19395E"/>
          </a:solidFill>
          <a:ln w="2540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349195" y="4139977"/>
            <a:ext cx="196537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8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96452" y="4127297"/>
            <a:ext cx="1166548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19395E"/>
                </a:solidFill>
                <a:latin typeface="Liberation Sans"/>
              </a:rPr>
              <a:t>score consequences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26713" y="4425274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666192" y="4425274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05670" y="4425274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45149" y="4425274"/>
            <a:ext cx="133138" cy="88759"/>
          </a:xfrm>
          <a:prstGeom prst="rect">
            <a:avLst/>
          </a:prstGeom>
          <a:solidFill>
            <a:srgbClr val="8BAED1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84627" y="4425274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24106" y="4425274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63585" y="4425274"/>
            <a:ext cx="133138" cy="88759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596452" y="4583773"/>
            <a:ext cx="82419" cy="82419"/>
          </a:xfrm>
          <a:prstGeom prst="ellipse">
            <a:avLst/>
          </a:prstGeom>
          <a:solidFill>
            <a:srgbClr val="86A976"/>
          </a:solidFill>
          <a:ln w="2540">
            <a:solidFill>
              <a:srgbClr val="86A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875410" y="4583773"/>
            <a:ext cx="82419" cy="82419"/>
          </a:xfrm>
          <a:prstGeom prst="ellipse">
            <a:avLst/>
          </a:prstGeom>
          <a:solidFill>
            <a:srgbClr val="D96F5D"/>
          </a:solidFill>
          <a:ln w="2540">
            <a:solidFill>
              <a:srgbClr val="D96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154367" y="4583773"/>
            <a:ext cx="82419" cy="82419"/>
          </a:xfrm>
          <a:prstGeom prst="ellipse">
            <a:avLst/>
          </a:prstGeom>
          <a:solidFill>
            <a:srgbClr val="536474"/>
          </a:solidFill>
          <a:ln w="2540">
            <a:solidFill>
              <a:srgbClr val="53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5858100" y="4412594"/>
            <a:ext cx="209217" cy="0"/>
          </a:xfrm>
          <a:prstGeom prst="line">
            <a:avLst/>
          </a:prstGeom>
          <a:ln w="10777">
            <a:solidFill>
              <a:srgbClr val="536474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6168756" y="4057558"/>
            <a:ext cx="1584983" cy="697392"/>
          </a:xfrm>
          <a:prstGeom prst="roundRect">
            <a:avLst/>
          </a:prstGeom>
          <a:solidFill>
            <a:srgbClr val="FFFFFF"/>
          </a:solidFill>
          <a:ln w="7607">
            <a:solidFill>
              <a:srgbClr val="B8C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257515" y="4133637"/>
            <a:ext cx="196537" cy="196537"/>
          </a:xfrm>
          <a:prstGeom prst="ellipse">
            <a:avLst/>
          </a:prstGeom>
          <a:solidFill>
            <a:srgbClr val="19395E"/>
          </a:solidFill>
          <a:ln w="2540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257515" y="4139977"/>
            <a:ext cx="196537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8" b="1" i="0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504773" y="4127297"/>
            <a:ext cx="1166548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19395E"/>
                </a:solidFill>
                <a:latin typeface="Liberation Sans"/>
              </a:rPr>
              <a:t>transport</a:t>
            </a:r>
          </a:p>
        </p:txBody>
      </p:sp>
      <p:pic>
        <p:nvPicPr>
          <p:cNvPr id="153" name="Picture 152" descr="transport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575" y="4342855"/>
            <a:ext cx="1293346" cy="361376"/>
          </a:xfrm>
          <a:prstGeom prst="rect">
            <a:avLst/>
          </a:prstGeom>
        </p:spPr>
      </p:pic>
      <p:cxnSp>
        <p:nvCxnSpPr>
          <p:cNvPr id="154" name="Connector 153"/>
          <p:cNvCxnSpPr/>
          <p:nvPr/>
        </p:nvCxnSpPr>
        <p:spPr>
          <a:xfrm>
            <a:off x="7766420" y="4412594"/>
            <a:ext cx="209218" cy="0"/>
          </a:xfrm>
          <a:prstGeom prst="line">
            <a:avLst/>
          </a:prstGeom>
          <a:ln w="10777">
            <a:solidFill>
              <a:srgbClr val="536474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8077077" y="4057558"/>
            <a:ext cx="1584983" cy="697392"/>
          </a:xfrm>
          <a:prstGeom prst="roundRect">
            <a:avLst/>
          </a:prstGeom>
          <a:solidFill>
            <a:srgbClr val="FFFFFF"/>
          </a:solidFill>
          <a:ln w="7607">
            <a:solidFill>
              <a:srgbClr val="B8C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165836" y="4133637"/>
            <a:ext cx="196537" cy="196537"/>
          </a:xfrm>
          <a:prstGeom prst="ellipse">
            <a:avLst/>
          </a:prstGeom>
          <a:solidFill>
            <a:srgbClr val="19395E"/>
          </a:solidFill>
          <a:ln w="2540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65836" y="4139977"/>
            <a:ext cx="196537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8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3093" y="4127297"/>
            <a:ext cx="1166548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19395E"/>
                </a:solidFill>
                <a:latin typeface="Liberation Sans"/>
              </a:rPr>
              <a:t>execute prefix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362374" y="4425274"/>
            <a:ext cx="133138" cy="10143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501852" y="4425274"/>
            <a:ext cx="133138" cy="10143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641331" y="4425274"/>
            <a:ext cx="133138" cy="101438"/>
          </a:xfrm>
          <a:prstGeom prst="rect">
            <a:avLst/>
          </a:prstGeom>
          <a:solidFill>
            <a:srgbClr val="D96F5D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780810" y="4425274"/>
            <a:ext cx="133138" cy="1014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20288" y="4425274"/>
            <a:ext cx="133138" cy="1014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059767" y="4425274"/>
            <a:ext cx="133138" cy="1014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199245" y="4425274"/>
            <a:ext cx="133138" cy="101438"/>
          </a:xfrm>
          <a:prstGeom prst="rect">
            <a:avLst/>
          </a:prstGeom>
          <a:solidFill>
            <a:srgbClr val="F1F3F4"/>
          </a:solidFill>
          <a:ln w="4437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>
            <a:off x="9674740" y="4412594"/>
            <a:ext cx="209218" cy="0"/>
          </a:xfrm>
          <a:prstGeom prst="line">
            <a:avLst/>
          </a:prstGeom>
          <a:ln w="10777">
            <a:solidFill>
              <a:srgbClr val="536474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ounded Rectangle 166"/>
          <p:cNvSpPr/>
          <p:nvPr/>
        </p:nvSpPr>
        <p:spPr>
          <a:xfrm>
            <a:off x="9985397" y="4057558"/>
            <a:ext cx="1584983" cy="697392"/>
          </a:xfrm>
          <a:prstGeom prst="roundRect">
            <a:avLst/>
          </a:prstGeom>
          <a:solidFill>
            <a:srgbClr val="FFFFFF"/>
          </a:solidFill>
          <a:ln w="7607">
            <a:solidFill>
              <a:srgbClr val="B8C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074156" y="4133637"/>
            <a:ext cx="196537" cy="196537"/>
          </a:xfrm>
          <a:prstGeom prst="ellipse">
            <a:avLst/>
          </a:prstGeom>
          <a:solidFill>
            <a:srgbClr val="19395E"/>
          </a:solidFill>
          <a:ln w="2540">
            <a:solidFill>
              <a:srgbClr val="193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074156" y="4139977"/>
            <a:ext cx="196537" cy="177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8" b="1" i="0">
                <a:solidFill>
                  <a:srgbClr val="FFFFFF"/>
                </a:solidFill>
                <a:latin typeface="Liberation Sans"/>
              </a:rPr>
              <a:t>6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21414" y="4127297"/>
            <a:ext cx="1166548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19395E"/>
                </a:solidFill>
                <a:latin typeface="Liberation Sans"/>
              </a:rPr>
              <a:t>re-observe</a:t>
            </a:r>
          </a:p>
        </p:txBody>
      </p:sp>
      <p:pic>
        <p:nvPicPr>
          <p:cNvPr id="171" name="Picture 170" descr="context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876" y="4342855"/>
            <a:ext cx="1299686" cy="361376"/>
          </a:xfrm>
          <a:prstGeom prst="rect">
            <a:avLst/>
          </a:prstGeom>
        </p:spPr>
      </p:pic>
      <p:cxnSp>
        <p:nvCxnSpPr>
          <p:cNvPr id="172" name="Connector 171"/>
          <p:cNvCxnSpPr/>
          <p:nvPr/>
        </p:nvCxnSpPr>
        <p:spPr>
          <a:xfrm>
            <a:off x="2225317" y="2136558"/>
            <a:ext cx="234577" cy="0"/>
          </a:xfrm>
          <a:prstGeom prst="line">
            <a:avLst/>
          </a:prstGeom>
          <a:ln w="15849">
            <a:solidFill>
              <a:srgbClr val="19395E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837869" y="2250676"/>
            <a:ext cx="164838" cy="0"/>
          </a:xfrm>
          <a:prstGeom prst="line">
            <a:avLst/>
          </a:prstGeom>
          <a:ln w="15849">
            <a:solidFill>
              <a:srgbClr val="D96F5D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855678" y="653013"/>
            <a:ext cx="0" cy="120459"/>
          </a:xfrm>
          <a:prstGeom prst="line">
            <a:avLst/>
          </a:prstGeom>
          <a:ln w="12679">
            <a:solidFill>
              <a:srgbClr val="3F7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8875909" y="653013"/>
            <a:ext cx="2979769" cy="0"/>
          </a:xfrm>
          <a:prstGeom prst="line">
            <a:avLst/>
          </a:prstGeom>
          <a:ln w="12679">
            <a:solidFill>
              <a:srgbClr val="3F7C50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1919077" y="4754951"/>
            <a:ext cx="0" cy="126799"/>
          </a:xfrm>
          <a:prstGeom prst="line">
            <a:avLst/>
          </a:prstGeom>
          <a:ln w="12679">
            <a:solidFill>
              <a:srgbClr val="193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316996" y="4881750"/>
            <a:ext cx="11602081" cy="0"/>
          </a:xfrm>
          <a:prstGeom prst="line">
            <a:avLst/>
          </a:prstGeom>
          <a:ln w="12679">
            <a:solidFill>
              <a:srgbClr val="193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316996" y="4754951"/>
            <a:ext cx="0" cy="126799"/>
          </a:xfrm>
          <a:prstGeom prst="line">
            <a:avLst/>
          </a:prstGeom>
          <a:ln w="12679">
            <a:solidFill>
              <a:srgbClr val="19395E"/>
            </a:solidFill>
            <a:endArrowhea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4976849" y="4926129"/>
            <a:ext cx="2218977" cy="1648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8" b="1" i="0">
                <a:solidFill>
                  <a:srgbClr val="536474"/>
                </a:solidFill>
                <a:latin typeface="Liberation Sans"/>
              </a:rPr>
              <a:t>repeat with new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