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28841700" cy="13287375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rect 2"/>
          <p:cNvSpPr/>
          <p:nvPr/>
        </p:nvSpPr>
        <p:spPr>
          <a:xfrm>
            <a:off x="5483352" y="1670590"/>
            <a:ext cx="18225230" cy="6750082"/>
          </a:xfrm>
          <a:prstGeom prst="roundRect">
            <a:avLst>
              <a:gd name="adj" fmla="val 7810"/>
            </a:avLst>
          </a:prstGeom>
          <a:solidFill>
            <a:srgbClr val="EEF4F5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oundrect 3"/>
          <p:cNvSpPr/>
          <p:nvPr/>
        </p:nvSpPr>
        <p:spPr>
          <a:xfrm>
            <a:off x="5483352" y="9170670"/>
            <a:ext cx="14850142" cy="3900011"/>
          </a:xfrm>
          <a:prstGeom prst="roundRect">
            <a:avLst>
              <a:gd name="adj" fmla="val 13518"/>
            </a:avLst>
          </a:prstGeom>
          <a:solidFill>
            <a:srgbClr val="EFF5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983266" y="3920585"/>
            <a:ext cx="2999994" cy="1950053"/>
          </a:xfrm>
          <a:prstGeom prst="roundRect">
            <a:avLst>
              <a:gd name="adj" fmla="val 16221"/>
            </a:avLst>
          </a:prstGeom>
          <a:solidFill>
            <a:srgbClr val="E8EDF3"/>
          </a:solidFill>
          <a:ln w="7620">
            <a:solidFill>
              <a:srgbClr val="D6DDE2"/>
            </a:solidFill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983266" y="10445687"/>
            <a:ext cx="2999994" cy="1950053"/>
          </a:xfrm>
          <a:prstGeom prst="roundRect">
            <a:avLst>
              <a:gd name="adj" fmla="val 16221"/>
            </a:avLst>
          </a:prstGeom>
          <a:solidFill>
            <a:srgbClr val="E8EDF3"/>
          </a:solidFill>
          <a:ln w="7620">
            <a:solidFill>
              <a:srgbClr val="D6DDE2"/>
            </a:solidFill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6270784" y="2608136"/>
            <a:ext cx="4575048" cy="352501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7620">
            <a:solidFill>
              <a:srgbClr val="D6DDE2"/>
            </a:solidFill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12270867" y="2608136"/>
            <a:ext cx="4575048" cy="352501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7620">
            <a:solidFill>
              <a:srgbClr val="D6DDE2"/>
            </a:solidFill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18270950" y="2608136"/>
            <a:ext cx="4575048" cy="352501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7620">
            <a:solidFill>
              <a:srgbClr val="D6DDE2"/>
            </a:solidFill>
          </a:ln>
        </p:spPr>
        <p:txBody>
          <a:bodyPr/>
          <a:lstStyle/>
          <a:p/>
        </p:txBody>
      </p:sp>
      <p:sp>
        <p:nvSpPr>
          <p:cNvPr id="9" name="Rect 9"/>
          <p:cNvSpPr/>
          <p:nvPr/>
        </p:nvSpPr>
        <p:spPr>
          <a:xfrm>
            <a:off x="19264789" y="4892611"/>
            <a:ext cx="517493" cy="483013"/>
          </a:xfrm>
          <a:prstGeom prst="rect">
            <a:avLst/>
          </a:prstGeom>
          <a:solidFill>
            <a:srgbClr val="5793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ect 10"/>
          <p:cNvSpPr/>
          <p:nvPr/>
        </p:nvSpPr>
        <p:spPr>
          <a:xfrm>
            <a:off x="20127277" y="5030629"/>
            <a:ext cx="517493" cy="344996"/>
          </a:xfrm>
          <a:prstGeom prst="rect">
            <a:avLst/>
          </a:prstGeom>
          <a:solidFill>
            <a:srgbClr val="5793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ect 11"/>
          <p:cNvSpPr/>
          <p:nvPr/>
        </p:nvSpPr>
        <p:spPr>
          <a:xfrm>
            <a:off x="20989766" y="4306157"/>
            <a:ext cx="517493" cy="1069467"/>
          </a:xfrm>
          <a:prstGeom prst="rect">
            <a:avLst/>
          </a:prstGeom>
          <a:solidFill>
            <a:srgbClr val="D06B60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24871013" y="2345626"/>
            <a:ext cx="3075051" cy="1950053"/>
          </a:xfrm>
          <a:prstGeom prst="roundRect">
            <a:avLst>
              <a:gd name="adj" fmla="val 16221"/>
            </a:avLst>
          </a:prstGeom>
          <a:solidFill>
            <a:srgbClr val="E4F3EA"/>
          </a:solidFill>
          <a:ln w="7620">
            <a:solidFill>
              <a:srgbClr val="D6DDE2"/>
            </a:solidFill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24871013" y="5795677"/>
            <a:ext cx="3075051" cy="1200055"/>
          </a:xfrm>
          <a:prstGeom prst="roundRect">
            <a:avLst>
              <a:gd name="adj" fmla="val 26359"/>
            </a:avLst>
          </a:prstGeom>
          <a:solidFill>
            <a:srgbClr val="FFFFFF"/>
          </a:solidFill>
          <a:ln w="7620">
            <a:solidFill>
              <a:srgbClr val="D6DDE2"/>
            </a:solidFill>
          </a:ln>
        </p:spPr>
        <p:txBody>
          <a:bodyPr/>
          <a:lstStyle/>
          <a:p/>
        </p:txBody>
      </p:sp>
      <p:sp>
        <p:nvSpPr>
          <p:cNvPr id="14" name="Roundrect 14"/>
          <p:cNvSpPr/>
          <p:nvPr/>
        </p:nvSpPr>
        <p:spPr>
          <a:xfrm>
            <a:off x="24871013" y="8570690"/>
            <a:ext cx="3075051" cy="1200055"/>
          </a:xfrm>
          <a:prstGeom prst="roundRect">
            <a:avLst>
              <a:gd name="adj" fmla="val 26359"/>
            </a:avLst>
          </a:prstGeom>
          <a:solidFill>
            <a:srgbClr val="FFFFFF"/>
          </a:solidFill>
          <a:ln w="7620">
            <a:solidFill>
              <a:srgbClr val="D6DDE2"/>
            </a:solidFill>
          </a:ln>
        </p:spPr>
        <p:txBody>
          <a:bodyPr/>
          <a:lstStyle/>
          <a:p/>
        </p:txBody>
      </p:sp>
      <p:sp>
        <p:nvSpPr>
          <p:cNvPr id="15" name="Roundrect 15"/>
          <p:cNvSpPr/>
          <p:nvPr/>
        </p:nvSpPr>
        <p:spPr>
          <a:xfrm>
            <a:off x="5933313" y="10258234"/>
            <a:ext cx="5250085" cy="2325052"/>
          </a:xfrm>
          <a:prstGeom prst="roundRect">
            <a:avLst>
              <a:gd name="adj" fmla="val 13605"/>
            </a:avLst>
          </a:prstGeom>
          <a:solidFill>
            <a:srgbClr val="FFFFFF"/>
          </a:solidFill>
          <a:ln w="7620">
            <a:solidFill>
              <a:srgbClr val="D6DDE2"/>
            </a:solidFill>
          </a:ln>
        </p:spPr>
        <p:txBody>
          <a:bodyPr/>
          <a:lstStyle/>
          <a:p/>
        </p:txBody>
      </p:sp>
      <p:sp>
        <p:nvSpPr>
          <p:cNvPr id="16" name="Roundrect 16"/>
          <p:cNvSpPr/>
          <p:nvPr/>
        </p:nvSpPr>
        <p:spPr>
          <a:xfrm>
            <a:off x="6593300" y="11735086"/>
            <a:ext cx="1080040" cy="421291"/>
          </a:xfrm>
          <a:prstGeom prst="roundRect">
            <a:avLst>
              <a:gd name="adj" fmla="val 25028"/>
            </a:avLst>
          </a:prstGeom>
          <a:solidFill>
            <a:srgbClr val="FFFFFF"/>
          </a:solidFill>
          <a:ln w="6350">
            <a:solidFill>
              <a:srgbClr val="8CA58E"/>
            </a:solidFill>
          </a:ln>
        </p:spPr>
        <p:txBody>
          <a:bodyPr/>
          <a:lstStyle/>
          <a:p/>
        </p:txBody>
      </p:sp>
      <p:sp>
        <p:nvSpPr>
          <p:cNvPr id="17" name="Roundrect 17"/>
          <p:cNvSpPr/>
          <p:nvPr/>
        </p:nvSpPr>
        <p:spPr>
          <a:xfrm>
            <a:off x="8012049" y="11765852"/>
            <a:ext cx="1092613" cy="359854"/>
          </a:xfrm>
          <a:prstGeom prst="roundRect">
            <a:avLst>
              <a:gd name="adj" fmla="val 29301"/>
            </a:avLst>
          </a:prstGeom>
          <a:solidFill>
            <a:srgbClr val="FFFFFF"/>
          </a:solidFill>
          <a:ln w="6350">
            <a:solidFill>
              <a:srgbClr val="8CA58E"/>
            </a:solidFill>
          </a:ln>
        </p:spPr>
        <p:txBody>
          <a:bodyPr/>
          <a:lstStyle/>
          <a:p/>
        </p:txBody>
      </p:sp>
      <p:sp>
        <p:nvSpPr>
          <p:cNvPr id="18" name="Roundrect 18"/>
          <p:cNvSpPr/>
          <p:nvPr/>
        </p:nvSpPr>
        <p:spPr>
          <a:xfrm>
            <a:off x="9443371" y="11765852"/>
            <a:ext cx="1080040" cy="359854"/>
          </a:xfrm>
          <a:prstGeom prst="roundRect">
            <a:avLst>
              <a:gd name="adj" fmla="val 29301"/>
            </a:avLst>
          </a:prstGeom>
          <a:solidFill>
            <a:srgbClr val="FFFFFF"/>
          </a:solidFill>
          <a:ln w="6350">
            <a:solidFill>
              <a:srgbClr val="8CA58E"/>
            </a:solidFill>
          </a:ln>
        </p:spPr>
        <p:txBody>
          <a:bodyPr/>
          <a:lstStyle/>
          <a:p/>
        </p:txBody>
      </p:sp>
      <p:sp>
        <p:nvSpPr>
          <p:cNvPr id="19" name="Roundrect 19"/>
          <p:cNvSpPr/>
          <p:nvPr/>
        </p:nvSpPr>
        <p:spPr>
          <a:xfrm>
            <a:off x="11708416" y="10258234"/>
            <a:ext cx="4200049" cy="2325052"/>
          </a:xfrm>
          <a:prstGeom prst="roundRect">
            <a:avLst>
              <a:gd name="adj" fmla="val 13605"/>
            </a:avLst>
          </a:prstGeom>
          <a:solidFill>
            <a:srgbClr val="FFFFFF"/>
          </a:solidFill>
          <a:ln w="7620">
            <a:solidFill>
              <a:srgbClr val="D6DDE2"/>
            </a:solidFill>
          </a:ln>
        </p:spPr>
        <p:txBody>
          <a:bodyPr/>
          <a:lstStyle/>
          <a:p/>
        </p:txBody>
      </p:sp>
      <p:sp>
        <p:nvSpPr>
          <p:cNvPr id="20" name="Ellipse 20"/>
          <p:cNvSpPr/>
          <p:nvPr/>
        </p:nvSpPr>
        <p:spPr>
          <a:xfrm>
            <a:off x="6671500" y="4118800"/>
            <a:ext cx="254603" cy="254603"/>
          </a:xfrm>
          <a:prstGeom prst="ellipse">
            <a:avLst/>
          </a:prstGeom>
          <a:solidFill>
            <a:srgbClr val="B6B6B6"/>
          </a:solidFill>
          <a:ln w="5080">
            <a:solidFill>
              <a:srgbClr val="B6B6B6"/>
            </a:solidFill>
          </a:ln>
        </p:spPr>
        <p:txBody>
          <a:bodyPr/>
          <a:lstStyle/>
          <a:p/>
        </p:txBody>
      </p:sp>
      <p:sp>
        <p:nvSpPr>
          <p:cNvPr id="21" name="Roundrect 21"/>
          <p:cNvSpPr/>
          <p:nvPr/>
        </p:nvSpPr>
        <p:spPr>
          <a:xfrm>
            <a:off x="16208407" y="10258234"/>
            <a:ext cx="4200049" cy="2325052"/>
          </a:xfrm>
          <a:prstGeom prst="roundRect">
            <a:avLst>
              <a:gd name="adj" fmla="val 13605"/>
            </a:avLst>
          </a:prstGeom>
          <a:solidFill>
            <a:srgbClr val="FFFFFF"/>
          </a:solidFill>
          <a:ln w="7620">
            <a:solidFill>
              <a:srgbClr val="D6DDE2"/>
            </a:solidFill>
          </a:ln>
        </p:spPr>
        <p:txBody>
          <a:bodyPr/>
          <a:lstStyle/>
          <a:p/>
        </p:txBody>
      </p:sp>
      <p:sp>
        <p:nvSpPr>
          <p:cNvPr id="22" name="Ellipse 22"/>
          <p:cNvSpPr/>
          <p:nvPr/>
        </p:nvSpPr>
        <p:spPr>
          <a:xfrm>
            <a:off x="6947535" y="4636294"/>
            <a:ext cx="254603" cy="254603"/>
          </a:xfrm>
          <a:prstGeom prst="ellipse">
            <a:avLst/>
          </a:prstGeom>
          <a:solidFill>
            <a:srgbClr val="B6B6B6"/>
          </a:solidFill>
          <a:ln w="5080">
            <a:solidFill>
              <a:srgbClr val="B6B6B6"/>
            </a:solidFill>
          </a:ln>
        </p:spPr>
        <p:txBody>
          <a:bodyPr/>
          <a:lstStyle/>
          <a:p/>
        </p:txBody>
      </p:sp>
      <p:sp>
        <p:nvSpPr>
          <p:cNvPr id="23" name="Ellipse 23"/>
          <p:cNvSpPr/>
          <p:nvPr/>
        </p:nvSpPr>
        <p:spPr>
          <a:xfrm>
            <a:off x="6568059" y="5153787"/>
            <a:ext cx="254603" cy="254603"/>
          </a:xfrm>
          <a:prstGeom prst="ellipse">
            <a:avLst/>
          </a:prstGeom>
          <a:solidFill>
            <a:srgbClr val="B6B6B6"/>
          </a:solidFill>
          <a:ln w="5080">
            <a:solidFill>
              <a:srgbClr val="B6B6B6"/>
            </a:solidFill>
          </a:ln>
        </p:spPr>
        <p:txBody>
          <a:bodyPr/>
          <a:lstStyle/>
          <a:p/>
        </p:txBody>
      </p:sp>
      <p:sp>
        <p:nvSpPr>
          <p:cNvPr id="24" name="Ellipse 24"/>
          <p:cNvSpPr/>
          <p:nvPr/>
        </p:nvSpPr>
        <p:spPr>
          <a:xfrm>
            <a:off x="7223570" y="4153376"/>
            <a:ext cx="254603" cy="254603"/>
          </a:xfrm>
          <a:prstGeom prst="ellipse">
            <a:avLst/>
          </a:prstGeom>
          <a:solidFill>
            <a:srgbClr val="B6B6B6"/>
          </a:solidFill>
          <a:ln w="5080">
            <a:solidFill>
              <a:srgbClr val="B6B6B6"/>
            </a:solidFill>
          </a:ln>
        </p:spPr>
        <p:txBody>
          <a:bodyPr/>
          <a:lstStyle/>
          <a:p/>
        </p:txBody>
      </p:sp>
      <p:sp>
        <p:nvSpPr>
          <p:cNvPr id="25" name="Line 25"/>
          <p:cNvSpPr/>
          <p:nvPr/>
        </p:nvSpPr>
        <p:spPr>
          <a:xfrm>
            <a:off x="8040815" y="4936141"/>
            <a:ext cx="360807" cy="0"/>
          </a:xfrm>
          <a:prstGeom prst="line">
            <a:avLst/>
          </a:prstGeom>
          <a:noFill/>
          <a:ln w="8890">
            <a:solidFill>
              <a:srgbClr val="7A7A7A"/>
            </a:solidFill>
          </a:ln>
        </p:spPr>
        <p:txBody>
          <a:bodyPr/>
          <a:lstStyle/>
          <a:p/>
        </p:txBody>
      </p:sp>
      <p:sp>
        <p:nvSpPr>
          <p:cNvPr id="26" name="Ellipse 26"/>
          <p:cNvSpPr/>
          <p:nvPr/>
        </p:nvSpPr>
        <p:spPr>
          <a:xfrm>
            <a:off x="7361492" y="4877848"/>
            <a:ext cx="254603" cy="254603"/>
          </a:xfrm>
          <a:prstGeom prst="ellipse">
            <a:avLst/>
          </a:prstGeom>
          <a:solidFill>
            <a:srgbClr val="B6B6B6"/>
          </a:solidFill>
          <a:ln w="5080">
            <a:solidFill>
              <a:srgbClr val="B6B6B6"/>
            </a:solidFill>
          </a:ln>
        </p:spPr>
        <p:txBody>
          <a:bodyPr/>
          <a:lstStyle/>
          <a:p/>
        </p:txBody>
      </p:sp>
      <p:sp>
        <p:nvSpPr>
          <p:cNvPr id="27" name="Ellipse 27"/>
          <p:cNvSpPr/>
          <p:nvPr/>
        </p:nvSpPr>
        <p:spPr>
          <a:xfrm>
            <a:off x="7016496" y="5498878"/>
            <a:ext cx="254603" cy="254603"/>
          </a:xfrm>
          <a:prstGeom prst="ellipse">
            <a:avLst/>
          </a:prstGeom>
          <a:solidFill>
            <a:srgbClr val="B6B6B6"/>
          </a:solidFill>
          <a:ln w="5080">
            <a:solidFill>
              <a:srgbClr val="B6B6B6"/>
            </a:solidFill>
          </a:ln>
        </p:spPr>
        <p:txBody>
          <a:bodyPr/>
          <a:lstStyle/>
          <a:p/>
        </p:txBody>
      </p:sp>
      <p:sp>
        <p:nvSpPr>
          <p:cNvPr id="28" name="Ellipse 28"/>
          <p:cNvSpPr/>
          <p:nvPr/>
        </p:nvSpPr>
        <p:spPr>
          <a:xfrm>
            <a:off x="7568565" y="4463796"/>
            <a:ext cx="254603" cy="254603"/>
          </a:xfrm>
          <a:prstGeom prst="ellipse">
            <a:avLst/>
          </a:prstGeom>
          <a:solidFill>
            <a:srgbClr val="B6B6B6"/>
          </a:solidFill>
          <a:ln w="5080">
            <a:solidFill>
              <a:srgbClr val="B6B6B6"/>
            </a:solidFill>
          </a:ln>
        </p:spPr>
        <p:txBody>
          <a:bodyPr/>
          <a:lstStyle/>
          <a:p/>
        </p:txBody>
      </p:sp>
      <p:sp>
        <p:nvSpPr>
          <p:cNvPr id="29" name="Ellipse 29"/>
          <p:cNvSpPr/>
          <p:nvPr/>
        </p:nvSpPr>
        <p:spPr>
          <a:xfrm>
            <a:off x="7637526" y="5360861"/>
            <a:ext cx="254603" cy="254603"/>
          </a:xfrm>
          <a:prstGeom prst="ellipse">
            <a:avLst/>
          </a:prstGeom>
          <a:solidFill>
            <a:srgbClr val="B6B6B6"/>
          </a:solidFill>
          <a:ln w="5080">
            <a:solidFill>
              <a:srgbClr val="B6B6B6"/>
            </a:solidFill>
          </a:ln>
        </p:spPr>
        <p:txBody>
          <a:bodyPr/>
          <a:lstStyle/>
          <a:p/>
        </p:txBody>
      </p:sp>
      <p:sp>
        <p:nvSpPr>
          <p:cNvPr id="30" name="Ellipse 30"/>
          <p:cNvSpPr/>
          <p:nvPr/>
        </p:nvSpPr>
        <p:spPr>
          <a:xfrm>
            <a:off x="8964835" y="4238625"/>
            <a:ext cx="290989" cy="290989"/>
          </a:xfrm>
          <a:prstGeom prst="ellipse">
            <a:avLst/>
          </a:prstGeom>
          <a:solidFill>
            <a:srgbClr val="1F6F78"/>
          </a:solidFill>
          <a:ln w="5080">
            <a:solidFill>
              <a:srgbClr val="1F6F78"/>
            </a:solidFill>
          </a:ln>
        </p:spPr>
        <p:txBody>
          <a:bodyPr/>
          <a:lstStyle/>
          <a:p/>
        </p:txBody>
      </p:sp>
      <p:sp>
        <p:nvSpPr>
          <p:cNvPr id="31" name="Ellipse 31"/>
          <p:cNvSpPr/>
          <p:nvPr/>
        </p:nvSpPr>
        <p:spPr>
          <a:xfrm>
            <a:off x="8964835" y="4618101"/>
            <a:ext cx="290989" cy="290989"/>
          </a:xfrm>
          <a:prstGeom prst="ellipse">
            <a:avLst/>
          </a:prstGeom>
          <a:solidFill>
            <a:srgbClr val="1F6F78"/>
          </a:solidFill>
          <a:ln w="5080">
            <a:solidFill>
              <a:srgbClr val="1F6F78"/>
            </a:solidFill>
          </a:ln>
        </p:spPr>
        <p:txBody>
          <a:bodyPr/>
          <a:lstStyle/>
          <a:p/>
        </p:txBody>
      </p:sp>
      <p:sp>
        <p:nvSpPr>
          <p:cNvPr id="32" name="Ellipse 32"/>
          <p:cNvSpPr/>
          <p:nvPr/>
        </p:nvSpPr>
        <p:spPr>
          <a:xfrm>
            <a:off x="8964835" y="4997672"/>
            <a:ext cx="290989" cy="290989"/>
          </a:xfrm>
          <a:prstGeom prst="ellipse">
            <a:avLst/>
          </a:prstGeom>
          <a:solidFill>
            <a:srgbClr val="1F6F78"/>
          </a:solidFill>
          <a:ln w="5080">
            <a:solidFill>
              <a:srgbClr val="1F6F78"/>
            </a:solidFill>
          </a:ln>
        </p:spPr>
        <p:txBody>
          <a:bodyPr/>
          <a:lstStyle/>
          <a:p/>
        </p:txBody>
      </p:sp>
      <p:sp>
        <p:nvSpPr>
          <p:cNvPr id="33" name="Ellipse 33"/>
          <p:cNvSpPr/>
          <p:nvPr/>
        </p:nvSpPr>
        <p:spPr>
          <a:xfrm>
            <a:off x="9585865" y="4238625"/>
            <a:ext cx="290989" cy="290989"/>
          </a:xfrm>
          <a:prstGeom prst="ellipse">
            <a:avLst/>
          </a:prstGeom>
          <a:solidFill>
            <a:srgbClr val="1F6F78"/>
          </a:solidFill>
          <a:ln w="5080">
            <a:solidFill>
              <a:srgbClr val="1F6F78"/>
            </a:solidFill>
          </a:ln>
        </p:spPr>
        <p:txBody>
          <a:bodyPr/>
          <a:lstStyle/>
          <a:p/>
        </p:txBody>
      </p:sp>
      <p:sp>
        <p:nvSpPr>
          <p:cNvPr id="34" name="Ellipse 34"/>
          <p:cNvSpPr/>
          <p:nvPr/>
        </p:nvSpPr>
        <p:spPr>
          <a:xfrm>
            <a:off x="9585865" y="4618101"/>
            <a:ext cx="290989" cy="290989"/>
          </a:xfrm>
          <a:prstGeom prst="ellipse">
            <a:avLst/>
          </a:prstGeom>
          <a:solidFill>
            <a:srgbClr val="1F6F78"/>
          </a:solidFill>
          <a:ln w="5080">
            <a:solidFill>
              <a:srgbClr val="1F6F78"/>
            </a:solidFill>
          </a:ln>
        </p:spPr>
        <p:txBody>
          <a:bodyPr/>
          <a:lstStyle/>
          <a:p/>
        </p:txBody>
      </p:sp>
      <p:sp>
        <p:nvSpPr>
          <p:cNvPr id="35" name="Line 35"/>
          <p:cNvSpPr/>
          <p:nvPr/>
        </p:nvSpPr>
        <p:spPr>
          <a:xfrm>
            <a:off x="8868823" y="5281136"/>
            <a:ext cx="1725073" cy="0"/>
          </a:xfrm>
          <a:prstGeom prst="line">
            <a:avLst/>
          </a:prstGeom>
          <a:noFill/>
          <a:ln w="6350">
            <a:solidFill>
              <a:srgbClr val="A5C5C9"/>
            </a:solidFill>
          </a:ln>
        </p:spPr>
        <p:txBody>
          <a:bodyPr/>
          <a:lstStyle/>
          <a:p/>
        </p:txBody>
      </p:sp>
      <p:sp>
        <p:nvSpPr>
          <p:cNvPr id="36" name="Polygon 36"/>
          <p:cNvSpPr/>
          <p:nvPr/>
        </p:nvSpPr>
        <p:spPr>
          <a:xfrm>
            <a:off x="8346853" y="4858321"/>
            <a:ext cx="193072" cy="1556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0"/>
                </a:lnTo>
                <a:lnTo>
                  <a:pt x="7161" y="10800"/>
                </a:lnTo>
                <a:lnTo>
                  <a:pt x="0" y="2160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7A7A7A"/>
          </a:solidFill>
          <a:ln w="6350">
            <a:solidFill>
              <a:srgbClr val="7A7A7A"/>
            </a:solidFill>
          </a:ln>
        </p:spPr>
        <p:txBody>
          <a:bodyPr/>
          <a:lstStyle/>
          <a:p/>
        </p:txBody>
      </p:sp>
      <p:sp>
        <p:nvSpPr>
          <p:cNvPr id="37" name="Ellipse 37"/>
          <p:cNvSpPr/>
          <p:nvPr/>
        </p:nvSpPr>
        <p:spPr>
          <a:xfrm>
            <a:off x="9585865" y="4997672"/>
            <a:ext cx="290989" cy="290989"/>
          </a:xfrm>
          <a:prstGeom prst="ellipse">
            <a:avLst/>
          </a:prstGeom>
          <a:solidFill>
            <a:srgbClr val="1F6F78"/>
          </a:solidFill>
          <a:ln w="5080">
            <a:solidFill>
              <a:srgbClr val="1F6F78"/>
            </a:solidFill>
          </a:ln>
        </p:spPr>
        <p:txBody>
          <a:bodyPr/>
          <a:lstStyle/>
          <a:p/>
        </p:txBody>
      </p:sp>
      <p:sp>
        <p:nvSpPr>
          <p:cNvPr id="38" name="Ellipse 38"/>
          <p:cNvSpPr/>
          <p:nvPr/>
        </p:nvSpPr>
        <p:spPr>
          <a:xfrm>
            <a:off x="10206895" y="4238625"/>
            <a:ext cx="290989" cy="290989"/>
          </a:xfrm>
          <a:prstGeom prst="ellipse">
            <a:avLst/>
          </a:prstGeom>
          <a:solidFill>
            <a:srgbClr val="1F6F78"/>
          </a:solidFill>
          <a:ln w="5080">
            <a:solidFill>
              <a:srgbClr val="1F6F78"/>
            </a:solidFill>
          </a:ln>
        </p:spPr>
        <p:txBody>
          <a:bodyPr/>
          <a:lstStyle/>
          <a:p/>
        </p:txBody>
      </p:sp>
      <p:sp>
        <p:nvSpPr>
          <p:cNvPr id="39" name="Ellipse 39"/>
          <p:cNvSpPr/>
          <p:nvPr/>
        </p:nvSpPr>
        <p:spPr>
          <a:xfrm>
            <a:off x="10206895" y="4618101"/>
            <a:ext cx="290989" cy="290989"/>
          </a:xfrm>
          <a:prstGeom prst="ellipse">
            <a:avLst/>
          </a:prstGeom>
          <a:solidFill>
            <a:srgbClr val="1F6F78"/>
          </a:solidFill>
          <a:ln w="5080">
            <a:solidFill>
              <a:srgbClr val="1F6F78"/>
            </a:solidFill>
          </a:ln>
        </p:spPr>
        <p:txBody>
          <a:bodyPr/>
          <a:lstStyle/>
          <a:p/>
        </p:txBody>
      </p:sp>
      <p:sp>
        <p:nvSpPr>
          <p:cNvPr id="40" name="Line 40"/>
          <p:cNvSpPr/>
          <p:nvPr/>
        </p:nvSpPr>
        <p:spPr>
          <a:xfrm flipV="1">
            <a:off x="12919710" y="4089368"/>
            <a:ext cx="3104960" cy="689991"/>
          </a:xfrm>
          <a:prstGeom prst="line">
            <a:avLst/>
          </a:prstGeom>
          <a:noFill/>
          <a:ln w="12700">
            <a:solidFill>
              <a:srgbClr val="1F6F78"/>
            </a:solidFill>
          </a:ln>
        </p:spPr>
        <p:txBody>
          <a:bodyPr/>
          <a:lstStyle/>
          <a:p/>
        </p:txBody>
      </p:sp>
      <p:sp>
        <p:nvSpPr>
          <p:cNvPr id="41" name="Ellipse 41"/>
          <p:cNvSpPr/>
          <p:nvPr/>
        </p:nvSpPr>
        <p:spPr>
          <a:xfrm>
            <a:off x="10206895" y="4997672"/>
            <a:ext cx="290989" cy="290989"/>
          </a:xfrm>
          <a:prstGeom prst="ellipse">
            <a:avLst/>
          </a:prstGeom>
          <a:solidFill>
            <a:srgbClr val="1F6F78"/>
          </a:solidFill>
          <a:ln w="5080">
            <a:solidFill>
              <a:srgbClr val="1F6F78"/>
            </a:solidFill>
          </a:ln>
        </p:spPr>
        <p:txBody>
          <a:bodyPr/>
          <a:lstStyle/>
          <a:p/>
        </p:txBody>
      </p:sp>
      <p:sp>
        <p:nvSpPr>
          <p:cNvPr id="42" name="Line 42"/>
          <p:cNvSpPr/>
          <p:nvPr/>
        </p:nvSpPr>
        <p:spPr>
          <a:xfrm>
            <a:off x="12919710" y="4779359"/>
            <a:ext cx="3104960" cy="776288"/>
          </a:xfrm>
          <a:prstGeom prst="line">
            <a:avLst/>
          </a:prstGeom>
          <a:noFill/>
          <a:ln w="12700">
            <a:solidFill>
              <a:srgbClr val="C0392B"/>
            </a:solidFill>
          </a:ln>
        </p:spPr>
        <p:txBody>
          <a:bodyPr/>
          <a:lstStyle/>
          <a:p/>
        </p:txBody>
      </p:sp>
      <p:sp>
        <p:nvSpPr>
          <p:cNvPr id="43" name="Line 43"/>
          <p:cNvSpPr/>
          <p:nvPr/>
        </p:nvSpPr>
        <p:spPr>
          <a:xfrm>
            <a:off x="18919793" y="5375624"/>
            <a:ext cx="3363754" cy="0"/>
          </a:xfrm>
          <a:prstGeom prst="line">
            <a:avLst/>
          </a:prstGeom>
          <a:noFill/>
          <a:ln w="7620">
            <a:solidFill>
              <a:srgbClr val="A2A2A2"/>
            </a:solidFill>
          </a:ln>
        </p:spPr>
        <p:txBody>
          <a:bodyPr/>
          <a:lstStyle/>
          <a:p/>
        </p:txBody>
      </p:sp>
      <p:sp>
        <p:nvSpPr>
          <p:cNvPr id="44" name="Ellipse 44"/>
          <p:cNvSpPr/>
          <p:nvPr/>
        </p:nvSpPr>
        <p:spPr>
          <a:xfrm>
            <a:off x="12762071" y="4621720"/>
            <a:ext cx="315278" cy="315278"/>
          </a:xfrm>
          <a:prstGeom prst="ellipse">
            <a:avLst/>
          </a:prstGeom>
          <a:solidFill>
            <a:srgbClr val="2B2B2B"/>
          </a:solidFill>
          <a:ln w="5080">
            <a:solidFill>
              <a:srgbClr val="2B2B2B"/>
            </a:solidFill>
          </a:ln>
        </p:spPr>
        <p:txBody>
          <a:bodyPr/>
          <a:lstStyle/>
          <a:p/>
        </p:txBody>
      </p:sp>
      <p:sp>
        <p:nvSpPr>
          <p:cNvPr id="45" name="Line 45"/>
          <p:cNvSpPr/>
          <p:nvPr/>
        </p:nvSpPr>
        <p:spPr>
          <a:xfrm>
            <a:off x="18919793" y="4685633"/>
            <a:ext cx="3363754" cy="0"/>
          </a:xfrm>
          <a:prstGeom prst="line">
            <a:avLst/>
          </a:prstGeom>
          <a:noFill/>
          <a:ln w="10160">
            <a:solidFill>
              <a:srgbClr val="C0392B"/>
            </a:solidFill>
            <a:prstDash val="dash"/>
          </a:ln>
        </p:spPr>
        <p:txBody>
          <a:bodyPr/>
          <a:lstStyle/>
          <a:p/>
        </p:txBody>
      </p:sp>
      <p:sp>
        <p:nvSpPr>
          <p:cNvPr id="46" name="Line 46"/>
          <p:cNvSpPr/>
          <p:nvPr/>
        </p:nvSpPr>
        <p:spPr>
          <a:xfrm flipV="1">
            <a:off x="3999071" y="4403979"/>
            <a:ext cx="2112835" cy="491681"/>
          </a:xfrm>
          <a:prstGeom prst="line">
            <a:avLst/>
          </a:prstGeom>
          <a:noFill/>
          <a:ln w="10795">
            <a:solidFill>
              <a:srgbClr val="555555"/>
            </a:solidFill>
          </a:ln>
        </p:spPr>
        <p:txBody>
          <a:bodyPr/>
          <a:lstStyle/>
          <a:p/>
        </p:txBody>
      </p:sp>
      <p:sp>
        <p:nvSpPr>
          <p:cNvPr id="47" name="Line 47"/>
          <p:cNvSpPr/>
          <p:nvPr/>
        </p:nvSpPr>
        <p:spPr>
          <a:xfrm>
            <a:off x="10861738" y="4370642"/>
            <a:ext cx="1246442" cy="0"/>
          </a:xfrm>
          <a:prstGeom prst="line">
            <a:avLst/>
          </a:prstGeom>
          <a:noFill/>
          <a:ln w="10795">
            <a:solidFill>
              <a:srgbClr val="555555"/>
            </a:solidFill>
          </a:ln>
        </p:spPr>
        <p:txBody>
          <a:bodyPr/>
          <a:lstStyle/>
          <a:p/>
        </p:txBody>
      </p:sp>
      <p:sp>
        <p:nvSpPr>
          <p:cNvPr id="48" name="Line 48"/>
          <p:cNvSpPr/>
          <p:nvPr/>
        </p:nvSpPr>
        <p:spPr>
          <a:xfrm>
            <a:off x="16861822" y="4370642"/>
            <a:ext cx="1246442" cy="0"/>
          </a:xfrm>
          <a:prstGeom prst="line">
            <a:avLst/>
          </a:prstGeom>
          <a:noFill/>
          <a:ln w="10795">
            <a:solidFill>
              <a:srgbClr val="555555"/>
            </a:solidFill>
          </a:ln>
        </p:spPr>
        <p:txBody>
          <a:bodyPr/>
          <a:lstStyle/>
          <a:p/>
        </p:txBody>
      </p:sp>
      <p:sp>
        <p:nvSpPr>
          <p:cNvPr id="49" name="Line 49"/>
          <p:cNvSpPr/>
          <p:nvPr/>
        </p:nvSpPr>
        <p:spPr>
          <a:xfrm>
            <a:off x="22861810" y="4370642"/>
            <a:ext cx="516922" cy="0"/>
          </a:xfrm>
          <a:prstGeom prst="line">
            <a:avLst/>
          </a:prstGeom>
          <a:noFill/>
          <a:ln w="10795">
            <a:solidFill>
              <a:srgbClr val="2E8B57"/>
            </a:solidFill>
          </a:ln>
        </p:spPr>
        <p:txBody>
          <a:bodyPr/>
          <a:lstStyle/>
          <a:p/>
        </p:txBody>
      </p:sp>
      <p:sp>
        <p:nvSpPr>
          <p:cNvPr id="50" name="Line 50"/>
          <p:cNvSpPr/>
          <p:nvPr/>
        </p:nvSpPr>
        <p:spPr>
          <a:xfrm flipV="1">
            <a:off x="23378732" y="4212526"/>
            <a:ext cx="158115" cy="158115"/>
          </a:xfrm>
          <a:prstGeom prst="line">
            <a:avLst/>
          </a:prstGeom>
          <a:noFill/>
          <a:ln w="10795">
            <a:solidFill>
              <a:srgbClr val="2E8B57"/>
            </a:solidFill>
          </a:ln>
        </p:spPr>
        <p:txBody>
          <a:bodyPr/>
          <a:lstStyle/>
          <a:p/>
        </p:txBody>
      </p:sp>
      <p:sp>
        <p:nvSpPr>
          <p:cNvPr id="51" name="Line 51"/>
          <p:cNvSpPr/>
          <p:nvPr/>
        </p:nvSpPr>
        <p:spPr>
          <a:xfrm flipV="1">
            <a:off x="23536846" y="3478816"/>
            <a:ext cx="0" cy="733711"/>
          </a:xfrm>
          <a:prstGeom prst="line">
            <a:avLst/>
          </a:prstGeom>
          <a:noFill/>
          <a:ln w="10795">
            <a:solidFill>
              <a:srgbClr val="2E8B57"/>
            </a:solidFill>
          </a:ln>
        </p:spPr>
        <p:txBody>
          <a:bodyPr/>
          <a:lstStyle/>
          <a:p/>
        </p:txBody>
      </p:sp>
      <p:sp>
        <p:nvSpPr>
          <p:cNvPr id="52" name="Line 52"/>
          <p:cNvSpPr/>
          <p:nvPr/>
        </p:nvSpPr>
        <p:spPr>
          <a:xfrm flipV="1">
            <a:off x="23536846" y="3320606"/>
            <a:ext cx="158210" cy="158210"/>
          </a:xfrm>
          <a:prstGeom prst="line">
            <a:avLst/>
          </a:prstGeom>
          <a:noFill/>
          <a:ln w="10795">
            <a:solidFill>
              <a:srgbClr val="2E8B57"/>
            </a:solidFill>
          </a:ln>
        </p:spPr>
        <p:txBody>
          <a:bodyPr/>
          <a:lstStyle/>
          <a:p/>
        </p:txBody>
      </p:sp>
      <p:sp>
        <p:nvSpPr>
          <p:cNvPr id="53" name="Line 53"/>
          <p:cNvSpPr/>
          <p:nvPr/>
        </p:nvSpPr>
        <p:spPr>
          <a:xfrm>
            <a:off x="23695057" y="3320606"/>
            <a:ext cx="1013270" cy="0"/>
          </a:xfrm>
          <a:prstGeom prst="line">
            <a:avLst/>
          </a:prstGeom>
          <a:noFill/>
          <a:ln w="10795">
            <a:solidFill>
              <a:srgbClr val="2E8B57"/>
            </a:solidFill>
          </a:ln>
        </p:spPr>
        <p:txBody>
          <a:bodyPr/>
          <a:lstStyle/>
          <a:p/>
        </p:txBody>
      </p:sp>
      <p:sp>
        <p:nvSpPr>
          <p:cNvPr id="54" name="Line 54"/>
          <p:cNvSpPr/>
          <p:nvPr/>
        </p:nvSpPr>
        <p:spPr>
          <a:xfrm>
            <a:off x="22861810" y="4370642"/>
            <a:ext cx="516922" cy="0"/>
          </a:xfrm>
          <a:prstGeom prst="line">
            <a:avLst/>
          </a:prstGeom>
          <a:noFill/>
          <a:ln w="10160">
            <a:solidFill>
              <a:srgbClr val="7A7A7A"/>
            </a:solidFill>
          </a:ln>
        </p:spPr>
        <p:txBody>
          <a:bodyPr/>
          <a:lstStyle/>
          <a:p/>
        </p:txBody>
      </p:sp>
      <p:sp>
        <p:nvSpPr>
          <p:cNvPr id="55" name="Line 55"/>
          <p:cNvSpPr/>
          <p:nvPr/>
        </p:nvSpPr>
        <p:spPr>
          <a:xfrm>
            <a:off x="23378732" y="4370642"/>
            <a:ext cx="158115" cy="158115"/>
          </a:xfrm>
          <a:prstGeom prst="line">
            <a:avLst/>
          </a:prstGeom>
          <a:noFill/>
          <a:ln w="10160">
            <a:solidFill>
              <a:srgbClr val="7A7A7A"/>
            </a:solidFill>
          </a:ln>
        </p:spPr>
        <p:txBody>
          <a:bodyPr/>
          <a:lstStyle/>
          <a:p/>
        </p:txBody>
      </p:sp>
      <p:sp>
        <p:nvSpPr>
          <p:cNvPr id="56" name="Line 56"/>
          <p:cNvSpPr/>
          <p:nvPr/>
        </p:nvSpPr>
        <p:spPr>
          <a:xfrm>
            <a:off x="23536846" y="4528756"/>
            <a:ext cx="0" cy="1708785"/>
          </a:xfrm>
          <a:prstGeom prst="line">
            <a:avLst/>
          </a:prstGeom>
          <a:noFill/>
          <a:ln w="10160">
            <a:solidFill>
              <a:srgbClr val="7A7A7A"/>
            </a:solidFill>
          </a:ln>
        </p:spPr>
        <p:txBody>
          <a:bodyPr/>
          <a:lstStyle/>
          <a:p/>
        </p:txBody>
      </p:sp>
      <p:sp>
        <p:nvSpPr>
          <p:cNvPr id="57" name="Line 57"/>
          <p:cNvSpPr/>
          <p:nvPr/>
        </p:nvSpPr>
        <p:spPr>
          <a:xfrm>
            <a:off x="23536846" y="6237542"/>
            <a:ext cx="158210" cy="158115"/>
          </a:xfrm>
          <a:prstGeom prst="line">
            <a:avLst/>
          </a:prstGeom>
          <a:noFill/>
          <a:ln w="10160">
            <a:solidFill>
              <a:srgbClr val="7A7A7A"/>
            </a:solidFill>
          </a:ln>
        </p:spPr>
        <p:txBody>
          <a:bodyPr/>
          <a:lstStyle/>
          <a:p/>
        </p:txBody>
      </p:sp>
      <p:sp>
        <p:nvSpPr>
          <p:cNvPr id="58" name="Line 58"/>
          <p:cNvSpPr/>
          <p:nvPr/>
        </p:nvSpPr>
        <p:spPr>
          <a:xfrm>
            <a:off x="23695057" y="6395656"/>
            <a:ext cx="1010031" cy="0"/>
          </a:xfrm>
          <a:prstGeom prst="line">
            <a:avLst/>
          </a:prstGeom>
          <a:noFill/>
          <a:ln w="10160">
            <a:solidFill>
              <a:srgbClr val="7A7A7A"/>
            </a:solidFill>
          </a:ln>
        </p:spPr>
        <p:txBody>
          <a:bodyPr/>
          <a:lstStyle/>
          <a:p/>
        </p:txBody>
      </p:sp>
      <p:sp>
        <p:nvSpPr>
          <p:cNvPr id="59" name="Line 59"/>
          <p:cNvSpPr/>
          <p:nvPr/>
        </p:nvSpPr>
        <p:spPr>
          <a:xfrm>
            <a:off x="22861810" y="4370642"/>
            <a:ext cx="516922" cy="0"/>
          </a:xfrm>
          <a:prstGeom prst="line">
            <a:avLst/>
          </a:prstGeom>
          <a:noFill/>
          <a:ln w="10160">
            <a:solidFill>
              <a:srgbClr val="7A7A7A"/>
            </a:solidFill>
          </a:ln>
        </p:spPr>
        <p:txBody>
          <a:bodyPr/>
          <a:lstStyle/>
          <a:p/>
        </p:txBody>
      </p:sp>
      <p:sp>
        <p:nvSpPr>
          <p:cNvPr id="60" name="Line 60"/>
          <p:cNvSpPr/>
          <p:nvPr/>
        </p:nvSpPr>
        <p:spPr>
          <a:xfrm>
            <a:off x="23378732" y="4370642"/>
            <a:ext cx="158115" cy="158115"/>
          </a:xfrm>
          <a:prstGeom prst="line">
            <a:avLst/>
          </a:prstGeom>
          <a:noFill/>
          <a:ln w="10160">
            <a:solidFill>
              <a:srgbClr val="7A7A7A"/>
            </a:solidFill>
          </a:ln>
        </p:spPr>
        <p:txBody>
          <a:bodyPr/>
          <a:lstStyle/>
          <a:p/>
        </p:txBody>
      </p:sp>
      <p:sp>
        <p:nvSpPr>
          <p:cNvPr id="61" name="Line 61"/>
          <p:cNvSpPr/>
          <p:nvPr/>
        </p:nvSpPr>
        <p:spPr>
          <a:xfrm>
            <a:off x="23536846" y="4528756"/>
            <a:ext cx="0" cy="4483799"/>
          </a:xfrm>
          <a:prstGeom prst="line">
            <a:avLst/>
          </a:prstGeom>
          <a:noFill/>
          <a:ln w="10160">
            <a:solidFill>
              <a:srgbClr val="7A7A7A"/>
            </a:solidFill>
          </a:ln>
        </p:spPr>
        <p:txBody>
          <a:bodyPr/>
          <a:lstStyle/>
          <a:p/>
        </p:txBody>
      </p:sp>
      <p:sp>
        <p:nvSpPr>
          <p:cNvPr id="62" name="Line 62"/>
          <p:cNvSpPr/>
          <p:nvPr/>
        </p:nvSpPr>
        <p:spPr>
          <a:xfrm>
            <a:off x="23536846" y="9012555"/>
            <a:ext cx="158210" cy="158115"/>
          </a:xfrm>
          <a:prstGeom prst="line">
            <a:avLst/>
          </a:prstGeom>
          <a:noFill/>
          <a:ln w="10160">
            <a:solidFill>
              <a:srgbClr val="7A7A7A"/>
            </a:solidFill>
          </a:ln>
        </p:spPr>
        <p:txBody>
          <a:bodyPr/>
          <a:lstStyle/>
          <a:p/>
        </p:txBody>
      </p:sp>
      <p:sp>
        <p:nvSpPr>
          <p:cNvPr id="63" name="Line 63"/>
          <p:cNvSpPr/>
          <p:nvPr/>
        </p:nvSpPr>
        <p:spPr>
          <a:xfrm>
            <a:off x="23695057" y="9170670"/>
            <a:ext cx="1010031" cy="0"/>
          </a:xfrm>
          <a:prstGeom prst="line">
            <a:avLst/>
          </a:prstGeom>
          <a:noFill/>
          <a:ln w="10160">
            <a:solidFill>
              <a:srgbClr val="7A7A7A"/>
            </a:solidFill>
          </a:ln>
        </p:spPr>
        <p:txBody>
          <a:bodyPr/>
          <a:lstStyle/>
          <a:p/>
        </p:txBody>
      </p:sp>
      <p:sp>
        <p:nvSpPr>
          <p:cNvPr id="64" name="Polygon 64"/>
          <p:cNvSpPr/>
          <p:nvPr/>
        </p:nvSpPr>
        <p:spPr>
          <a:xfrm>
            <a:off x="6051899" y="4347210"/>
            <a:ext cx="181261" cy="13411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4587"/>
                </a:moveTo>
                <a:lnTo>
                  <a:pt x="0" y="0"/>
                </a:lnTo>
                <a:lnTo>
                  <a:pt x="8456" y="8729"/>
                </a:lnTo>
                <a:lnTo>
                  <a:pt x="3712" y="21600"/>
                </a:lnTo>
                <a:lnTo>
                  <a:pt x="21600" y="4587"/>
                </a:lnTo>
                <a:close/>
              </a:path>
            </a:pathLst>
          </a:custGeom>
          <a:solidFill>
            <a:srgbClr val="555555"/>
          </a:solidFill>
          <a:ln w="6350">
            <a:solidFill>
              <a:srgbClr val="555555"/>
            </a:solidFill>
          </a:ln>
        </p:spPr>
        <p:txBody>
          <a:bodyPr/>
          <a:lstStyle/>
          <a:p/>
        </p:txBody>
      </p:sp>
      <p:sp>
        <p:nvSpPr>
          <p:cNvPr id="65" name="Polygon 65"/>
          <p:cNvSpPr/>
          <p:nvPr/>
        </p:nvSpPr>
        <p:spPr>
          <a:xfrm>
            <a:off x="12062555" y="4301776"/>
            <a:ext cx="170116" cy="13773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0"/>
                </a:lnTo>
                <a:lnTo>
                  <a:pt x="7208" y="10800"/>
                </a:lnTo>
                <a:lnTo>
                  <a:pt x="0" y="2160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555555"/>
          </a:solidFill>
          <a:ln w="6350">
            <a:solidFill>
              <a:srgbClr val="555555"/>
            </a:solidFill>
          </a:ln>
        </p:spPr>
        <p:txBody>
          <a:bodyPr/>
          <a:lstStyle/>
          <a:p/>
        </p:txBody>
      </p:sp>
      <p:sp>
        <p:nvSpPr>
          <p:cNvPr id="66" name="Polygon 66"/>
          <p:cNvSpPr/>
          <p:nvPr/>
        </p:nvSpPr>
        <p:spPr>
          <a:xfrm>
            <a:off x="18062638" y="4301776"/>
            <a:ext cx="170116" cy="13773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0"/>
                </a:lnTo>
                <a:lnTo>
                  <a:pt x="7208" y="10800"/>
                </a:lnTo>
                <a:lnTo>
                  <a:pt x="0" y="2160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555555"/>
          </a:solidFill>
          <a:ln w="6350">
            <a:solidFill>
              <a:srgbClr val="555555"/>
            </a:solidFill>
          </a:ln>
        </p:spPr>
        <p:txBody>
          <a:bodyPr/>
          <a:lstStyle/>
          <a:p/>
        </p:txBody>
      </p:sp>
      <p:sp>
        <p:nvSpPr>
          <p:cNvPr id="67" name="Line 67"/>
          <p:cNvSpPr/>
          <p:nvPr/>
        </p:nvSpPr>
        <p:spPr>
          <a:xfrm>
            <a:off x="7703344" y="11945779"/>
            <a:ext cx="85249" cy="0"/>
          </a:xfrm>
          <a:prstGeom prst="line">
            <a:avLst/>
          </a:prstGeom>
          <a:noFill/>
          <a:ln w="6350">
            <a:solidFill>
              <a:srgbClr val="5B7F5E"/>
            </a:solidFill>
          </a:ln>
        </p:spPr>
        <p:txBody>
          <a:bodyPr/>
          <a:lstStyle/>
          <a:p/>
        </p:txBody>
      </p:sp>
      <p:sp>
        <p:nvSpPr>
          <p:cNvPr id="68" name="Line 68"/>
          <p:cNvSpPr/>
          <p:nvPr/>
        </p:nvSpPr>
        <p:spPr>
          <a:xfrm>
            <a:off x="9128379" y="11945779"/>
            <a:ext cx="85153" cy="0"/>
          </a:xfrm>
          <a:prstGeom prst="line">
            <a:avLst/>
          </a:prstGeom>
          <a:noFill/>
          <a:ln w="6350">
            <a:solidFill>
              <a:srgbClr val="5B7F5E"/>
            </a:solidFill>
          </a:ln>
        </p:spPr>
        <p:txBody>
          <a:bodyPr/>
          <a:lstStyle/>
          <a:p/>
        </p:txBody>
      </p:sp>
      <p:sp>
        <p:nvSpPr>
          <p:cNvPr id="69" name="Polygon 69"/>
          <p:cNvSpPr/>
          <p:nvPr/>
        </p:nvSpPr>
        <p:spPr>
          <a:xfrm>
            <a:off x="24662702" y="3251835"/>
            <a:ext cx="170116" cy="13763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793"/>
                </a:moveTo>
                <a:lnTo>
                  <a:pt x="0" y="0"/>
                </a:lnTo>
                <a:lnTo>
                  <a:pt x="7220" y="10793"/>
                </a:lnTo>
                <a:lnTo>
                  <a:pt x="0" y="21600"/>
                </a:lnTo>
                <a:lnTo>
                  <a:pt x="21600" y="10793"/>
                </a:lnTo>
                <a:close/>
              </a:path>
            </a:pathLst>
          </a:custGeom>
          <a:solidFill>
            <a:srgbClr val="2E8B57"/>
          </a:solidFill>
          <a:ln w="6350">
            <a:solidFill>
              <a:srgbClr val="2E8B57"/>
            </a:solidFill>
          </a:ln>
        </p:spPr>
        <p:txBody>
          <a:bodyPr/>
          <a:lstStyle/>
          <a:p/>
        </p:txBody>
      </p:sp>
      <p:sp>
        <p:nvSpPr>
          <p:cNvPr id="70" name="Line 70"/>
          <p:cNvSpPr/>
          <p:nvPr/>
        </p:nvSpPr>
        <p:spPr>
          <a:xfrm>
            <a:off x="3999071" y="11420761"/>
            <a:ext cx="1771555" cy="0"/>
          </a:xfrm>
          <a:prstGeom prst="line">
            <a:avLst/>
          </a:prstGeom>
          <a:noFill/>
          <a:ln w="10795">
            <a:solidFill>
              <a:srgbClr val="555555"/>
            </a:solidFill>
          </a:ln>
        </p:spPr>
        <p:txBody>
          <a:bodyPr/>
          <a:lstStyle/>
          <a:p/>
        </p:txBody>
      </p:sp>
      <p:sp>
        <p:nvSpPr>
          <p:cNvPr id="71" name="Polygon 71"/>
          <p:cNvSpPr/>
          <p:nvPr/>
        </p:nvSpPr>
        <p:spPr>
          <a:xfrm>
            <a:off x="24656320" y="6323838"/>
            <a:ext cx="177832" cy="14363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0"/>
                </a:lnTo>
                <a:lnTo>
                  <a:pt x="7196" y="10800"/>
                </a:lnTo>
                <a:lnTo>
                  <a:pt x="0" y="2160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7A7A7A"/>
          </a:solidFill>
          <a:ln w="6350">
            <a:solidFill>
              <a:srgbClr val="7A7A7A"/>
            </a:solidFill>
          </a:ln>
        </p:spPr>
        <p:txBody>
          <a:bodyPr/>
          <a:lstStyle/>
          <a:p/>
        </p:txBody>
      </p:sp>
      <p:sp>
        <p:nvSpPr>
          <p:cNvPr id="72" name="Line 72"/>
          <p:cNvSpPr/>
          <p:nvPr/>
        </p:nvSpPr>
        <p:spPr>
          <a:xfrm flipV="1">
            <a:off x="14558391" y="8567642"/>
            <a:ext cx="0" cy="603028"/>
          </a:xfrm>
          <a:prstGeom prst="line">
            <a:avLst/>
          </a:prstGeom>
          <a:noFill/>
          <a:ln w="10795">
            <a:solidFill>
              <a:srgbClr val="5B7F5E"/>
            </a:solidFill>
          </a:ln>
        </p:spPr>
        <p:txBody>
          <a:bodyPr/>
          <a:lstStyle/>
          <a:p/>
        </p:txBody>
      </p:sp>
      <p:sp>
        <p:nvSpPr>
          <p:cNvPr id="73" name="Polygon 73"/>
          <p:cNvSpPr/>
          <p:nvPr/>
        </p:nvSpPr>
        <p:spPr>
          <a:xfrm>
            <a:off x="24656320" y="9098852"/>
            <a:ext cx="177832" cy="14363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0"/>
                </a:lnTo>
                <a:lnTo>
                  <a:pt x="7196" y="10800"/>
                </a:lnTo>
                <a:lnTo>
                  <a:pt x="0" y="2160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7A7A7A"/>
          </a:solidFill>
          <a:ln w="6350">
            <a:solidFill>
              <a:srgbClr val="7A7A7A"/>
            </a:solidFill>
          </a:ln>
        </p:spPr>
        <p:txBody>
          <a:bodyPr/>
          <a:lstStyle/>
          <a:p/>
        </p:txBody>
      </p:sp>
      <p:sp>
        <p:nvSpPr>
          <p:cNvPr id="74" name="Line 74"/>
          <p:cNvSpPr/>
          <p:nvPr/>
        </p:nvSpPr>
        <p:spPr>
          <a:xfrm flipV="1">
            <a:off x="26408539" y="1228725"/>
            <a:ext cx="0" cy="1101090"/>
          </a:xfrm>
          <a:prstGeom prst="line">
            <a:avLst/>
          </a:prstGeom>
          <a:noFill/>
          <a:ln w="10795">
            <a:solidFill>
              <a:srgbClr val="2E8B57"/>
            </a:solidFill>
          </a:ln>
        </p:spPr>
        <p:txBody>
          <a:bodyPr/>
          <a:lstStyle/>
          <a:p/>
        </p:txBody>
      </p:sp>
      <p:sp>
        <p:nvSpPr>
          <p:cNvPr id="75" name="Line 75"/>
          <p:cNvSpPr/>
          <p:nvPr/>
        </p:nvSpPr>
        <p:spPr>
          <a:xfrm flipH="1" flipV="1">
            <a:off x="26250424" y="1070610"/>
            <a:ext cx="158115" cy="158115"/>
          </a:xfrm>
          <a:prstGeom prst="line">
            <a:avLst/>
          </a:prstGeom>
          <a:noFill/>
          <a:ln w="10795">
            <a:solidFill>
              <a:srgbClr val="2E8B57"/>
            </a:solidFill>
          </a:ln>
        </p:spPr>
        <p:txBody>
          <a:bodyPr/>
          <a:lstStyle/>
          <a:p/>
        </p:txBody>
      </p:sp>
      <p:sp>
        <p:nvSpPr>
          <p:cNvPr id="76" name="Line 76"/>
          <p:cNvSpPr/>
          <p:nvPr/>
        </p:nvSpPr>
        <p:spPr>
          <a:xfrm flipH="1">
            <a:off x="391382" y="1070610"/>
            <a:ext cx="25859041" cy="0"/>
          </a:xfrm>
          <a:prstGeom prst="line">
            <a:avLst/>
          </a:prstGeom>
          <a:noFill/>
          <a:ln w="10795">
            <a:solidFill>
              <a:srgbClr val="2E8B57"/>
            </a:solidFill>
          </a:ln>
        </p:spPr>
        <p:txBody>
          <a:bodyPr/>
          <a:lstStyle/>
          <a:p/>
        </p:txBody>
      </p:sp>
      <p:sp>
        <p:nvSpPr>
          <p:cNvPr id="77" name="Line 77"/>
          <p:cNvSpPr/>
          <p:nvPr/>
        </p:nvSpPr>
        <p:spPr>
          <a:xfrm flipH="1">
            <a:off x="233267" y="1070610"/>
            <a:ext cx="158115" cy="158115"/>
          </a:xfrm>
          <a:prstGeom prst="line">
            <a:avLst/>
          </a:prstGeom>
          <a:noFill/>
          <a:ln w="10795">
            <a:solidFill>
              <a:srgbClr val="2E8B57"/>
            </a:solidFill>
          </a:ln>
        </p:spPr>
        <p:txBody>
          <a:bodyPr/>
          <a:lstStyle/>
          <a:p/>
        </p:txBody>
      </p:sp>
      <p:sp>
        <p:nvSpPr>
          <p:cNvPr id="78" name="Line 78"/>
          <p:cNvSpPr/>
          <p:nvPr/>
        </p:nvSpPr>
        <p:spPr>
          <a:xfrm>
            <a:off x="233267" y="1228725"/>
            <a:ext cx="0" cy="10033826"/>
          </a:xfrm>
          <a:prstGeom prst="line">
            <a:avLst/>
          </a:prstGeom>
          <a:noFill/>
          <a:ln w="10795">
            <a:solidFill>
              <a:srgbClr val="2E8B57"/>
            </a:solidFill>
          </a:ln>
        </p:spPr>
        <p:txBody>
          <a:bodyPr/>
          <a:lstStyle/>
          <a:p/>
        </p:txBody>
      </p:sp>
      <p:sp>
        <p:nvSpPr>
          <p:cNvPr id="79" name="Line 79"/>
          <p:cNvSpPr/>
          <p:nvPr/>
        </p:nvSpPr>
        <p:spPr>
          <a:xfrm>
            <a:off x="233267" y="11262551"/>
            <a:ext cx="158115" cy="158210"/>
          </a:xfrm>
          <a:prstGeom prst="line">
            <a:avLst/>
          </a:prstGeom>
          <a:noFill/>
          <a:ln w="10795">
            <a:solidFill>
              <a:srgbClr val="2E8B57"/>
            </a:solidFill>
          </a:ln>
        </p:spPr>
        <p:txBody>
          <a:bodyPr/>
          <a:lstStyle/>
          <a:p/>
        </p:txBody>
      </p:sp>
      <p:sp>
        <p:nvSpPr>
          <p:cNvPr id="80" name="Line 80"/>
          <p:cNvSpPr/>
          <p:nvPr/>
        </p:nvSpPr>
        <p:spPr>
          <a:xfrm>
            <a:off x="391382" y="11420761"/>
            <a:ext cx="429101" cy="0"/>
          </a:xfrm>
          <a:prstGeom prst="line">
            <a:avLst/>
          </a:prstGeom>
          <a:noFill/>
          <a:ln w="10795">
            <a:solidFill>
              <a:srgbClr val="2E8B57"/>
            </a:solidFill>
          </a:ln>
        </p:spPr>
        <p:txBody>
          <a:bodyPr/>
          <a:lstStyle/>
          <a:p/>
        </p:txBody>
      </p:sp>
      <p:sp>
        <p:nvSpPr>
          <p:cNvPr id="81" name="Polygon 81"/>
          <p:cNvSpPr/>
          <p:nvPr/>
        </p:nvSpPr>
        <p:spPr>
          <a:xfrm>
            <a:off x="7721537" y="11855863"/>
            <a:ext cx="223647" cy="17973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6"/>
                </a:moveTo>
                <a:lnTo>
                  <a:pt x="0" y="0"/>
                </a:lnTo>
                <a:lnTo>
                  <a:pt x="7111" y="10806"/>
                </a:lnTo>
                <a:lnTo>
                  <a:pt x="0" y="21600"/>
                </a:lnTo>
                <a:lnTo>
                  <a:pt x="21600" y="10806"/>
                </a:lnTo>
                <a:close/>
              </a:path>
            </a:pathLst>
          </a:custGeom>
          <a:solidFill>
            <a:srgbClr val="5B7F5E"/>
          </a:solidFill>
          <a:ln w="6350">
            <a:solidFill>
              <a:srgbClr val="5B7F5E"/>
            </a:solidFill>
          </a:ln>
        </p:spPr>
        <p:txBody>
          <a:bodyPr/>
          <a:lstStyle/>
          <a:p/>
        </p:txBody>
      </p:sp>
      <p:sp>
        <p:nvSpPr>
          <p:cNvPr id="82" name="Polygon 82"/>
          <p:cNvSpPr/>
          <p:nvPr/>
        </p:nvSpPr>
        <p:spPr>
          <a:xfrm>
            <a:off x="9146572" y="11855863"/>
            <a:ext cx="223647" cy="17973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6"/>
                </a:moveTo>
                <a:lnTo>
                  <a:pt x="0" y="0"/>
                </a:lnTo>
                <a:lnTo>
                  <a:pt x="7102" y="10806"/>
                </a:lnTo>
                <a:lnTo>
                  <a:pt x="0" y="21600"/>
                </a:lnTo>
                <a:lnTo>
                  <a:pt x="21600" y="10806"/>
                </a:lnTo>
                <a:close/>
              </a:path>
            </a:pathLst>
          </a:custGeom>
          <a:solidFill>
            <a:srgbClr val="5B7F5E"/>
          </a:solidFill>
          <a:ln w="6350">
            <a:solidFill>
              <a:srgbClr val="5B7F5E"/>
            </a:solidFill>
          </a:ln>
        </p:spPr>
        <p:txBody>
          <a:bodyPr/>
          <a:lstStyle/>
          <a:p/>
        </p:txBody>
      </p:sp>
      <p:sp>
        <p:nvSpPr>
          <p:cNvPr id="83" name="Polygon 83"/>
          <p:cNvSpPr/>
          <p:nvPr/>
        </p:nvSpPr>
        <p:spPr>
          <a:xfrm>
            <a:off x="5724906" y="11351895"/>
            <a:ext cx="170212" cy="13763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7"/>
                </a:moveTo>
                <a:lnTo>
                  <a:pt x="0" y="0"/>
                </a:lnTo>
                <a:lnTo>
                  <a:pt x="7216" y="10807"/>
                </a:lnTo>
                <a:lnTo>
                  <a:pt x="0" y="21600"/>
                </a:lnTo>
                <a:lnTo>
                  <a:pt x="21600" y="10807"/>
                </a:lnTo>
                <a:close/>
              </a:path>
            </a:pathLst>
          </a:custGeom>
          <a:solidFill>
            <a:srgbClr val="555555"/>
          </a:solidFill>
          <a:ln w="6350">
            <a:solidFill>
              <a:srgbClr val="555555"/>
            </a:solidFill>
          </a:ln>
        </p:spPr>
        <p:txBody>
          <a:bodyPr/>
          <a:lstStyle/>
          <a:p/>
        </p:txBody>
      </p:sp>
      <p:sp>
        <p:nvSpPr>
          <p:cNvPr id="84" name="Polygon 84"/>
          <p:cNvSpPr/>
          <p:nvPr/>
        </p:nvSpPr>
        <p:spPr>
          <a:xfrm>
            <a:off x="14489621" y="8443055"/>
            <a:ext cx="137636" cy="17021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793" y="0"/>
                </a:moveTo>
                <a:lnTo>
                  <a:pt x="0" y="21600"/>
                </a:lnTo>
                <a:lnTo>
                  <a:pt x="10793" y="14384"/>
                </a:lnTo>
                <a:lnTo>
                  <a:pt x="21600" y="21600"/>
                </a:lnTo>
                <a:lnTo>
                  <a:pt x="10793" y="0"/>
                </a:lnTo>
                <a:close/>
              </a:path>
            </a:pathLst>
          </a:custGeom>
          <a:solidFill>
            <a:srgbClr val="5B7F5E"/>
          </a:solidFill>
          <a:ln w="6350">
            <a:solidFill>
              <a:srgbClr val="5B7F5E"/>
            </a:solidFill>
          </a:ln>
        </p:spPr>
        <p:txBody>
          <a:bodyPr/>
          <a:lstStyle/>
          <a:p/>
        </p:txBody>
      </p:sp>
      <p:sp>
        <p:nvSpPr>
          <p:cNvPr id="85" name="Polygon 85"/>
          <p:cNvSpPr/>
          <p:nvPr/>
        </p:nvSpPr>
        <p:spPr>
          <a:xfrm>
            <a:off x="774859" y="11351895"/>
            <a:ext cx="170212" cy="13763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7"/>
                </a:moveTo>
                <a:lnTo>
                  <a:pt x="0" y="0"/>
                </a:lnTo>
                <a:lnTo>
                  <a:pt x="7216" y="10807"/>
                </a:lnTo>
                <a:lnTo>
                  <a:pt x="0" y="21600"/>
                </a:lnTo>
                <a:lnTo>
                  <a:pt x="21600" y="10807"/>
                </a:lnTo>
                <a:close/>
              </a:path>
            </a:pathLst>
          </a:custGeom>
          <a:solidFill>
            <a:srgbClr val="2E8B57"/>
          </a:solidFill>
          <a:ln w="6350">
            <a:solidFill>
              <a:srgbClr val="2E8B57"/>
            </a:solidFill>
          </a:ln>
        </p:spPr>
        <p:txBody>
          <a:bodyPr/>
          <a:lstStyle/>
          <a:p/>
        </p:txBody>
      </p:sp>
      <p:sp>
        <p:nvSpPr>
          <p:cNvPr id="86" name="TextBox 86"/>
          <p:cNvSpPr txBox="1"/>
          <p:nvPr/>
        </p:nvSpPr>
        <p:spPr>
          <a:xfrm>
            <a:off x="6194584" y="1903952"/>
            <a:ext cx="3350419" cy="50273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320" b="1">
                <a:solidFill>
                  <a:srgbClr val="1F6F78"/>
                </a:solidFill>
                <a:latin typeface="Helvetica"/>
                <a:ea typeface="Helvetica"/>
                <a:cs typeface="Helvetica"/>
              </a:rPr>
              <a:t>RELEASE AUDIT</a:t>
            </a:r>
            <a:endParaRPr lang="zh-CN" sz="3320"/>
          </a:p>
        </p:txBody>
      </p:sp>
      <p:sp>
        <p:nvSpPr>
          <p:cNvPr id="87" name="TextBox 87"/>
          <p:cNvSpPr txBox="1"/>
          <p:nvPr/>
        </p:nvSpPr>
        <p:spPr>
          <a:xfrm>
            <a:off x="6194584" y="9404032"/>
            <a:ext cx="2718626" cy="50273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320" b="1">
                <a:solidFill>
                  <a:srgbClr val="5B7F5E"/>
                </a:solidFill>
                <a:latin typeface="Helvetica"/>
                <a:ea typeface="Helvetica"/>
                <a:cs typeface="Helvetica"/>
              </a:rPr>
              <a:t>CANDIDATES</a:t>
            </a:r>
            <a:endParaRPr lang="zh-CN" sz="3320"/>
          </a:p>
        </p:txBody>
      </p:sp>
      <p:sp>
        <p:nvSpPr>
          <p:cNvPr id="88" name="TextBox 88"/>
          <p:cNvSpPr txBox="1"/>
          <p:nvPr/>
        </p:nvSpPr>
        <p:spPr>
          <a:xfrm>
            <a:off x="9494615" y="9452038"/>
            <a:ext cx="9712547" cy="42995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910">
                <a:solidFill>
                  <a:srgbClr val="5B7F5E"/>
                </a:solidFill>
                <a:latin typeface="Segoe UI Symbol"/>
                <a:ea typeface="Segoe UI Symbol"/>
                <a:cs typeface="Segoe UI Symbol"/>
              </a:rPr>
              <a:t>same gate for every arm, scored by certiﬁed accepted gain</a:t>
            </a:r>
            <a:endParaRPr lang="zh-CN" sz="2910"/>
          </a:p>
        </p:txBody>
      </p:sp>
      <p:sp>
        <p:nvSpPr>
          <p:cNvPr id="89" name="TextBox 89"/>
          <p:cNvSpPr txBox="1"/>
          <p:nvPr/>
        </p:nvSpPr>
        <p:spPr>
          <a:xfrm>
            <a:off x="1912429" y="4254913"/>
            <a:ext cx="1114711" cy="6974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498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π</a:t>
            </a:r>
            <a:r>
              <a:rPr lang="zh-CN" sz="498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(0)</a:t>
            </a:r>
            <a:endParaRPr lang="zh-CN" sz="4980"/>
          </a:p>
        </p:txBody>
      </p:sp>
      <p:sp>
        <p:nvSpPr>
          <p:cNvPr id="90" name="TextBox 90"/>
          <p:cNvSpPr txBox="1"/>
          <p:nvPr/>
        </p:nvSpPr>
        <p:spPr>
          <a:xfrm>
            <a:off x="1372838" y="5095399"/>
            <a:ext cx="2220849" cy="42995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91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factory policy</a:t>
            </a:r>
            <a:endParaRPr lang="zh-CN" sz="2910"/>
          </a:p>
        </p:txBody>
      </p:sp>
      <p:sp>
        <p:nvSpPr>
          <p:cNvPr id="91" name="TextBox 91"/>
          <p:cNvSpPr txBox="1"/>
          <p:nvPr/>
        </p:nvSpPr>
        <p:spPr>
          <a:xfrm>
            <a:off x="860108" y="6146006"/>
            <a:ext cx="3246025" cy="42995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910">
                <a:solidFill>
                  <a:srgbClr val="7A7A7A"/>
                </a:solidFill>
                <a:latin typeface="Helvetica"/>
                <a:ea typeface="Helvetica"/>
                <a:cs typeface="Helvetica"/>
              </a:rPr>
              <a:t>frozen, sample-only</a:t>
            </a:r>
            <a:endParaRPr lang="zh-CN" sz="2910"/>
          </a:p>
        </p:txBody>
      </p:sp>
      <p:sp>
        <p:nvSpPr>
          <p:cNvPr id="92" name="TextBox 92"/>
          <p:cNvSpPr txBox="1"/>
          <p:nvPr/>
        </p:nvSpPr>
        <p:spPr>
          <a:xfrm>
            <a:off x="689038" y="6567773"/>
            <a:ext cx="3588829" cy="42995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910">
                <a:solidFill>
                  <a:srgbClr val="7A7A7A"/>
                </a:solidFill>
                <a:latin typeface="Helvetica"/>
                <a:ea typeface="Helvetica"/>
                <a:cs typeface="Helvetica"/>
              </a:rPr>
              <a:t>reference every round</a:t>
            </a:r>
            <a:endParaRPr lang="zh-CN" sz="2910"/>
          </a:p>
        </p:txBody>
      </p:sp>
      <p:sp>
        <p:nvSpPr>
          <p:cNvPr id="93" name="TextBox 93"/>
          <p:cNvSpPr txBox="1"/>
          <p:nvPr/>
        </p:nvSpPr>
        <p:spPr>
          <a:xfrm>
            <a:off x="1477899" y="10808398"/>
            <a:ext cx="1984153" cy="7051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498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π</a:t>
            </a:r>
            <a:r>
              <a:rPr lang="zh-CN" sz="498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lang="zh-CN" sz="498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</a:t>
            </a:r>
            <a:r>
              <a:rPr lang="zh-CN" sz="4980" b="1" i="1">
                <a:solidFill>
                  <a:srgbClr val="000000"/>
                </a:solidFill>
                <a:latin typeface="Segoe UI Symbol"/>
                <a:ea typeface="Segoe UI Symbol"/>
                <a:cs typeface="Segoe UI Symbol"/>
              </a:rPr>
              <a:t>−</a:t>
            </a:r>
            <a:r>
              <a:rPr lang="zh-CN" sz="498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1)</a:t>
            </a:r>
            <a:endParaRPr lang="zh-CN" sz="4980"/>
          </a:p>
        </p:txBody>
      </p:sp>
      <p:sp>
        <p:nvSpPr>
          <p:cNvPr id="94" name="TextBox 94"/>
          <p:cNvSpPr txBox="1"/>
          <p:nvPr/>
        </p:nvSpPr>
        <p:spPr>
          <a:xfrm>
            <a:off x="1611440" y="11656600"/>
            <a:ext cx="1743646" cy="42995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91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incumbent</a:t>
            </a:r>
            <a:endParaRPr lang="zh-CN" sz="2910"/>
          </a:p>
        </p:txBody>
      </p:sp>
      <p:sp>
        <p:nvSpPr>
          <p:cNvPr id="95" name="TextBox 95"/>
          <p:cNvSpPr txBox="1"/>
          <p:nvPr/>
        </p:nvSpPr>
        <p:spPr>
          <a:xfrm>
            <a:off x="6757607" y="2778728"/>
            <a:ext cx="1616964" cy="5655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740" b="1">
                <a:solidFill>
                  <a:srgbClr val="2B2B2B"/>
                </a:solidFill>
                <a:latin typeface="Helvetica"/>
                <a:ea typeface="Helvetica"/>
                <a:cs typeface="Helvetica"/>
              </a:rPr>
              <a:t>census</a:t>
            </a:r>
            <a:endParaRPr lang="zh-CN" sz="3740"/>
          </a:p>
        </p:txBody>
      </p:sp>
      <p:sp>
        <p:nvSpPr>
          <p:cNvPr id="96" name="TextBox 96"/>
          <p:cNvSpPr txBox="1"/>
          <p:nvPr/>
        </p:nvSpPr>
        <p:spPr>
          <a:xfrm>
            <a:off x="8913304" y="5459825"/>
            <a:ext cx="1609725" cy="42176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910" i="1">
                <a:solidFill>
                  <a:srgbClr val="1F6F78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lang="zh-CN" sz="2910">
                <a:solidFill>
                  <a:srgbClr val="1F6F78"/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lang="zh-CN" sz="2910" i="1">
                <a:solidFill>
                  <a:srgbClr val="1F6F78"/>
                </a:solidFill>
                <a:latin typeface="Times New Roman"/>
                <a:ea typeface="Times New Roman"/>
                <a:cs typeface="Times New Roman"/>
              </a:rPr>
              <a:t> c</a:t>
            </a:r>
            <a:r>
              <a:rPr lang="zh-CN" sz="2910">
                <a:solidFill>
                  <a:srgbClr val="1F6F78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lang="zh-CN" sz="2910" i="1">
                <a:solidFill>
                  <a:srgbClr val="1F6F78"/>
                </a:solidFill>
                <a:latin typeface="Times New Roman"/>
                <a:ea typeface="Times New Roman"/>
                <a:cs typeface="Times New Roman"/>
              </a:rPr>
              <a:t> c</a:t>
            </a:r>
            <a:r>
              <a:rPr lang="zh-CN" sz="2910">
                <a:solidFill>
                  <a:srgbClr val="1F6F78"/>
                </a:solidFill>
                <a:latin typeface="Times New Roman"/>
                <a:ea typeface="Times New Roman"/>
                <a:cs typeface="Times New Roman"/>
              </a:rPr>
              <a:t>3</a:t>
            </a:r>
            <a:endParaRPr lang="zh-CN" sz="2910"/>
          </a:p>
        </p:txBody>
      </p:sp>
      <p:sp>
        <p:nvSpPr>
          <p:cNvPr id="97" name="TextBox 97"/>
          <p:cNvSpPr txBox="1"/>
          <p:nvPr/>
        </p:nvSpPr>
        <p:spPr>
          <a:xfrm>
            <a:off x="6453473" y="6392513"/>
            <a:ext cx="4209669" cy="59102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910">
                <a:solidFill>
                  <a:srgbClr val="7A7A7A"/>
                </a:solidFill>
                <a:latin typeface="Helvetica"/>
                <a:ea typeface="Helvetica"/>
                <a:cs typeface="Helvetica"/>
              </a:rPr>
              <a:t>roll</a:t>
            </a:r>
            <a:r>
              <a:rPr lang="zh-CN" sz="2910" i="1">
                <a:solidFill>
                  <a:srgbClr val="7A7A7A"/>
                </a:solidFill>
                <a:latin typeface="Times New Roman"/>
                <a:ea typeface="Times New Roman"/>
                <a:cs typeface="Times New Roman"/>
              </a:rPr>
              <a:t> π</a:t>
            </a:r>
            <a:r>
              <a:rPr lang="zh-CN" sz="2910">
                <a:solidFill>
                  <a:srgbClr val="7A7A7A"/>
                </a:solidFill>
                <a:latin typeface="Times New Roman"/>
                <a:ea typeface="Times New Roman"/>
                <a:cs typeface="Times New Roman"/>
              </a:rPr>
              <a:t>(0)</a:t>
            </a:r>
            <a:r>
              <a:rPr lang="zh-CN" sz="2910">
                <a:solidFill>
                  <a:srgbClr val="7A7A7A"/>
                </a:solidFill>
                <a:latin typeface="Helvetica"/>
                <a:ea typeface="Helvetica"/>
                <a:cs typeface="Helvetica"/>
              </a:rPr>
              <a:t>on fresh anchors</a:t>
            </a:r>
            <a:endParaRPr lang="zh-CN" sz="2910"/>
          </a:p>
        </p:txBody>
      </p:sp>
      <p:sp>
        <p:nvSpPr>
          <p:cNvPr id="98" name="TextBox 98"/>
          <p:cNvSpPr txBox="1"/>
          <p:nvPr/>
        </p:nvSpPr>
        <p:spPr>
          <a:xfrm>
            <a:off x="5940171" y="6973348"/>
            <a:ext cx="5236178" cy="42995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910">
                <a:solidFill>
                  <a:srgbClr val="7A7A7A"/>
                </a:solidFill>
                <a:latin typeface="Helvetica"/>
                <a:ea typeface="Helvetica"/>
                <a:cs typeface="Helvetica"/>
              </a:rPr>
              <a:t>keep its successes, per stratum</a:t>
            </a:r>
            <a:endParaRPr lang="zh-CN" sz="2910"/>
          </a:p>
        </p:txBody>
      </p:sp>
      <p:sp>
        <p:nvSpPr>
          <p:cNvPr id="99" name="TextBox 99"/>
          <p:cNvSpPr txBox="1"/>
          <p:nvPr/>
        </p:nvSpPr>
        <p:spPr>
          <a:xfrm>
            <a:off x="12757690" y="2865596"/>
            <a:ext cx="2934652" cy="5655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740" b="1">
                <a:solidFill>
                  <a:srgbClr val="2B2B2B"/>
                </a:solidFill>
                <a:latin typeface="Helvetica"/>
                <a:ea typeface="Helvetica"/>
                <a:cs typeface="Helvetica"/>
              </a:rPr>
              <a:t>paired replay</a:t>
            </a:r>
            <a:endParaRPr lang="zh-CN" sz="3740"/>
          </a:p>
        </p:txBody>
      </p:sp>
      <p:sp>
        <p:nvSpPr>
          <p:cNvPr id="100" name="TextBox 100"/>
          <p:cNvSpPr txBox="1"/>
          <p:nvPr/>
        </p:nvSpPr>
        <p:spPr>
          <a:xfrm>
            <a:off x="16201739" y="3815620"/>
            <a:ext cx="439102" cy="52720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4150">
                <a:solidFill>
                  <a:srgbClr val="2E8B57"/>
                </a:solidFill>
                <a:latin typeface="Segoe UI Symbol"/>
                <a:ea typeface="Segoe UI Symbol"/>
                <a:cs typeface="Segoe UI Symbol"/>
              </a:rPr>
              <a:t>✓</a:t>
            </a:r>
            <a:endParaRPr lang="zh-CN" sz="4150"/>
          </a:p>
        </p:txBody>
      </p:sp>
      <p:sp>
        <p:nvSpPr>
          <p:cNvPr id="101" name="TextBox 101"/>
          <p:cNvSpPr txBox="1"/>
          <p:nvPr/>
        </p:nvSpPr>
        <p:spPr>
          <a:xfrm>
            <a:off x="16216408" y="5265706"/>
            <a:ext cx="409670" cy="52720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4150" i="1">
                <a:solidFill>
                  <a:srgbClr val="C0392B"/>
                </a:solidFill>
                <a:latin typeface="Times New Roman"/>
                <a:ea typeface="Times New Roman"/>
                <a:cs typeface="Times New Roman"/>
              </a:rPr>
              <a:t>×</a:t>
            </a:r>
            <a:endParaRPr lang="zh-CN" sz="4150"/>
          </a:p>
        </p:txBody>
      </p:sp>
      <p:sp>
        <p:nvSpPr>
          <p:cNvPr id="102" name="TextBox 102"/>
          <p:cNvSpPr txBox="1"/>
          <p:nvPr/>
        </p:nvSpPr>
        <p:spPr>
          <a:xfrm>
            <a:off x="16114871" y="3471482"/>
            <a:ext cx="724186" cy="4456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910" i="1">
                <a:solidFill>
                  <a:srgbClr val="1F6F78"/>
                </a:solidFill>
                <a:latin typeface="Times New Roman"/>
                <a:ea typeface="Times New Roman"/>
                <a:cs typeface="Times New Roman"/>
              </a:rPr>
              <a:t>π</a:t>
            </a:r>
            <a:r>
              <a:rPr lang="zh-CN" sz="2910">
                <a:solidFill>
                  <a:srgbClr val="1F6F78"/>
                </a:solidFill>
                <a:latin typeface="Times New Roman"/>
                <a:ea typeface="Times New Roman"/>
                <a:cs typeface="Times New Roman"/>
              </a:rPr>
              <a:t>(0)</a:t>
            </a:r>
            <a:endParaRPr lang="zh-CN" sz="2910"/>
          </a:p>
        </p:txBody>
      </p:sp>
      <p:sp>
        <p:nvSpPr>
          <p:cNvPr id="103" name="TextBox 103"/>
          <p:cNvSpPr txBox="1"/>
          <p:nvPr/>
        </p:nvSpPr>
        <p:spPr>
          <a:xfrm>
            <a:off x="13618083" y="5610034"/>
            <a:ext cx="1982819" cy="43195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910">
                <a:solidFill>
                  <a:srgbClr val="C0392B"/>
                </a:solidFill>
                <a:latin typeface="Helvetica"/>
                <a:ea typeface="Helvetica"/>
                <a:cs typeface="Helvetica"/>
              </a:rPr>
              <a:t>candidate</a:t>
            </a:r>
            <a:r>
              <a:rPr lang="zh-CN" sz="2910">
                <a:solidFill>
                  <a:srgbClr val="C0392B"/>
                </a:solidFill>
                <a:latin typeface="Times New Roman"/>
                <a:ea typeface="Times New Roman"/>
                <a:cs typeface="Times New Roman"/>
              </a:rPr>
              <a:t> ˜</a:t>
            </a:r>
            <a:r>
              <a:rPr lang="zh-CN" sz="2910" i="1">
                <a:solidFill>
                  <a:srgbClr val="C0392B"/>
                </a:solidFill>
                <a:latin typeface="Times New Roman"/>
                <a:ea typeface="Times New Roman"/>
                <a:cs typeface="Times New Roman"/>
              </a:rPr>
              <a:t>π</a:t>
            </a:r>
            <a:endParaRPr lang="zh-CN" sz="2910"/>
          </a:p>
        </p:txBody>
      </p:sp>
      <p:sp>
        <p:nvSpPr>
          <p:cNvPr id="104" name="TextBox 104"/>
          <p:cNvSpPr txBox="1"/>
          <p:nvPr/>
        </p:nvSpPr>
        <p:spPr>
          <a:xfrm>
            <a:off x="12463082" y="6458331"/>
            <a:ext cx="4190714" cy="42995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910">
                <a:solidFill>
                  <a:srgbClr val="7A7A7A"/>
                </a:solidFill>
                <a:latin typeface="Helvetica"/>
                <a:ea typeface="Helvetica"/>
                <a:cs typeface="Helvetica"/>
              </a:rPr>
              <a:t>same anchor, same noise</a:t>
            </a:r>
            <a:endParaRPr lang="zh-CN" sz="2910"/>
          </a:p>
        </p:txBody>
      </p:sp>
      <p:sp>
        <p:nvSpPr>
          <p:cNvPr id="105" name="TextBox 105"/>
          <p:cNvSpPr txBox="1"/>
          <p:nvPr/>
        </p:nvSpPr>
        <p:spPr>
          <a:xfrm>
            <a:off x="12382024" y="6880098"/>
            <a:ext cx="4352734" cy="42995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910">
                <a:solidFill>
                  <a:srgbClr val="7A7A7A"/>
                </a:solidFill>
                <a:latin typeface="Segoe UI Symbol"/>
                <a:ea typeface="Segoe UI Symbol"/>
                <a:cs typeface="Segoe UI Symbol"/>
              </a:rPr>
              <a:t>a ﬂip is one Bernoulli draw</a:t>
            </a:r>
            <a:endParaRPr lang="zh-CN" sz="2910"/>
          </a:p>
        </p:txBody>
      </p:sp>
      <p:sp>
        <p:nvSpPr>
          <p:cNvPr id="106" name="TextBox 106"/>
          <p:cNvSpPr txBox="1"/>
          <p:nvPr/>
        </p:nvSpPr>
        <p:spPr>
          <a:xfrm>
            <a:off x="18757773" y="2865596"/>
            <a:ext cx="3153823" cy="5655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740" b="1">
                <a:solidFill>
                  <a:srgbClr val="2B2B2B"/>
                </a:solidFill>
                <a:latin typeface="Segoe UI Symbol"/>
                <a:ea typeface="Segoe UI Symbol"/>
                <a:cs typeface="Segoe UI Symbol"/>
              </a:rPr>
              <a:t>stratiﬁed gate</a:t>
            </a:r>
            <a:endParaRPr lang="zh-CN" sz="3740"/>
          </a:p>
        </p:txBody>
      </p:sp>
      <p:sp>
        <p:nvSpPr>
          <p:cNvPr id="107" name="TextBox 107"/>
          <p:cNvSpPr txBox="1"/>
          <p:nvPr/>
        </p:nvSpPr>
        <p:spPr>
          <a:xfrm>
            <a:off x="21814250" y="4442174"/>
            <a:ext cx="198882" cy="36899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910" i="1">
                <a:solidFill>
                  <a:srgbClr val="C0392B"/>
                </a:solidFill>
                <a:latin typeface="Times New Roman"/>
                <a:ea typeface="Times New Roman"/>
                <a:cs typeface="Times New Roman"/>
              </a:rPr>
              <a:t>ε</a:t>
            </a:r>
            <a:endParaRPr lang="zh-CN" sz="2910"/>
          </a:p>
        </p:txBody>
      </p:sp>
      <p:sp>
        <p:nvSpPr>
          <p:cNvPr id="108" name="TextBox 108"/>
          <p:cNvSpPr txBox="1"/>
          <p:nvPr/>
        </p:nvSpPr>
        <p:spPr>
          <a:xfrm>
            <a:off x="19326416" y="5466874"/>
            <a:ext cx="367665" cy="39871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910" i="1">
                <a:solidFill>
                  <a:srgbClr val="7A7A7A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lang="zh-CN" sz="2910">
                <a:solidFill>
                  <a:srgbClr val="7A7A7A"/>
                </a:solidFill>
                <a:latin typeface="Times New Roman"/>
                <a:ea typeface="Times New Roman"/>
                <a:cs typeface="Times New Roman"/>
              </a:rPr>
              <a:t>1</a:t>
            </a:r>
            <a:endParaRPr lang="zh-CN" sz="2910"/>
          </a:p>
        </p:txBody>
      </p:sp>
      <p:sp>
        <p:nvSpPr>
          <p:cNvPr id="109" name="TextBox 109"/>
          <p:cNvSpPr txBox="1"/>
          <p:nvPr/>
        </p:nvSpPr>
        <p:spPr>
          <a:xfrm>
            <a:off x="20188904" y="5466874"/>
            <a:ext cx="367665" cy="39871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910" i="1">
                <a:solidFill>
                  <a:srgbClr val="7A7A7A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lang="zh-CN" sz="2910">
                <a:solidFill>
                  <a:srgbClr val="7A7A7A"/>
                </a:solidFill>
                <a:latin typeface="Times New Roman"/>
                <a:ea typeface="Times New Roman"/>
                <a:cs typeface="Times New Roman"/>
              </a:rPr>
              <a:t>2</a:t>
            </a:r>
            <a:endParaRPr lang="zh-CN" sz="2910"/>
          </a:p>
        </p:txBody>
      </p:sp>
      <p:sp>
        <p:nvSpPr>
          <p:cNvPr id="110" name="TextBox 110"/>
          <p:cNvSpPr txBox="1"/>
          <p:nvPr/>
        </p:nvSpPr>
        <p:spPr>
          <a:xfrm>
            <a:off x="21051393" y="5466874"/>
            <a:ext cx="367665" cy="39871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910" i="1">
                <a:solidFill>
                  <a:srgbClr val="7A7A7A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lang="zh-CN" sz="2910">
                <a:solidFill>
                  <a:srgbClr val="7A7A7A"/>
                </a:solidFill>
                <a:latin typeface="Times New Roman"/>
                <a:ea typeface="Times New Roman"/>
                <a:cs typeface="Times New Roman"/>
              </a:rPr>
              <a:t>3</a:t>
            </a:r>
            <a:endParaRPr lang="zh-CN" sz="2910"/>
          </a:p>
        </p:txBody>
      </p:sp>
      <p:sp>
        <p:nvSpPr>
          <p:cNvPr id="111" name="TextBox 111"/>
          <p:cNvSpPr txBox="1"/>
          <p:nvPr/>
        </p:nvSpPr>
        <p:spPr>
          <a:xfrm>
            <a:off x="19019710" y="3709797"/>
            <a:ext cx="488632" cy="39871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910" i="1">
                <a:solidFill>
                  <a:srgbClr val="1F6F78"/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lang="zh-CN" sz="2910" i="1">
                <a:solidFill>
                  <a:srgbClr val="1F6F78"/>
                </a:solidFill>
                <a:latin typeface="Times New Roman"/>
                <a:ea typeface="Times New Roman"/>
                <a:cs typeface="Times New Roman"/>
              </a:rPr>
              <a:t>c</a:t>
            </a:r>
            <a:endParaRPr lang="zh-CN" sz="2910"/>
          </a:p>
        </p:txBody>
      </p:sp>
      <p:sp>
        <p:nvSpPr>
          <p:cNvPr id="112" name="TextBox 112"/>
          <p:cNvSpPr txBox="1"/>
          <p:nvPr/>
        </p:nvSpPr>
        <p:spPr>
          <a:xfrm>
            <a:off x="18294191" y="6458331"/>
            <a:ext cx="4528566" cy="43195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910">
                <a:solidFill>
                  <a:srgbClr val="7A7A7A"/>
                </a:solidFill>
                <a:latin typeface="Helvetica"/>
                <a:ea typeface="Helvetica"/>
                <a:cs typeface="Helvetica"/>
              </a:rPr>
              <a:t>Learn-then-Test over</a:t>
            </a:r>
            <a:r>
              <a:rPr lang="zh-CN" sz="2910" i="1">
                <a:solidFill>
                  <a:srgbClr val="7A7A7A"/>
                </a:solidFill>
                <a:latin typeface="Times New Roman"/>
                <a:ea typeface="Times New Roman"/>
                <a:cs typeface="Times New Roman"/>
              </a:rPr>
              <a:t> λ</a:t>
            </a:r>
            <a:r>
              <a:rPr lang="zh-CN" sz="2910">
                <a:solidFill>
                  <a:srgbClr val="7A7A7A"/>
                </a:solidFill>
                <a:latin typeface="Helvetica"/>
                <a:ea typeface="Helvetica"/>
                <a:cs typeface="Helvetica"/>
              </a:rPr>
              <a:t> grid</a:t>
            </a:r>
            <a:endParaRPr lang="zh-CN" sz="2910"/>
          </a:p>
        </p:txBody>
      </p:sp>
      <p:sp>
        <p:nvSpPr>
          <p:cNvPr id="113" name="TextBox 113"/>
          <p:cNvSpPr txBox="1"/>
          <p:nvPr/>
        </p:nvSpPr>
        <p:spPr>
          <a:xfrm>
            <a:off x="18855309" y="6880098"/>
            <a:ext cx="3406331" cy="43195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910">
                <a:solidFill>
                  <a:srgbClr val="7A7A7A"/>
                </a:solidFill>
                <a:latin typeface="Helvetica"/>
                <a:ea typeface="Helvetica"/>
                <a:cs typeface="Helvetica"/>
              </a:rPr>
              <a:t>level</a:t>
            </a:r>
            <a:r>
              <a:rPr lang="zh-CN" sz="2910" i="1">
                <a:solidFill>
                  <a:srgbClr val="7A7A7A"/>
                </a:solidFill>
                <a:latin typeface="Times New Roman"/>
                <a:ea typeface="Times New Roman"/>
                <a:cs typeface="Times New Roman"/>
              </a:rPr>
              <a:t> δ</a:t>
            </a:r>
            <a:r>
              <a:rPr lang="zh-CN" sz="2910">
                <a:solidFill>
                  <a:srgbClr val="7A7A7A"/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 lang="zh-CN" sz="2910" i="1">
                <a:solidFill>
                  <a:srgbClr val="7A7A7A"/>
                </a:solidFill>
                <a:latin typeface="Times New Roman"/>
                <a:ea typeface="Times New Roman"/>
                <a:cs typeface="Times New Roman"/>
              </a:rPr>
              <a:t>M</a:t>
            </a:r>
            <a:r>
              <a:rPr lang="zh-CN" sz="2910">
                <a:solidFill>
                  <a:srgbClr val="7A7A7A"/>
                </a:solidFill>
                <a:latin typeface="Helvetica"/>
                <a:ea typeface="Helvetica"/>
                <a:cs typeface="Helvetica"/>
              </a:rPr>
              <a:t> per round</a:t>
            </a:r>
            <a:endParaRPr lang="zh-CN" sz="2910"/>
          </a:p>
        </p:txBody>
      </p:sp>
      <p:sp>
        <p:nvSpPr>
          <p:cNvPr id="114" name="TextBox 114"/>
          <p:cNvSpPr txBox="1"/>
          <p:nvPr/>
        </p:nvSpPr>
        <p:spPr>
          <a:xfrm>
            <a:off x="4563142" y="4026884"/>
            <a:ext cx="1127760" cy="42995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910">
                <a:solidFill>
                  <a:srgbClr val="7A7A7A"/>
                </a:solidFill>
                <a:latin typeface="Helvetica"/>
                <a:ea typeface="Helvetica"/>
                <a:cs typeface="Helvetica"/>
              </a:rPr>
              <a:t>roll out</a:t>
            </a:r>
            <a:endParaRPr lang="zh-CN" sz="2910"/>
          </a:p>
        </p:txBody>
      </p:sp>
      <p:sp>
        <p:nvSpPr>
          <p:cNvPr id="115" name="TextBox 115"/>
          <p:cNvSpPr txBox="1"/>
          <p:nvPr/>
        </p:nvSpPr>
        <p:spPr>
          <a:xfrm>
            <a:off x="10895457" y="3711702"/>
            <a:ext cx="1325880" cy="42995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910">
                <a:solidFill>
                  <a:srgbClr val="7A7A7A"/>
                </a:solidFill>
                <a:latin typeface="Helvetica"/>
                <a:ea typeface="Helvetica"/>
                <a:cs typeface="Helvetica"/>
              </a:rPr>
              <a:t>anchors</a:t>
            </a:r>
            <a:endParaRPr lang="zh-CN" sz="2910"/>
          </a:p>
        </p:txBody>
      </p:sp>
      <p:sp>
        <p:nvSpPr>
          <p:cNvPr id="116" name="TextBox 116"/>
          <p:cNvSpPr txBox="1"/>
          <p:nvPr/>
        </p:nvSpPr>
        <p:spPr>
          <a:xfrm>
            <a:off x="17220248" y="3695795"/>
            <a:ext cx="676466" cy="42995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910">
                <a:solidFill>
                  <a:srgbClr val="7A7A7A"/>
                </a:solidFill>
                <a:latin typeface="Segoe UI Symbol"/>
                <a:ea typeface="Segoe UI Symbol"/>
                <a:cs typeface="Segoe UI Symbol"/>
              </a:rPr>
              <a:t>ﬂips</a:t>
            </a:r>
            <a:endParaRPr lang="zh-CN" sz="2910"/>
          </a:p>
        </p:txBody>
      </p:sp>
      <p:sp>
        <p:nvSpPr>
          <p:cNvPr id="117" name="TextBox 117"/>
          <p:cNvSpPr txBox="1"/>
          <p:nvPr/>
        </p:nvSpPr>
        <p:spPr>
          <a:xfrm>
            <a:off x="25733216" y="2716149"/>
            <a:ext cx="1324166" cy="6974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498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π</a:t>
            </a:r>
            <a:r>
              <a:rPr lang="zh-CN" sz="498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lang="zh-CN" sz="498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</a:t>
            </a:r>
            <a:r>
              <a:rPr lang="zh-CN" sz="498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</a:t>
            </a:r>
            <a:endParaRPr lang="zh-CN" sz="4980"/>
          </a:p>
        </p:txBody>
      </p:sp>
      <p:sp>
        <p:nvSpPr>
          <p:cNvPr id="118" name="TextBox 118"/>
          <p:cNvSpPr txBox="1"/>
          <p:nvPr/>
        </p:nvSpPr>
        <p:spPr>
          <a:xfrm>
            <a:off x="25820942" y="3556540"/>
            <a:ext cx="1175385" cy="42995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91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release</a:t>
            </a:r>
            <a:endParaRPr lang="zh-CN" sz="2910"/>
          </a:p>
        </p:txBody>
      </p:sp>
      <p:sp>
        <p:nvSpPr>
          <p:cNvPr id="119" name="TextBox 119"/>
          <p:cNvSpPr txBox="1"/>
          <p:nvPr/>
        </p:nvSpPr>
        <p:spPr>
          <a:xfrm>
            <a:off x="24528875" y="4570952"/>
            <a:ext cx="3759232" cy="48472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910">
                <a:solidFill>
                  <a:srgbClr val="2E8B57"/>
                </a:solidFill>
                <a:latin typeface="Segoe UI Symbol"/>
                <a:ea typeface="Segoe UI Symbol"/>
                <a:cs typeface="Segoe UI Symbol"/>
              </a:rPr>
              <a:t>certiﬁed</a:t>
            </a:r>
            <a:r>
              <a:rPr lang="zh-CN" sz="2910">
                <a:solidFill>
                  <a:srgbClr val="2E8B57"/>
                </a:solidFill>
                <a:latin typeface="Times New Roman"/>
                <a:ea typeface="Times New Roman"/>
                <a:cs typeface="Times New Roman"/>
              </a:rPr>
              <a:t> max</a:t>
            </a:r>
            <a:r>
              <a:rPr lang="zh-CN" sz="2910" i="1">
                <a:solidFill>
                  <a:srgbClr val="2E8B57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lang="zh-CN" sz="2910" i="1">
                <a:solidFill>
                  <a:srgbClr val="2E8B57"/>
                </a:solidFill>
                <a:latin typeface="Times New Roman"/>
                <a:ea typeface="Times New Roman"/>
                <a:cs typeface="Times New Roman"/>
              </a:rPr>
              <a:t> R</a:t>
            </a:r>
            <a:r>
              <a:rPr lang="zh-CN" sz="2910" i="1">
                <a:solidFill>
                  <a:srgbClr val="2E8B57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lang="zh-CN" sz="2910" i="1">
                <a:solidFill>
                  <a:srgbClr val="2E8B57"/>
                </a:solidFill>
                <a:latin typeface="Segoe UI Symbol"/>
                <a:ea typeface="Segoe UI Symbol"/>
                <a:cs typeface="Segoe UI Symbol"/>
              </a:rPr>
              <a:t> ≤</a:t>
            </a:r>
            <a:r>
              <a:rPr lang="zh-CN" sz="2910" i="1">
                <a:solidFill>
                  <a:srgbClr val="2E8B57"/>
                </a:solidFill>
                <a:latin typeface="Times New Roman"/>
                <a:ea typeface="Times New Roman"/>
                <a:cs typeface="Times New Roman"/>
              </a:rPr>
              <a:t>ε</a:t>
            </a:r>
            <a:endParaRPr lang="zh-CN" sz="2910"/>
          </a:p>
        </p:txBody>
      </p:sp>
      <p:sp>
        <p:nvSpPr>
          <p:cNvPr id="120" name="TextBox 120"/>
          <p:cNvSpPr txBox="1"/>
          <p:nvPr/>
        </p:nvSpPr>
        <p:spPr>
          <a:xfrm>
            <a:off x="25902856" y="6175534"/>
            <a:ext cx="1011841" cy="42995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91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refuse</a:t>
            </a:r>
            <a:endParaRPr lang="zh-CN" sz="2910"/>
          </a:p>
        </p:txBody>
      </p:sp>
      <p:sp>
        <p:nvSpPr>
          <p:cNvPr id="121" name="TextBox 121"/>
          <p:cNvSpPr txBox="1"/>
          <p:nvPr/>
        </p:nvSpPr>
        <p:spPr>
          <a:xfrm>
            <a:off x="24931688" y="7268051"/>
            <a:ext cx="2953703" cy="42995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910">
                <a:solidFill>
                  <a:srgbClr val="7A7A7A"/>
                </a:solidFill>
                <a:latin typeface="Helvetica"/>
                <a:ea typeface="Helvetica"/>
                <a:cs typeface="Helvetica"/>
              </a:rPr>
              <a:t>incumbent stands</a:t>
            </a:r>
            <a:endParaRPr lang="zh-CN" sz="2910"/>
          </a:p>
        </p:txBody>
      </p:sp>
      <p:sp>
        <p:nvSpPr>
          <p:cNvPr id="122" name="TextBox 122"/>
          <p:cNvSpPr txBox="1"/>
          <p:nvPr/>
        </p:nvSpPr>
        <p:spPr>
          <a:xfrm>
            <a:off x="25472136" y="8949118"/>
            <a:ext cx="1873187" cy="42995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91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scoreboard</a:t>
            </a:r>
            <a:endParaRPr lang="zh-CN" sz="2910"/>
          </a:p>
        </p:txBody>
      </p:sp>
      <p:sp>
        <p:nvSpPr>
          <p:cNvPr id="123" name="TextBox 123"/>
          <p:cNvSpPr txBox="1"/>
          <p:nvPr/>
        </p:nvSpPr>
        <p:spPr>
          <a:xfrm>
            <a:off x="24367522" y="10056400"/>
            <a:ext cx="4055554" cy="4552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910">
                <a:solidFill>
                  <a:srgbClr val="7A7A7A"/>
                </a:solidFill>
                <a:latin typeface="Helvetica"/>
                <a:ea typeface="Helvetica"/>
                <a:cs typeface="Helvetica"/>
              </a:rPr>
              <a:t>CAG</a:t>
            </a:r>
            <a:r>
              <a:rPr lang="zh-CN" sz="2910">
                <a:solidFill>
                  <a:srgbClr val="7A7A7A"/>
                </a:solidFill>
                <a:latin typeface="Times New Roman"/>
                <a:ea typeface="Times New Roman"/>
                <a:cs typeface="Times New Roman"/>
              </a:rPr>
              <a:t> =</a:t>
            </a:r>
            <a:r>
              <a:rPr lang="zh-CN" sz="2910">
                <a:solidFill>
                  <a:srgbClr val="7A7A7A"/>
                </a:solidFill>
                <a:latin typeface="Times New Roman"/>
                <a:ea typeface="Times New Roman"/>
                <a:cs typeface="Times New Roman"/>
              </a:rPr>
              <a:t> 1</a:t>
            </a:r>
            <a:r>
              <a:rPr lang="zh-CN" sz="2910" i="1">
                <a:solidFill>
                  <a:srgbClr val="7A7A7A"/>
                </a:solidFill>
                <a:latin typeface="Times New Roman"/>
                <a:ea typeface="Times New Roman"/>
                <a:cs typeface="Times New Roman"/>
              </a:rPr>
              <a:t>{</a:t>
            </a:r>
            <a:r>
              <a:rPr lang="zh-CN" sz="2910">
                <a:solidFill>
                  <a:srgbClr val="7A7A7A"/>
                </a:solidFill>
                <a:latin typeface="Helvetica"/>
                <a:ea typeface="Helvetica"/>
                <a:cs typeface="Helvetica"/>
              </a:rPr>
              <a:t>cert</a:t>
            </a:r>
            <a:r>
              <a:rPr lang="zh-CN" sz="2910" i="1">
                <a:solidFill>
                  <a:srgbClr val="7A7A7A"/>
                </a:solidFill>
                <a:latin typeface="Times New Roman"/>
                <a:ea typeface="Times New Roman"/>
                <a:cs typeface="Times New Roman"/>
              </a:rPr>
              <a:t>} ·</a:t>
            </a:r>
            <a:r>
              <a:rPr lang="zh-CN" sz="2910">
                <a:solidFill>
                  <a:srgbClr val="7A7A7A"/>
                </a:solidFill>
                <a:latin typeface="Segoe UI Symbol"/>
                <a:ea typeface="Segoe UI Symbol"/>
                <a:cs typeface="Segoe UI Symbol"/>
              </a:rPr>
              <a:t> ∆</a:t>
            </a:r>
            <a:r>
              <a:rPr lang="zh-CN" sz="2910" i="1">
                <a:solidFill>
                  <a:srgbClr val="7A7A7A"/>
                </a:solidFill>
                <a:latin typeface="Times New Roman"/>
                <a:ea typeface="Times New Roman"/>
                <a:cs typeface="Times New Roman"/>
              </a:rPr>
              <a:t>J</a:t>
            </a:r>
            <a:r>
              <a:rPr lang="zh-CN" sz="2910">
                <a:solidFill>
                  <a:srgbClr val="7A7A7A"/>
                </a:solidFill>
                <a:latin typeface="Times New Roman"/>
                <a:ea typeface="Times New Roman"/>
                <a:cs typeface="Times New Roman"/>
              </a:rPr>
              <a:t>pop</a:t>
            </a:r>
            <a:endParaRPr lang="zh-CN" sz="2910"/>
          </a:p>
        </p:txBody>
      </p:sp>
      <p:sp>
        <p:nvSpPr>
          <p:cNvPr id="124" name="TextBox 124"/>
          <p:cNvSpPr txBox="1"/>
          <p:nvPr/>
        </p:nvSpPr>
        <p:spPr>
          <a:xfrm>
            <a:off x="7086790" y="10576465"/>
            <a:ext cx="2943130" cy="5655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740" b="1">
                <a:solidFill>
                  <a:srgbClr val="1F6F78"/>
                </a:solidFill>
                <a:latin typeface="Helvetica"/>
                <a:ea typeface="Helvetica"/>
                <a:cs typeface="Helvetica"/>
              </a:rPr>
              <a:t>engine (ours)</a:t>
            </a:r>
            <a:endParaRPr lang="zh-CN" sz="3740"/>
          </a:p>
        </p:txBody>
      </p:sp>
      <p:sp>
        <p:nvSpPr>
          <p:cNvPr id="125" name="TextBox 125"/>
          <p:cNvSpPr txBox="1"/>
          <p:nvPr/>
        </p:nvSpPr>
        <p:spPr>
          <a:xfrm>
            <a:off x="6877812" y="11796522"/>
            <a:ext cx="510826" cy="33308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80">
                <a:solidFill>
                  <a:srgbClr val="2B2B2B"/>
                </a:solidFill>
                <a:latin typeface="Segoe UI Symbol"/>
                <a:ea typeface="Segoe UI Symbol"/>
                <a:cs typeface="Segoe UI Symbol"/>
              </a:rPr>
              <a:t>ﬁt</a:t>
            </a:r>
            <a:r>
              <a:rPr lang="zh-CN" sz="208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ˆ</a:t>
            </a:r>
            <a:r>
              <a:rPr lang="zh-CN" sz="2080" i="1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h</a:t>
            </a:r>
            <a:endParaRPr lang="zh-CN" sz="2080"/>
          </a:p>
        </p:txBody>
      </p:sp>
      <p:sp>
        <p:nvSpPr>
          <p:cNvPr id="126" name="TextBox 126"/>
          <p:cNvSpPr txBox="1"/>
          <p:nvPr/>
        </p:nvSpPr>
        <p:spPr>
          <a:xfrm>
            <a:off x="8170259" y="11787473"/>
            <a:ext cx="776288" cy="30708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80">
                <a:solidFill>
                  <a:srgbClr val="2B2B2B"/>
                </a:solidFill>
                <a:latin typeface="Helvetica"/>
                <a:ea typeface="Helvetica"/>
                <a:cs typeface="Helvetica"/>
              </a:rPr>
              <a:t>anneal</a:t>
            </a:r>
            <a:endParaRPr lang="zh-CN" sz="2080"/>
          </a:p>
        </p:txBody>
      </p:sp>
      <p:sp>
        <p:nvSpPr>
          <p:cNvPr id="127" name="TextBox 127"/>
          <p:cNvSpPr txBox="1"/>
          <p:nvPr/>
        </p:nvSpPr>
        <p:spPr>
          <a:xfrm>
            <a:off x="9680734" y="11787473"/>
            <a:ext cx="605219" cy="30708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80">
                <a:solidFill>
                  <a:srgbClr val="2B2B2B"/>
                </a:solidFill>
                <a:latin typeface="Helvetica"/>
                <a:ea typeface="Helvetica"/>
                <a:cs typeface="Helvetica"/>
              </a:rPr>
              <a:t>distill</a:t>
            </a:r>
            <a:endParaRPr lang="zh-CN" sz="2080"/>
          </a:p>
        </p:txBody>
      </p:sp>
      <p:sp>
        <p:nvSpPr>
          <p:cNvPr id="128" name="TextBox 128"/>
          <p:cNvSpPr txBox="1"/>
          <p:nvPr/>
        </p:nvSpPr>
        <p:spPr>
          <a:xfrm>
            <a:off x="12885610" y="10782776"/>
            <a:ext cx="1845659" cy="5655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740" b="1">
                <a:solidFill>
                  <a:srgbClr val="000000"/>
                </a:solidFill>
                <a:latin typeface="Segoe UI Symbol"/>
                <a:ea typeface="Segoe UI Symbol"/>
                <a:cs typeface="Segoe UI Symbol"/>
              </a:rPr>
              <a:t>ﬁnetune</a:t>
            </a:r>
            <a:endParaRPr lang="zh-CN" sz="3740"/>
          </a:p>
        </p:txBody>
      </p:sp>
      <p:sp>
        <p:nvSpPr>
          <p:cNvPr id="129" name="TextBox 129"/>
          <p:cNvSpPr txBox="1"/>
          <p:nvPr/>
        </p:nvSpPr>
        <p:spPr>
          <a:xfrm>
            <a:off x="12834556" y="11579447"/>
            <a:ext cx="1947767" cy="42995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910">
                <a:solidFill>
                  <a:srgbClr val="7A7A7A"/>
                </a:solidFill>
                <a:latin typeface="Helvetica"/>
                <a:ea typeface="Helvetica"/>
                <a:cs typeface="Helvetica"/>
              </a:rPr>
              <a:t>RWR kernel</a:t>
            </a:r>
            <a:endParaRPr lang="zh-CN" sz="2910"/>
          </a:p>
        </p:txBody>
      </p:sp>
      <p:sp>
        <p:nvSpPr>
          <p:cNvPr id="130" name="TextBox 130"/>
          <p:cNvSpPr txBox="1"/>
          <p:nvPr/>
        </p:nvSpPr>
        <p:spPr>
          <a:xfrm>
            <a:off x="16511873" y="10781919"/>
            <a:ext cx="3593211" cy="5655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74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latent-space RL</a:t>
            </a:r>
            <a:endParaRPr lang="zh-CN" sz="3740"/>
          </a:p>
        </p:txBody>
      </p:sp>
      <p:sp>
        <p:nvSpPr>
          <p:cNvPr id="131" name="TextBox 131"/>
          <p:cNvSpPr txBox="1"/>
          <p:nvPr/>
        </p:nvSpPr>
        <p:spPr>
          <a:xfrm>
            <a:off x="17830038" y="11578495"/>
            <a:ext cx="956881" cy="42995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910">
                <a:solidFill>
                  <a:srgbClr val="7A7A7A"/>
                </a:solidFill>
                <a:latin typeface="Helvetica"/>
                <a:ea typeface="Helvetica"/>
                <a:cs typeface="Helvetica"/>
              </a:rPr>
              <a:t>DSRL</a:t>
            </a:r>
            <a:endParaRPr lang="zh-CN" sz="2910"/>
          </a:p>
        </p:txBody>
      </p:sp>
      <p:sp>
        <p:nvSpPr>
          <p:cNvPr id="132" name="TextBox 132"/>
          <p:cNvSpPr txBox="1"/>
          <p:nvPr/>
        </p:nvSpPr>
        <p:spPr>
          <a:xfrm>
            <a:off x="14914721" y="8548116"/>
            <a:ext cx="2388775" cy="46491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910">
                <a:solidFill>
                  <a:srgbClr val="7A7A7A"/>
                </a:solidFill>
                <a:latin typeface="Helvetica"/>
                <a:ea typeface="Helvetica"/>
                <a:cs typeface="Helvetica"/>
              </a:rPr>
              <a:t>candidates</a:t>
            </a:r>
            <a:r>
              <a:rPr lang="zh-CN" sz="2910">
                <a:solidFill>
                  <a:srgbClr val="7A7A7A"/>
                </a:solidFill>
                <a:latin typeface="Times New Roman"/>
                <a:ea typeface="Times New Roman"/>
                <a:cs typeface="Times New Roman"/>
              </a:rPr>
              <a:t> ˜</a:t>
            </a:r>
            <a:r>
              <a:rPr lang="zh-CN" sz="2910" i="1">
                <a:solidFill>
                  <a:srgbClr val="7A7A7A"/>
                </a:solidFill>
                <a:latin typeface="Times New Roman"/>
                <a:ea typeface="Times New Roman"/>
                <a:cs typeface="Times New Roman"/>
              </a:rPr>
              <a:t>π</a:t>
            </a:r>
            <a:r>
              <a:rPr lang="zh-CN" sz="2910" i="1">
                <a:solidFill>
                  <a:srgbClr val="7A7A7A"/>
                </a:solidFill>
                <a:latin typeface="Times New Roman"/>
                <a:ea typeface="Times New Roman"/>
                <a:cs typeface="Times New Roman"/>
              </a:rPr>
              <a:t>λ</a:t>
            </a:r>
            <a:endParaRPr lang="zh-CN" sz="2910"/>
          </a:p>
        </p:txBody>
      </p:sp>
      <p:sp>
        <p:nvSpPr>
          <p:cNvPr id="133" name="TextBox 133"/>
          <p:cNvSpPr txBox="1"/>
          <p:nvPr/>
        </p:nvSpPr>
        <p:spPr>
          <a:xfrm>
            <a:off x="6526720" y="232982"/>
            <a:ext cx="13588174" cy="59102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910">
                <a:solidFill>
                  <a:srgbClr val="2E8B57"/>
                </a:solidFill>
                <a:latin typeface="Helvetica"/>
                <a:ea typeface="Helvetica"/>
                <a:cs typeface="Helvetica"/>
              </a:rPr>
              <a:t>round</a:t>
            </a:r>
            <a:r>
              <a:rPr lang="zh-CN" sz="2910" i="1">
                <a:solidFill>
                  <a:srgbClr val="2E8B57"/>
                </a:solidFill>
                <a:latin typeface="Times New Roman"/>
                <a:ea typeface="Times New Roman"/>
                <a:cs typeface="Times New Roman"/>
              </a:rPr>
              <a:t> m</a:t>
            </a:r>
            <a:r>
              <a:rPr lang="zh-CN" sz="2910">
                <a:solidFill>
                  <a:srgbClr val="2E8B57"/>
                </a:solidFill>
                <a:latin typeface="Times New Roman"/>
                <a:ea typeface="Times New Roman"/>
                <a:cs typeface="Times New Roman"/>
              </a:rPr>
              <a:t>+1</a:t>
            </a:r>
            <a:r>
              <a:rPr lang="zh-CN" sz="2910">
                <a:solidFill>
                  <a:srgbClr val="2E8B57"/>
                </a:solidFill>
                <a:latin typeface="Helvetica"/>
                <a:ea typeface="Helvetica"/>
                <a:cs typeface="Helvetica"/>
              </a:rPr>
              <a:t>: the released policy becomes the incumbent;</a:t>
            </a:r>
            <a:r>
              <a:rPr lang="zh-CN" sz="2910" i="1">
                <a:solidFill>
                  <a:srgbClr val="2E8B57"/>
                </a:solidFill>
                <a:latin typeface="Times New Roman"/>
                <a:ea typeface="Times New Roman"/>
                <a:cs typeface="Times New Roman"/>
              </a:rPr>
              <a:t> π</a:t>
            </a:r>
            <a:r>
              <a:rPr lang="zh-CN" sz="2910">
                <a:solidFill>
                  <a:srgbClr val="2E8B57"/>
                </a:solidFill>
                <a:latin typeface="Times New Roman"/>
                <a:ea typeface="Times New Roman"/>
                <a:cs typeface="Times New Roman"/>
              </a:rPr>
              <a:t>(0)</a:t>
            </a:r>
            <a:r>
              <a:rPr lang="zh-CN" sz="2910">
                <a:solidFill>
                  <a:srgbClr val="2E8B57"/>
                </a:solidFill>
                <a:latin typeface="Helvetica"/>
                <a:ea typeface="Helvetica"/>
                <a:cs typeface="Helvetica"/>
              </a:rPr>
              <a:t>stays the reference</a:t>
            </a:r>
            <a:endParaRPr lang="zh-CN" sz="291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3529559" y="0"/>
            <a:ext cx="21782582" cy="132873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5670351" y="193575"/>
            <a:ext cx="19121477" cy="1118361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5971386" y="193575"/>
            <a:ext cx="1882015" cy="11183613"/>
          </a:xfrm>
          <a:prstGeom prst="rect">
            <a:avLst/>
          </a:prstGeom>
          <a:solidFill>
            <a:srgbClr val="E4F3E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Polygon 5"/>
          <p:cNvSpPr/>
          <p:nvPr/>
        </p:nvSpPr>
        <p:spPr>
          <a:xfrm>
            <a:off x="5654958" y="3829233"/>
            <a:ext cx="633002" cy="60207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798" y="0"/>
                </a:moveTo>
                <a:lnTo>
                  <a:pt x="8251" y="8247"/>
                </a:lnTo>
                <a:lnTo>
                  <a:pt x="0" y="8247"/>
                </a:lnTo>
                <a:lnTo>
                  <a:pt x="6675" y="13348"/>
                </a:lnTo>
                <a:lnTo>
                  <a:pt x="4123" y="21600"/>
                </a:lnTo>
                <a:lnTo>
                  <a:pt x="10798" y="16500"/>
                </a:lnTo>
                <a:lnTo>
                  <a:pt x="17472" y="21600"/>
                </a:lnTo>
                <a:lnTo>
                  <a:pt x="14925" y="13348"/>
                </a:lnTo>
                <a:lnTo>
                  <a:pt x="21600" y="8247"/>
                </a:lnTo>
                <a:lnTo>
                  <a:pt x="13349" y="8247"/>
                </a:lnTo>
                <a:lnTo>
                  <a:pt x="10798" y="0"/>
                </a:lnTo>
                <a:close/>
              </a:path>
            </a:pathLst>
          </a:custGeom>
          <a:solidFill>
            <a:srgbClr val="F5C542"/>
          </a:solidFill>
          <a:ln w="6350">
            <a:solidFill>
              <a:srgbClr val="2B2B2B"/>
            </a:solidFill>
          </a:ln>
        </p:spPr>
        <p:txBody>
          <a:bodyPr/>
          <a:lstStyle/>
          <a:p/>
        </p:txBody>
      </p:sp>
      <p:sp>
        <p:nvSpPr>
          <p:cNvPr id="6" name="Line 6"/>
          <p:cNvSpPr/>
          <p:nvPr/>
        </p:nvSpPr>
        <p:spPr>
          <a:xfrm>
            <a:off x="5670351" y="4162071"/>
            <a:ext cx="19121477" cy="0"/>
          </a:xfrm>
          <a:prstGeom prst="line">
            <a:avLst/>
          </a:prstGeom>
          <a:noFill/>
          <a:ln w="7620">
            <a:solidFill>
              <a:srgbClr val="555555"/>
            </a:solidFill>
          </a:ln>
        </p:spPr>
        <p:txBody>
          <a:bodyPr/>
          <a:lstStyle/>
          <a:p/>
        </p:txBody>
      </p:sp>
      <p:sp>
        <p:nvSpPr>
          <p:cNvPr id="7" name="Line 7"/>
          <p:cNvSpPr/>
          <p:nvPr/>
        </p:nvSpPr>
        <p:spPr>
          <a:xfrm flipV="1">
            <a:off x="7853402" y="193575"/>
            <a:ext cx="0" cy="11183758"/>
          </a:xfrm>
          <a:prstGeom prst="line">
            <a:avLst/>
          </a:prstGeom>
          <a:noFill/>
          <a:ln w="12700">
            <a:solidFill>
              <a:srgbClr val="2E8B57"/>
            </a:solidFill>
            <a:prstDash val="dash"/>
          </a:ln>
        </p:spPr>
        <p:txBody>
          <a:bodyPr/>
          <a:lstStyle/>
          <a:p/>
        </p:txBody>
      </p:sp>
      <p:sp>
        <p:nvSpPr>
          <p:cNvPr id="8" name="Line 8"/>
          <p:cNvSpPr/>
          <p:nvPr/>
        </p:nvSpPr>
        <p:spPr>
          <a:xfrm flipV="1">
            <a:off x="5670351" y="193575"/>
            <a:ext cx="0" cy="11183758"/>
          </a:xfrm>
          <a:prstGeom prst="line">
            <a:avLst/>
          </a:prstGeom>
          <a:noFill/>
          <a:ln w="7620">
            <a:solidFill>
              <a:srgbClr val="555555"/>
            </a:solidFill>
          </a:ln>
        </p:spPr>
        <p:txBody>
          <a:bodyPr/>
          <a:lstStyle/>
          <a:p/>
        </p:txBody>
      </p:sp>
      <p:sp>
        <p:nvSpPr>
          <p:cNvPr id="9" name="Line 9"/>
          <p:cNvSpPr/>
          <p:nvPr/>
        </p:nvSpPr>
        <p:spPr>
          <a:xfrm>
            <a:off x="5670351" y="11377333"/>
            <a:ext cx="19121477" cy="0"/>
          </a:xfrm>
          <a:prstGeom prst="line">
            <a:avLst/>
          </a:prstGeom>
          <a:noFill/>
          <a:ln w="7620">
            <a:solidFill>
              <a:srgbClr val="555555"/>
            </a:solidFill>
          </a:ln>
        </p:spPr>
        <p:txBody>
          <a:bodyPr/>
          <a:lstStyle/>
          <a:p/>
        </p:txBody>
      </p:sp>
      <p:sp>
        <p:nvSpPr>
          <p:cNvPr id="10" name="Line 10"/>
          <p:cNvSpPr/>
          <p:nvPr/>
        </p:nvSpPr>
        <p:spPr>
          <a:xfrm flipH="1" flipV="1">
            <a:off x="6068246" y="4234824"/>
            <a:ext cx="2077623" cy="1564715"/>
          </a:xfrm>
          <a:prstGeom prst="line">
            <a:avLst/>
          </a:prstGeom>
          <a:noFill/>
          <a:ln w="6350">
            <a:solidFill>
              <a:srgbClr val="7A7A7A"/>
            </a:solidFill>
          </a:ln>
        </p:spPr>
        <p:txBody>
          <a:bodyPr/>
          <a:lstStyle/>
          <a:p/>
        </p:txBody>
      </p:sp>
      <p:sp>
        <p:nvSpPr>
          <p:cNvPr id="11" name="Ellipse 11"/>
          <p:cNvSpPr/>
          <p:nvPr/>
        </p:nvSpPr>
        <p:spPr>
          <a:xfrm>
            <a:off x="18409386" y="9126321"/>
            <a:ext cx="217826" cy="217826"/>
          </a:xfrm>
          <a:prstGeom prst="ellipse">
            <a:avLst/>
          </a:prstGeom>
          <a:solidFill>
            <a:srgbClr val="FFFFFF"/>
          </a:solidFill>
          <a:ln w="11430">
            <a:solidFill>
              <a:srgbClr val="1F6F78"/>
            </a:solidFill>
          </a:ln>
        </p:spPr>
        <p:txBody>
          <a:bodyPr/>
          <a:lstStyle/>
          <a:p/>
        </p:txBody>
      </p:sp>
      <p:sp>
        <p:nvSpPr>
          <p:cNvPr id="12" name="Ellipse 12"/>
          <p:cNvSpPr/>
          <p:nvPr/>
        </p:nvSpPr>
        <p:spPr>
          <a:xfrm>
            <a:off x="17656580" y="8900799"/>
            <a:ext cx="217826" cy="217826"/>
          </a:xfrm>
          <a:prstGeom prst="ellipse">
            <a:avLst/>
          </a:prstGeom>
          <a:solidFill>
            <a:srgbClr val="FFFFFF"/>
          </a:solidFill>
          <a:ln w="11430">
            <a:solidFill>
              <a:srgbClr val="1F6F78"/>
            </a:solidFill>
          </a:ln>
        </p:spPr>
        <p:txBody>
          <a:bodyPr/>
          <a:lstStyle/>
          <a:p/>
        </p:txBody>
      </p:sp>
      <p:sp>
        <p:nvSpPr>
          <p:cNvPr id="13" name="Ellipse 13"/>
          <p:cNvSpPr/>
          <p:nvPr/>
        </p:nvSpPr>
        <p:spPr>
          <a:xfrm>
            <a:off x="19664063" y="9802743"/>
            <a:ext cx="217826" cy="217826"/>
          </a:xfrm>
          <a:prstGeom prst="ellipse">
            <a:avLst/>
          </a:prstGeom>
          <a:solidFill>
            <a:srgbClr val="FFFFFF"/>
          </a:solidFill>
          <a:ln w="11430">
            <a:solidFill>
              <a:srgbClr val="1F6F78"/>
            </a:solidFill>
          </a:ln>
        </p:spPr>
        <p:txBody>
          <a:bodyPr/>
          <a:lstStyle/>
          <a:p/>
        </p:txBody>
      </p:sp>
      <p:sp>
        <p:nvSpPr>
          <p:cNvPr id="14" name="Ellipse 14"/>
          <p:cNvSpPr/>
          <p:nvPr/>
        </p:nvSpPr>
        <p:spPr>
          <a:xfrm>
            <a:off x="11565589" y="5067790"/>
            <a:ext cx="217826" cy="217826"/>
          </a:xfrm>
          <a:prstGeom prst="ellipse">
            <a:avLst/>
          </a:prstGeom>
          <a:solidFill>
            <a:srgbClr val="FFFFFF"/>
          </a:solidFill>
          <a:ln w="11430">
            <a:solidFill>
              <a:srgbClr val="1F6F78"/>
            </a:solidFill>
          </a:ln>
        </p:spPr>
        <p:txBody>
          <a:bodyPr/>
          <a:lstStyle/>
          <a:p/>
        </p:txBody>
      </p:sp>
      <p:sp>
        <p:nvSpPr>
          <p:cNvPr id="15" name="Ellipse 15"/>
          <p:cNvSpPr/>
          <p:nvPr/>
        </p:nvSpPr>
        <p:spPr>
          <a:xfrm>
            <a:off x="11280528" y="4842268"/>
            <a:ext cx="217826" cy="217826"/>
          </a:xfrm>
          <a:prstGeom prst="ellipse">
            <a:avLst/>
          </a:prstGeom>
          <a:solidFill>
            <a:srgbClr val="FFFFFF"/>
          </a:solidFill>
          <a:ln w="11430">
            <a:solidFill>
              <a:srgbClr val="1F6F78"/>
            </a:solidFill>
          </a:ln>
        </p:spPr>
        <p:txBody>
          <a:bodyPr/>
          <a:lstStyle/>
          <a:p/>
        </p:txBody>
      </p:sp>
      <p:sp>
        <p:nvSpPr>
          <p:cNvPr id="16" name="Ellipse 16"/>
          <p:cNvSpPr/>
          <p:nvPr/>
        </p:nvSpPr>
        <p:spPr>
          <a:xfrm>
            <a:off x="11280528" y="5293167"/>
            <a:ext cx="217826" cy="217826"/>
          </a:xfrm>
          <a:prstGeom prst="ellipse">
            <a:avLst/>
          </a:prstGeom>
          <a:solidFill>
            <a:srgbClr val="FFFFFF"/>
          </a:solidFill>
          <a:ln w="11430">
            <a:solidFill>
              <a:srgbClr val="1F6F78"/>
            </a:solidFill>
          </a:ln>
        </p:spPr>
        <p:txBody>
          <a:bodyPr/>
          <a:lstStyle/>
          <a:p/>
        </p:txBody>
      </p:sp>
      <p:sp>
        <p:nvSpPr>
          <p:cNvPr id="17" name="Ellipse 17"/>
          <p:cNvSpPr/>
          <p:nvPr/>
        </p:nvSpPr>
        <p:spPr>
          <a:xfrm>
            <a:off x="11402220" y="4904421"/>
            <a:ext cx="544565" cy="544565"/>
          </a:xfrm>
          <a:prstGeom prst="ellipse">
            <a:avLst/>
          </a:prstGeom>
          <a:noFill/>
          <a:ln w="8255">
            <a:solidFill>
              <a:srgbClr val="2B2B2B"/>
            </a:solidFill>
          </a:ln>
        </p:spPr>
        <p:txBody>
          <a:bodyPr/>
          <a:lstStyle/>
          <a:p/>
        </p:txBody>
      </p:sp>
      <p:sp>
        <p:nvSpPr>
          <p:cNvPr id="18" name="Ellipse 18"/>
          <p:cNvSpPr/>
          <p:nvPr/>
        </p:nvSpPr>
        <p:spPr>
          <a:xfrm>
            <a:off x="11117158" y="4678899"/>
            <a:ext cx="544565" cy="544565"/>
          </a:xfrm>
          <a:prstGeom prst="ellipse">
            <a:avLst/>
          </a:prstGeom>
          <a:noFill/>
          <a:ln w="8255">
            <a:solidFill>
              <a:srgbClr val="2B2B2B"/>
            </a:solidFill>
          </a:ln>
        </p:spPr>
        <p:txBody>
          <a:bodyPr/>
          <a:lstStyle/>
          <a:p/>
        </p:txBody>
      </p:sp>
      <p:sp>
        <p:nvSpPr>
          <p:cNvPr id="19" name="Polygon 19"/>
          <p:cNvSpPr/>
          <p:nvPr/>
        </p:nvSpPr>
        <p:spPr>
          <a:xfrm>
            <a:off x="21671545" y="10479165"/>
            <a:ext cx="217826" cy="21782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6350">
            <a:solidFill>
              <a:srgbClr val="C98A3D"/>
            </a:solidFill>
          </a:ln>
        </p:spPr>
        <p:txBody>
          <a:bodyPr/>
          <a:lstStyle/>
          <a:p/>
        </p:txBody>
      </p:sp>
      <p:sp>
        <p:nvSpPr>
          <p:cNvPr id="20" name="Polygon 20"/>
          <p:cNvSpPr/>
          <p:nvPr/>
        </p:nvSpPr>
        <p:spPr>
          <a:xfrm>
            <a:off x="19413127" y="9351843"/>
            <a:ext cx="217826" cy="21782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6350">
            <a:solidFill>
              <a:srgbClr val="C98A3D"/>
            </a:solidFill>
          </a:ln>
        </p:spPr>
        <p:txBody>
          <a:bodyPr/>
          <a:lstStyle/>
          <a:p/>
        </p:txBody>
      </p:sp>
      <p:sp>
        <p:nvSpPr>
          <p:cNvPr id="21" name="Polygon 21"/>
          <p:cNvSpPr/>
          <p:nvPr/>
        </p:nvSpPr>
        <p:spPr>
          <a:xfrm>
            <a:off x="20165933" y="10028265"/>
            <a:ext cx="217826" cy="21782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6350">
            <a:solidFill>
              <a:srgbClr val="C98A3D"/>
            </a:solidFill>
          </a:ln>
        </p:spPr>
        <p:txBody>
          <a:bodyPr/>
          <a:lstStyle/>
          <a:p/>
        </p:txBody>
      </p:sp>
      <p:sp>
        <p:nvSpPr>
          <p:cNvPr id="22" name="Ellipse 22"/>
          <p:cNvSpPr/>
          <p:nvPr/>
        </p:nvSpPr>
        <p:spPr>
          <a:xfrm>
            <a:off x="10261684" y="4904421"/>
            <a:ext cx="544565" cy="544565"/>
          </a:xfrm>
          <a:prstGeom prst="ellipse">
            <a:avLst/>
          </a:prstGeom>
          <a:noFill/>
          <a:ln w="8255">
            <a:solidFill>
              <a:srgbClr val="2B2B2B"/>
            </a:solidFill>
          </a:ln>
        </p:spPr>
        <p:txBody>
          <a:bodyPr/>
          <a:lstStyle/>
          <a:p/>
        </p:txBody>
      </p:sp>
      <p:sp>
        <p:nvSpPr>
          <p:cNvPr id="23" name="Ellipse 23"/>
          <p:cNvSpPr/>
          <p:nvPr/>
        </p:nvSpPr>
        <p:spPr>
          <a:xfrm>
            <a:off x="10261684" y="4678899"/>
            <a:ext cx="544565" cy="544565"/>
          </a:xfrm>
          <a:prstGeom prst="ellipse">
            <a:avLst/>
          </a:prstGeom>
          <a:noFill/>
          <a:ln w="8255">
            <a:solidFill>
              <a:srgbClr val="2B2B2B"/>
            </a:solidFill>
          </a:ln>
        </p:spPr>
        <p:txBody>
          <a:bodyPr/>
          <a:lstStyle/>
          <a:p/>
        </p:txBody>
      </p:sp>
      <p:sp>
        <p:nvSpPr>
          <p:cNvPr id="24" name="Ellipse 24"/>
          <p:cNvSpPr/>
          <p:nvPr/>
        </p:nvSpPr>
        <p:spPr>
          <a:xfrm>
            <a:off x="9691271" y="4227999"/>
            <a:ext cx="544565" cy="544565"/>
          </a:xfrm>
          <a:prstGeom prst="ellipse">
            <a:avLst/>
          </a:prstGeom>
          <a:noFill/>
          <a:ln w="8255">
            <a:solidFill>
              <a:srgbClr val="2B2B2B"/>
            </a:solidFill>
          </a:ln>
        </p:spPr>
        <p:txBody>
          <a:bodyPr/>
          <a:lstStyle/>
          <a:p/>
        </p:txBody>
      </p:sp>
      <p:sp>
        <p:nvSpPr>
          <p:cNvPr id="25" name="Polygon 25"/>
          <p:cNvSpPr/>
          <p:nvPr/>
        </p:nvSpPr>
        <p:spPr>
          <a:xfrm>
            <a:off x="10425053" y="5067790"/>
            <a:ext cx="217826" cy="21782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6350">
            <a:solidFill>
              <a:srgbClr val="C98A3D"/>
            </a:solidFill>
          </a:ln>
        </p:spPr>
        <p:txBody>
          <a:bodyPr/>
          <a:lstStyle/>
          <a:p/>
        </p:txBody>
      </p:sp>
      <p:sp>
        <p:nvSpPr>
          <p:cNvPr id="26" name="Polygon 26"/>
          <p:cNvSpPr/>
          <p:nvPr/>
        </p:nvSpPr>
        <p:spPr>
          <a:xfrm>
            <a:off x="10425053" y="4842268"/>
            <a:ext cx="217826" cy="21782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6350">
            <a:solidFill>
              <a:srgbClr val="C98A3D"/>
            </a:solidFill>
          </a:ln>
        </p:spPr>
        <p:txBody>
          <a:bodyPr/>
          <a:lstStyle/>
          <a:p/>
        </p:txBody>
      </p:sp>
      <p:sp>
        <p:nvSpPr>
          <p:cNvPr id="27" name="Polygon 27"/>
          <p:cNvSpPr/>
          <p:nvPr/>
        </p:nvSpPr>
        <p:spPr>
          <a:xfrm>
            <a:off x="9854640" y="4391369"/>
            <a:ext cx="217826" cy="21782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6350">
            <a:solidFill>
              <a:srgbClr val="C98A3D"/>
            </a:solidFill>
          </a:ln>
        </p:spPr>
        <p:txBody>
          <a:bodyPr/>
          <a:lstStyle/>
          <a:p/>
        </p:txBody>
      </p:sp>
      <p:sp>
        <p:nvSpPr>
          <p:cNvPr id="28" name="Polygon 28"/>
          <p:cNvSpPr/>
          <p:nvPr/>
        </p:nvSpPr>
        <p:spPr>
          <a:xfrm>
            <a:off x="8683899" y="3910119"/>
            <a:ext cx="278236" cy="27838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7192" y="21600"/>
                </a:moveTo>
                <a:lnTo>
                  <a:pt x="14396" y="21600"/>
                </a:lnTo>
                <a:lnTo>
                  <a:pt x="14396" y="14400"/>
                </a:lnTo>
                <a:lnTo>
                  <a:pt x="21600" y="14400"/>
                </a:lnTo>
                <a:lnTo>
                  <a:pt x="21600" y="7200"/>
                </a:lnTo>
                <a:lnTo>
                  <a:pt x="14396" y="7200"/>
                </a:lnTo>
                <a:lnTo>
                  <a:pt x="14396" y="0"/>
                </a:lnTo>
                <a:lnTo>
                  <a:pt x="7192" y="0"/>
                </a:lnTo>
                <a:lnTo>
                  <a:pt x="7192" y="7200"/>
                </a:lnTo>
                <a:lnTo>
                  <a:pt x="0" y="7200"/>
                </a:lnTo>
                <a:lnTo>
                  <a:pt x="0" y="14400"/>
                </a:lnTo>
                <a:lnTo>
                  <a:pt x="7192" y="14400"/>
                </a:lnTo>
                <a:lnTo>
                  <a:pt x="7192" y="21600"/>
                </a:lnTo>
                <a:close/>
              </a:path>
            </a:pathLst>
          </a:custGeom>
          <a:solidFill>
            <a:srgbClr val="FFFFFF"/>
          </a:solidFill>
          <a:ln w="6350">
            <a:solidFill>
              <a:srgbClr val="8C5A1E"/>
            </a:solidFill>
          </a:ln>
        </p:spPr>
        <p:txBody>
          <a:bodyPr/>
          <a:lstStyle/>
          <a:p/>
        </p:txBody>
      </p:sp>
      <p:sp>
        <p:nvSpPr>
          <p:cNvPr id="29" name="Polygon 29"/>
          <p:cNvSpPr/>
          <p:nvPr/>
        </p:nvSpPr>
        <p:spPr>
          <a:xfrm>
            <a:off x="9824435" y="3910119"/>
            <a:ext cx="278381" cy="27838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7200" y="21600"/>
                </a:moveTo>
                <a:lnTo>
                  <a:pt x="14400" y="21600"/>
                </a:lnTo>
                <a:lnTo>
                  <a:pt x="14400" y="14400"/>
                </a:lnTo>
                <a:lnTo>
                  <a:pt x="21600" y="14400"/>
                </a:lnTo>
                <a:lnTo>
                  <a:pt x="21600" y="7200"/>
                </a:lnTo>
                <a:lnTo>
                  <a:pt x="14400" y="7200"/>
                </a:lnTo>
                <a:lnTo>
                  <a:pt x="14400" y="0"/>
                </a:lnTo>
                <a:lnTo>
                  <a:pt x="7200" y="0"/>
                </a:lnTo>
                <a:lnTo>
                  <a:pt x="7200" y="7200"/>
                </a:lnTo>
                <a:lnTo>
                  <a:pt x="0" y="7200"/>
                </a:lnTo>
                <a:lnTo>
                  <a:pt x="0" y="14400"/>
                </a:lnTo>
                <a:lnTo>
                  <a:pt x="7200" y="14400"/>
                </a:lnTo>
                <a:lnTo>
                  <a:pt x="7200" y="21600"/>
                </a:lnTo>
                <a:close/>
              </a:path>
            </a:pathLst>
          </a:custGeom>
          <a:solidFill>
            <a:srgbClr val="FFFFFF"/>
          </a:solidFill>
          <a:ln w="6350">
            <a:solidFill>
              <a:srgbClr val="8C5A1E"/>
            </a:solidFill>
          </a:ln>
        </p:spPr>
        <p:txBody>
          <a:bodyPr/>
          <a:lstStyle/>
          <a:p/>
        </p:txBody>
      </p:sp>
      <p:sp>
        <p:nvSpPr>
          <p:cNvPr id="30" name="Polygon 30"/>
          <p:cNvSpPr/>
          <p:nvPr/>
        </p:nvSpPr>
        <p:spPr>
          <a:xfrm>
            <a:off x="9539228" y="4022807"/>
            <a:ext cx="278381" cy="27838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7200" y="21600"/>
                </a:moveTo>
                <a:lnTo>
                  <a:pt x="14400" y="21600"/>
                </a:lnTo>
                <a:lnTo>
                  <a:pt x="14400" y="14400"/>
                </a:lnTo>
                <a:lnTo>
                  <a:pt x="21600" y="14400"/>
                </a:lnTo>
                <a:lnTo>
                  <a:pt x="21600" y="7200"/>
                </a:lnTo>
                <a:lnTo>
                  <a:pt x="14400" y="7200"/>
                </a:lnTo>
                <a:lnTo>
                  <a:pt x="14400" y="0"/>
                </a:lnTo>
                <a:lnTo>
                  <a:pt x="7200" y="0"/>
                </a:lnTo>
                <a:lnTo>
                  <a:pt x="7200" y="7200"/>
                </a:lnTo>
                <a:lnTo>
                  <a:pt x="0" y="7200"/>
                </a:lnTo>
                <a:lnTo>
                  <a:pt x="0" y="14400"/>
                </a:lnTo>
                <a:lnTo>
                  <a:pt x="7200" y="14400"/>
                </a:lnTo>
                <a:lnTo>
                  <a:pt x="7200" y="21600"/>
                </a:lnTo>
                <a:close/>
              </a:path>
            </a:pathLst>
          </a:custGeom>
          <a:solidFill>
            <a:srgbClr val="FFFFFF"/>
          </a:solidFill>
          <a:ln w="6350">
            <a:solidFill>
              <a:srgbClr val="8C5A1E"/>
            </a:solidFill>
          </a:ln>
        </p:spPr>
        <p:txBody>
          <a:bodyPr/>
          <a:lstStyle/>
          <a:p/>
        </p:txBody>
      </p:sp>
      <p:sp>
        <p:nvSpPr>
          <p:cNvPr id="31" name="Polygon 31"/>
          <p:cNvSpPr/>
          <p:nvPr/>
        </p:nvSpPr>
        <p:spPr>
          <a:xfrm>
            <a:off x="9254167" y="4022807"/>
            <a:ext cx="278381" cy="27838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7200" y="21600"/>
                </a:moveTo>
                <a:lnTo>
                  <a:pt x="14400" y="21600"/>
                </a:lnTo>
                <a:lnTo>
                  <a:pt x="14400" y="14400"/>
                </a:lnTo>
                <a:lnTo>
                  <a:pt x="21600" y="14400"/>
                </a:lnTo>
                <a:lnTo>
                  <a:pt x="21600" y="7200"/>
                </a:lnTo>
                <a:lnTo>
                  <a:pt x="14400" y="7200"/>
                </a:lnTo>
                <a:lnTo>
                  <a:pt x="14400" y="0"/>
                </a:lnTo>
                <a:lnTo>
                  <a:pt x="7200" y="0"/>
                </a:lnTo>
                <a:lnTo>
                  <a:pt x="7200" y="7200"/>
                </a:lnTo>
                <a:lnTo>
                  <a:pt x="0" y="7200"/>
                </a:lnTo>
                <a:lnTo>
                  <a:pt x="0" y="14400"/>
                </a:lnTo>
                <a:lnTo>
                  <a:pt x="7200" y="14400"/>
                </a:lnTo>
                <a:lnTo>
                  <a:pt x="7200" y="21600"/>
                </a:lnTo>
                <a:close/>
              </a:path>
            </a:pathLst>
          </a:custGeom>
          <a:solidFill>
            <a:srgbClr val="FFFFFF"/>
          </a:solidFill>
          <a:ln w="6350">
            <a:solidFill>
              <a:srgbClr val="8C5A1E"/>
            </a:solidFill>
          </a:ln>
        </p:spPr>
        <p:txBody>
          <a:bodyPr/>
          <a:lstStyle/>
          <a:p/>
        </p:txBody>
      </p:sp>
      <p:sp>
        <p:nvSpPr>
          <p:cNvPr id="32" name="Polygon 32"/>
          <p:cNvSpPr/>
          <p:nvPr/>
        </p:nvSpPr>
        <p:spPr>
          <a:xfrm>
            <a:off x="13360474" y="6615806"/>
            <a:ext cx="278236" cy="27838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7192" y="21600"/>
                </a:moveTo>
                <a:lnTo>
                  <a:pt x="14396" y="21600"/>
                </a:lnTo>
                <a:lnTo>
                  <a:pt x="14396" y="14400"/>
                </a:lnTo>
                <a:lnTo>
                  <a:pt x="21600" y="14400"/>
                </a:lnTo>
                <a:lnTo>
                  <a:pt x="21600" y="7200"/>
                </a:lnTo>
                <a:lnTo>
                  <a:pt x="14396" y="7200"/>
                </a:lnTo>
                <a:lnTo>
                  <a:pt x="14396" y="0"/>
                </a:lnTo>
                <a:lnTo>
                  <a:pt x="7192" y="0"/>
                </a:lnTo>
                <a:lnTo>
                  <a:pt x="7192" y="7200"/>
                </a:lnTo>
                <a:lnTo>
                  <a:pt x="0" y="7200"/>
                </a:lnTo>
                <a:lnTo>
                  <a:pt x="0" y="14400"/>
                </a:lnTo>
                <a:lnTo>
                  <a:pt x="7192" y="14400"/>
                </a:lnTo>
                <a:lnTo>
                  <a:pt x="7192" y="21600"/>
                </a:lnTo>
                <a:close/>
              </a:path>
            </a:pathLst>
          </a:custGeom>
          <a:solidFill>
            <a:srgbClr val="FFFFFF"/>
          </a:solidFill>
          <a:ln w="6350">
            <a:solidFill>
              <a:srgbClr val="8C5A1E"/>
            </a:solidFill>
          </a:ln>
        </p:spPr>
        <p:txBody>
          <a:bodyPr/>
          <a:lstStyle/>
          <a:p/>
        </p:txBody>
      </p:sp>
      <p:sp>
        <p:nvSpPr>
          <p:cNvPr id="33" name="Polygon 33"/>
          <p:cNvSpPr/>
          <p:nvPr/>
        </p:nvSpPr>
        <p:spPr>
          <a:xfrm>
            <a:off x="16120763" y="7968649"/>
            <a:ext cx="278236" cy="27838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7204" y="21600"/>
                </a:moveTo>
                <a:lnTo>
                  <a:pt x="14396" y="21600"/>
                </a:lnTo>
                <a:lnTo>
                  <a:pt x="14396" y="14400"/>
                </a:lnTo>
                <a:lnTo>
                  <a:pt x="21600" y="14400"/>
                </a:lnTo>
                <a:lnTo>
                  <a:pt x="21600" y="7200"/>
                </a:lnTo>
                <a:lnTo>
                  <a:pt x="14396" y="7200"/>
                </a:lnTo>
                <a:lnTo>
                  <a:pt x="14396" y="0"/>
                </a:lnTo>
                <a:lnTo>
                  <a:pt x="7204" y="0"/>
                </a:lnTo>
                <a:lnTo>
                  <a:pt x="7204" y="7200"/>
                </a:lnTo>
                <a:lnTo>
                  <a:pt x="0" y="7200"/>
                </a:lnTo>
                <a:lnTo>
                  <a:pt x="0" y="14400"/>
                </a:lnTo>
                <a:lnTo>
                  <a:pt x="7204" y="14400"/>
                </a:lnTo>
                <a:lnTo>
                  <a:pt x="7204" y="21600"/>
                </a:lnTo>
                <a:close/>
              </a:path>
            </a:pathLst>
          </a:custGeom>
          <a:solidFill>
            <a:srgbClr val="FFFFFF"/>
          </a:solidFill>
          <a:ln w="6350">
            <a:solidFill>
              <a:srgbClr val="8C5A1E"/>
            </a:solidFill>
          </a:ln>
        </p:spPr>
        <p:txBody>
          <a:bodyPr/>
          <a:lstStyle/>
          <a:p/>
        </p:txBody>
      </p:sp>
      <p:sp>
        <p:nvSpPr>
          <p:cNvPr id="34" name="Polygon 34"/>
          <p:cNvSpPr/>
          <p:nvPr/>
        </p:nvSpPr>
        <p:spPr>
          <a:xfrm>
            <a:off x="9094428" y="4812063"/>
            <a:ext cx="278381" cy="27823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7200" y="21600"/>
                </a:moveTo>
                <a:lnTo>
                  <a:pt x="14400" y="21600"/>
                </a:lnTo>
                <a:lnTo>
                  <a:pt x="14400" y="14408"/>
                </a:lnTo>
                <a:lnTo>
                  <a:pt x="21600" y="14408"/>
                </a:lnTo>
                <a:lnTo>
                  <a:pt x="21600" y="7204"/>
                </a:lnTo>
                <a:lnTo>
                  <a:pt x="14400" y="7204"/>
                </a:lnTo>
                <a:lnTo>
                  <a:pt x="14400" y="0"/>
                </a:lnTo>
                <a:lnTo>
                  <a:pt x="7200" y="0"/>
                </a:lnTo>
                <a:lnTo>
                  <a:pt x="7200" y="7204"/>
                </a:lnTo>
                <a:lnTo>
                  <a:pt x="0" y="7204"/>
                </a:lnTo>
                <a:lnTo>
                  <a:pt x="0" y="14408"/>
                </a:lnTo>
                <a:lnTo>
                  <a:pt x="7200" y="14408"/>
                </a:lnTo>
                <a:lnTo>
                  <a:pt x="7200" y="21600"/>
                </a:lnTo>
                <a:close/>
              </a:path>
            </a:pathLst>
          </a:custGeom>
          <a:solidFill>
            <a:srgbClr val="FFFFFF"/>
          </a:solidFill>
          <a:ln w="6350">
            <a:solidFill>
              <a:srgbClr val="8C5A1E"/>
            </a:solidFill>
          </a:ln>
        </p:spPr>
        <p:txBody>
          <a:bodyPr/>
          <a:lstStyle/>
          <a:p/>
        </p:txBody>
      </p:sp>
      <p:sp>
        <p:nvSpPr>
          <p:cNvPr id="35" name="Polygon 35"/>
          <p:cNvSpPr/>
          <p:nvPr/>
        </p:nvSpPr>
        <p:spPr>
          <a:xfrm>
            <a:off x="14364215" y="7292228"/>
            <a:ext cx="278236" cy="27838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7192" y="21600"/>
                </a:moveTo>
                <a:lnTo>
                  <a:pt x="14396" y="21600"/>
                </a:lnTo>
                <a:lnTo>
                  <a:pt x="14396" y="14400"/>
                </a:lnTo>
                <a:lnTo>
                  <a:pt x="21600" y="14400"/>
                </a:lnTo>
                <a:lnTo>
                  <a:pt x="21600" y="7200"/>
                </a:lnTo>
                <a:lnTo>
                  <a:pt x="14396" y="7200"/>
                </a:lnTo>
                <a:lnTo>
                  <a:pt x="14396" y="0"/>
                </a:lnTo>
                <a:lnTo>
                  <a:pt x="7192" y="0"/>
                </a:lnTo>
                <a:lnTo>
                  <a:pt x="7192" y="7200"/>
                </a:lnTo>
                <a:lnTo>
                  <a:pt x="0" y="7200"/>
                </a:lnTo>
                <a:lnTo>
                  <a:pt x="0" y="14400"/>
                </a:lnTo>
                <a:lnTo>
                  <a:pt x="7192" y="14400"/>
                </a:lnTo>
                <a:lnTo>
                  <a:pt x="7192" y="21600"/>
                </a:lnTo>
                <a:close/>
              </a:path>
            </a:pathLst>
          </a:custGeom>
          <a:solidFill>
            <a:srgbClr val="FFFFFF"/>
          </a:solidFill>
          <a:ln w="6350">
            <a:solidFill>
              <a:srgbClr val="8C5A1E"/>
            </a:solidFill>
          </a:ln>
        </p:spPr>
        <p:txBody>
          <a:bodyPr/>
          <a:lstStyle/>
          <a:p/>
        </p:txBody>
      </p:sp>
      <p:sp>
        <p:nvSpPr>
          <p:cNvPr id="36" name="Polygon 36"/>
          <p:cNvSpPr/>
          <p:nvPr/>
        </p:nvSpPr>
        <p:spPr>
          <a:xfrm>
            <a:off x="10349105" y="5150274"/>
            <a:ext cx="278381" cy="27823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7200" y="21600"/>
                </a:moveTo>
                <a:lnTo>
                  <a:pt x="14400" y="21600"/>
                </a:lnTo>
                <a:lnTo>
                  <a:pt x="14400" y="14408"/>
                </a:lnTo>
                <a:lnTo>
                  <a:pt x="21600" y="14408"/>
                </a:lnTo>
                <a:lnTo>
                  <a:pt x="21600" y="7204"/>
                </a:lnTo>
                <a:lnTo>
                  <a:pt x="14400" y="7204"/>
                </a:lnTo>
                <a:lnTo>
                  <a:pt x="14400" y="0"/>
                </a:lnTo>
                <a:lnTo>
                  <a:pt x="7200" y="0"/>
                </a:lnTo>
                <a:lnTo>
                  <a:pt x="7200" y="7204"/>
                </a:lnTo>
                <a:lnTo>
                  <a:pt x="0" y="7204"/>
                </a:lnTo>
                <a:lnTo>
                  <a:pt x="0" y="14408"/>
                </a:lnTo>
                <a:lnTo>
                  <a:pt x="7200" y="14408"/>
                </a:lnTo>
                <a:lnTo>
                  <a:pt x="7200" y="21600"/>
                </a:lnTo>
                <a:close/>
              </a:path>
            </a:pathLst>
          </a:custGeom>
          <a:solidFill>
            <a:srgbClr val="FFFFFF"/>
          </a:solidFill>
          <a:ln w="6350">
            <a:solidFill>
              <a:srgbClr val="8C5A1E"/>
            </a:solidFill>
          </a:ln>
        </p:spPr>
        <p:txBody>
          <a:bodyPr/>
          <a:lstStyle/>
          <a:p/>
        </p:txBody>
      </p:sp>
      <p:sp>
        <p:nvSpPr>
          <p:cNvPr id="37" name="Polygon 37"/>
          <p:cNvSpPr/>
          <p:nvPr/>
        </p:nvSpPr>
        <p:spPr>
          <a:xfrm>
            <a:off x="15618892" y="7968649"/>
            <a:ext cx="278236" cy="27838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7204" y="21600"/>
                </a:moveTo>
                <a:lnTo>
                  <a:pt x="14396" y="21600"/>
                </a:lnTo>
                <a:lnTo>
                  <a:pt x="14396" y="14400"/>
                </a:lnTo>
                <a:lnTo>
                  <a:pt x="21600" y="14400"/>
                </a:lnTo>
                <a:lnTo>
                  <a:pt x="21600" y="7200"/>
                </a:lnTo>
                <a:lnTo>
                  <a:pt x="14396" y="7200"/>
                </a:lnTo>
                <a:lnTo>
                  <a:pt x="14396" y="0"/>
                </a:lnTo>
                <a:lnTo>
                  <a:pt x="7204" y="0"/>
                </a:lnTo>
                <a:lnTo>
                  <a:pt x="7204" y="7200"/>
                </a:lnTo>
                <a:lnTo>
                  <a:pt x="0" y="7200"/>
                </a:lnTo>
                <a:lnTo>
                  <a:pt x="0" y="14400"/>
                </a:lnTo>
                <a:lnTo>
                  <a:pt x="7204" y="14400"/>
                </a:lnTo>
                <a:lnTo>
                  <a:pt x="7204" y="21600"/>
                </a:lnTo>
                <a:close/>
              </a:path>
            </a:pathLst>
          </a:custGeom>
          <a:solidFill>
            <a:srgbClr val="FFFFFF"/>
          </a:solidFill>
          <a:ln w="6350">
            <a:solidFill>
              <a:srgbClr val="8C5A1E"/>
            </a:solidFill>
          </a:ln>
        </p:spPr>
        <p:txBody>
          <a:bodyPr/>
          <a:lstStyle/>
          <a:p/>
        </p:txBody>
      </p:sp>
      <p:sp>
        <p:nvSpPr>
          <p:cNvPr id="38" name="Polygon 38"/>
          <p:cNvSpPr/>
          <p:nvPr/>
        </p:nvSpPr>
        <p:spPr>
          <a:xfrm>
            <a:off x="10850975" y="5262962"/>
            <a:ext cx="278381" cy="27838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7200" y="21600"/>
                </a:moveTo>
                <a:lnTo>
                  <a:pt x="14400" y="21600"/>
                </a:lnTo>
                <a:lnTo>
                  <a:pt x="14400" y="14400"/>
                </a:lnTo>
                <a:lnTo>
                  <a:pt x="21600" y="14400"/>
                </a:lnTo>
                <a:lnTo>
                  <a:pt x="21600" y="7200"/>
                </a:lnTo>
                <a:lnTo>
                  <a:pt x="14400" y="7200"/>
                </a:lnTo>
                <a:lnTo>
                  <a:pt x="14400" y="0"/>
                </a:lnTo>
                <a:lnTo>
                  <a:pt x="7200" y="0"/>
                </a:lnTo>
                <a:lnTo>
                  <a:pt x="7200" y="7200"/>
                </a:lnTo>
                <a:lnTo>
                  <a:pt x="0" y="7200"/>
                </a:lnTo>
                <a:lnTo>
                  <a:pt x="0" y="14400"/>
                </a:lnTo>
                <a:lnTo>
                  <a:pt x="7200" y="14400"/>
                </a:lnTo>
                <a:lnTo>
                  <a:pt x="7200" y="21600"/>
                </a:lnTo>
                <a:close/>
              </a:path>
            </a:pathLst>
          </a:custGeom>
          <a:solidFill>
            <a:srgbClr val="FFFFFF"/>
          </a:solidFill>
          <a:ln w="6350">
            <a:solidFill>
              <a:srgbClr val="8C5A1E"/>
            </a:solidFill>
          </a:ln>
        </p:spPr>
        <p:txBody>
          <a:bodyPr/>
          <a:lstStyle/>
          <a:p/>
        </p:txBody>
      </p:sp>
      <p:sp>
        <p:nvSpPr>
          <p:cNvPr id="39" name="Ellipse 39"/>
          <p:cNvSpPr/>
          <p:nvPr/>
        </p:nvSpPr>
        <p:spPr>
          <a:xfrm>
            <a:off x="8550735" y="3776954"/>
            <a:ext cx="544565" cy="544565"/>
          </a:xfrm>
          <a:prstGeom prst="ellipse">
            <a:avLst/>
          </a:prstGeom>
          <a:noFill/>
          <a:ln w="8255">
            <a:solidFill>
              <a:srgbClr val="2B2B2B"/>
            </a:solidFill>
          </a:ln>
        </p:spPr>
        <p:txBody>
          <a:bodyPr/>
          <a:lstStyle/>
          <a:p/>
        </p:txBody>
      </p:sp>
      <p:sp>
        <p:nvSpPr>
          <p:cNvPr id="40" name="Ellipse 40"/>
          <p:cNvSpPr/>
          <p:nvPr/>
        </p:nvSpPr>
        <p:spPr>
          <a:xfrm>
            <a:off x="9691271" y="3776954"/>
            <a:ext cx="544565" cy="544565"/>
          </a:xfrm>
          <a:prstGeom prst="ellipse">
            <a:avLst/>
          </a:prstGeom>
          <a:noFill/>
          <a:ln w="8255">
            <a:solidFill>
              <a:srgbClr val="2B2B2B"/>
            </a:solidFill>
          </a:ln>
        </p:spPr>
        <p:txBody>
          <a:bodyPr/>
          <a:lstStyle/>
          <a:p/>
        </p:txBody>
      </p:sp>
      <p:sp>
        <p:nvSpPr>
          <p:cNvPr id="41" name="Ellipse 41"/>
          <p:cNvSpPr/>
          <p:nvPr/>
        </p:nvSpPr>
        <p:spPr>
          <a:xfrm>
            <a:off x="9406209" y="3889788"/>
            <a:ext cx="544565" cy="544565"/>
          </a:xfrm>
          <a:prstGeom prst="ellipse">
            <a:avLst/>
          </a:prstGeom>
          <a:noFill/>
          <a:ln w="8255">
            <a:solidFill>
              <a:srgbClr val="2B2B2B"/>
            </a:solidFill>
          </a:ln>
        </p:spPr>
        <p:txBody>
          <a:bodyPr/>
          <a:lstStyle/>
          <a:p/>
        </p:txBody>
      </p:sp>
      <p:sp>
        <p:nvSpPr>
          <p:cNvPr id="42" name="Ellipse 42"/>
          <p:cNvSpPr/>
          <p:nvPr/>
        </p:nvSpPr>
        <p:spPr>
          <a:xfrm>
            <a:off x="9121003" y="3889788"/>
            <a:ext cx="544565" cy="544565"/>
          </a:xfrm>
          <a:prstGeom prst="ellipse">
            <a:avLst/>
          </a:prstGeom>
          <a:noFill/>
          <a:ln w="8255">
            <a:solidFill>
              <a:srgbClr val="2B2B2B"/>
            </a:solidFill>
          </a:ln>
        </p:spPr>
        <p:txBody>
          <a:bodyPr/>
          <a:lstStyle/>
          <a:p/>
        </p:txBody>
      </p:sp>
      <p:sp>
        <p:nvSpPr>
          <p:cNvPr id="43" name="Ellipse 43"/>
          <p:cNvSpPr/>
          <p:nvPr/>
        </p:nvSpPr>
        <p:spPr>
          <a:xfrm>
            <a:off x="8961409" y="4678899"/>
            <a:ext cx="544565" cy="544565"/>
          </a:xfrm>
          <a:prstGeom prst="ellipse">
            <a:avLst/>
          </a:prstGeom>
          <a:noFill/>
          <a:ln w="8255">
            <a:solidFill>
              <a:srgbClr val="2B2B2B"/>
            </a:solidFill>
          </a:ln>
        </p:spPr>
        <p:txBody>
          <a:bodyPr/>
          <a:lstStyle/>
          <a:p/>
        </p:txBody>
      </p:sp>
      <p:sp>
        <p:nvSpPr>
          <p:cNvPr id="44" name="Ellipse 44"/>
          <p:cNvSpPr/>
          <p:nvPr/>
        </p:nvSpPr>
        <p:spPr>
          <a:xfrm>
            <a:off x="10216086" y="5017109"/>
            <a:ext cx="544565" cy="544565"/>
          </a:xfrm>
          <a:prstGeom prst="ellipse">
            <a:avLst/>
          </a:prstGeom>
          <a:noFill/>
          <a:ln w="8255">
            <a:solidFill>
              <a:srgbClr val="2B2B2B"/>
            </a:solidFill>
          </a:ln>
        </p:spPr>
        <p:txBody>
          <a:bodyPr/>
          <a:lstStyle/>
          <a:p/>
        </p:txBody>
      </p:sp>
      <p:sp>
        <p:nvSpPr>
          <p:cNvPr id="45" name="Line 45"/>
          <p:cNvSpPr/>
          <p:nvPr/>
        </p:nvSpPr>
        <p:spPr>
          <a:xfrm>
            <a:off x="13458786" y="7205969"/>
            <a:ext cx="3914475" cy="0"/>
          </a:xfrm>
          <a:prstGeom prst="line">
            <a:avLst/>
          </a:prstGeom>
          <a:noFill/>
          <a:ln w="11430">
            <a:solidFill>
              <a:srgbClr val="1F6F78"/>
            </a:solidFill>
          </a:ln>
        </p:spPr>
        <p:txBody>
          <a:bodyPr/>
          <a:lstStyle/>
          <a:p/>
        </p:txBody>
      </p:sp>
      <p:sp>
        <p:nvSpPr>
          <p:cNvPr id="46" name="Ellipse 46"/>
          <p:cNvSpPr/>
          <p:nvPr/>
        </p:nvSpPr>
        <p:spPr>
          <a:xfrm>
            <a:off x="17173878" y="556327"/>
            <a:ext cx="314686" cy="314686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</a:ln>
        </p:spPr>
        <p:txBody>
          <a:bodyPr/>
          <a:lstStyle/>
          <a:p/>
        </p:txBody>
      </p:sp>
      <p:sp>
        <p:nvSpPr>
          <p:cNvPr id="47" name="Line 47"/>
          <p:cNvSpPr/>
          <p:nvPr/>
        </p:nvSpPr>
        <p:spPr>
          <a:xfrm>
            <a:off x="12968097" y="6980446"/>
            <a:ext cx="3839688" cy="0"/>
          </a:xfrm>
          <a:prstGeom prst="line">
            <a:avLst/>
          </a:prstGeom>
          <a:noFill/>
          <a:ln w="11430">
            <a:solidFill>
              <a:srgbClr val="1F6F78"/>
            </a:solidFill>
          </a:ln>
        </p:spPr>
        <p:txBody>
          <a:bodyPr/>
          <a:lstStyle/>
          <a:p/>
        </p:txBody>
      </p:sp>
      <p:sp>
        <p:nvSpPr>
          <p:cNvPr id="48" name="Ellipse 48"/>
          <p:cNvSpPr/>
          <p:nvPr/>
        </p:nvSpPr>
        <p:spPr>
          <a:xfrm>
            <a:off x="17179832" y="2497155"/>
            <a:ext cx="302487" cy="30248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7A7A"/>
            </a:solidFill>
          </a:ln>
        </p:spPr>
        <p:txBody>
          <a:bodyPr/>
          <a:lstStyle/>
          <a:p/>
        </p:txBody>
      </p:sp>
      <p:sp>
        <p:nvSpPr>
          <p:cNvPr id="49" name="Line 49"/>
          <p:cNvSpPr/>
          <p:nvPr/>
        </p:nvSpPr>
        <p:spPr>
          <a:xfrm>
            <a:off x="13952379" y="7656868"/>
            <a:ext cx="3983599" cy="0"/>
          </a:xfrm>
          <a:prstGeom prst="line">
            <a:avLst/>
          </a:prstGeom>
          <a:noFill/>
          <a:ln w="11430">
            <a:solidFill>
              <a:srgbClr val="1F6F78"/>
            </a:solidFill>
          </a:ln>
        </p:spPr>
        <p:txBody>
          <a:bodyPr/>
          <a:lstStyle/>
          <a:p/>
        </p:txBody>
      </p:sp>
      <p:sp>
        <p:nvSpPr>
          <p:cNvPr id="50" name="Ellipse 50"/>
          <p:cNvSpPr/>
          <p:nvPr/>
        </p:nvSpPr>
        <p:spPr>
          <a:xfrm>
            <a:off x="17089071" y="3051304"/>
            <a:ext cx="484009" cy="484009"/>
          </a:xfrm>
          <a:prstGeom prst="ellipse">
            <a:avLst/>
          </a:prstGeom>
          <a:noFill/>
          <a:ln w="12700">
            <a:solidFill>
              <a:srgbClr val="2B2B2B"/>
            </a:solidFill>
          </a:ln>
        </p:spPr>
        <p:txBody>
          <a:bodyPr/>
          <a:lstStyle/>
          <a:p/>
        </p:txBody>
      </p:sp>
      <p:sp>
        <p:nvSpPr>
          <p:cNvPr id="51" name="Line 51"/>
          <p:cNvSpPr/>
          <p:nvPr/>
        </p:nvSpPr>
        <p:spPr>
          <a:xfrm>
            <a:off x="14572892" y="7882390"/>
            <a:ext cx="4063032" cy="0"/>
          </a:xfrm>
          <a:prstGeom prst="line">
            <a:avLst/>
          </a:prstGeom>
          <a:noFill/>
          <a:ln w="11430">
            <a:solidFill>
              <a:srgbClr val="C98A3D"/>
            </a:solidFill>
          </a:ln>
        </p:spPr>
        <p:txBody>
          <a:bodyPr/>
          <a:lstStyle/>
          <a:p/>
        </p:txBody>
      </p:sp>
      <p:sp>
        <p:nvSpPr>
          <p:cNvPr id="52" name="Line 52"/>
          <p:cNvSpPr/>
          <p:nvPr/>
        </p:nvSpPr>
        <p:spPr>
          <a:xfrm>
            <a:off x="13458786" y="7205969"/>
            <a:ext cx="3914475" cy="0"/>
          </a:xfrm>
          <a:prstGeom prst="line">
            <a:avLst/>
          </a:prstGeom>
          <a:noFill/>
          <a:ln w="11430">
            <a:solidFill>
              <a:srgbClr val="C98A3D"/>
            </a:solidFill>
          </a:ln>
        </p:spPr>
        <p:txBody>
          <a:bodyPr/>
          <a:lstStyle/>
          <a:p/>
        </p:txBody>
      </p:sp>
      <p:sp>
        <p:nvSpPr>
          <p:cNvPr id="53" name="Line 53"/>
          <p:cNvSpPr/>
          <p:nvPr/>
        </p:nvSpPr>
        <p:spPr>
          <a:xfrm>
            <a:off x="13581930" y="7318657"/>
            <a:ext cx="3932192" cy="0"/>
          </a:xfrm>
          <a:prstGeom prst="line">
            <a:avLst/>
          </a:prstGeom>
          <a:noFill/>
          <a:ln w="11430">
            <a:solidFill>
              <a:srgbClr val="C98A3D"/>
            </a:solidFill>
          </a:ln>
        </p:spPr>
        <p:txBody>
          <a:bodyPr/>
          <a:lstStyle/>
          <a:p/>
        </p:txBody>
      </p:sp>
      <p:sp>
        <p:nvSpPr>
          <p:cNvPr id="54" name="Polygon 54"/>
          <p:cNvSpPr/>
          <p:nvPr/>
        </p:nvSpPr>
        <p:spPr>
          <a:xfrm>
            <a:off x="17173878" y="1201237"/>
            <a:ext cx="314540" cy="3145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0800" y="0"/>
                </a:lnTo>
                <a:close/>
              </a:path>
            </a:pathLst>
          </a:custGeom>
          <a:solidFill>
            <a:srgbClr val="C98A3D"/>
          </a:solidFill>
          <a:ln w="6350">
            <a:solidFill>
              <a:srgbClr val="C98A3D"/>
            </a:solidFill>
          </a:ln>
        </p:spPr>
        <p:txBody>
          <a:bodyPr/>
          <a:lstStyle/>
          <a:p/>
        </p:txBody>
      </p:sp>
      <p:sp>
        <p:nvSpPr>
          <p:cNvPr id="55" name="Polygon 55"/>
          <p:cNvSpPr/>
          <p:nvPr/>
        </p:nvSpPr>
        <p:spPr>
          <a:xfrm>
            <a:off x="17161680" y="1834093"/>
            <a:ext cx="338937" cy="33879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7200" y="21600"/>
                </a:moveTo>
                <a:lnTo>
                  <a:pt x="14400" y="21600"/>
                </a:lnTo>
                <a:lnTo>
                  <a:pt x="14400" y="14397"/>
                </a:lnTo>
                <a:lnTo>
                  <a:pt x="21600" y="14397"/>
                </a:lnTo>
                <a:lnTo>
                  <a:pt x="21600" y="7194"/>
                </a:lnTo>
                <a:lnTo>
                  <a:pt x="14400" y="7194"/>
                </a:lnTo>
                <a:lnTo>
                  <a:pt x="14400" y="0"/>
                </a:lnTo>
                <a:lnTo>
                  <a:pt x="7200" y="0"/>
                </a:lnTo>
                <a:lnTo>
                  <a:pt x="7200" y="7194"/>
                </a:lnTo>
                <a:lnTo>
                  <a:pt x="0" y="7194"/>
                </a:lnTo>
                <a:lnTo>
                  <a:pt x="0" y="14397"/>
                </a:lnTo>
                <a:lnTo>
                  <a:pt x="7200" y="14397"/>
                </a:lnTo>
                <a:lnTo>
                  <a:pt x="7200" y="21600"/>
                </a:lnTo>
                <a:close/>
              </a:path>
            </a:pathLst>
          </a:custGeom>
          <a:solidFill>
            <a:srgbClr val="8C5A1E"/>
          </a:solidFill>
          <a:ln w="6350">
            <a:solidFill>
              <a:srgbClr val="8C5A1E"/>
            </a:solidFill>
          </a:ln>
        </p:spPr>
        <p:txBody>
          <a:bodyPr/>
          <a:lstStyle/>
          <a:p/>
        </p:txBody>
      </p:sp>
      <p:sp>
        <p:nvSpPr>
          <p:cNvPr id="56" name="Ellipse 56"/>
          <p:cNvSpPr/>
          <p:nvPr/>
        </p:nvSpPr>
        <p:spPr>
          <a:xfrm>
            <a:off x="15151438" y="7042599"/>
            <a:ext cx="326739" cy="326739"/>
          </a:xfrm>
          <a:prstGeom prst="ellipse">
            <a:avLst/>
          </a:prstGeom>
          <a:solidFill>
            <a:srgbClr val="1F6F78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57" name="Ellipse 57"/>
          <p:cNvSpPr/>
          <p:nvPr/>
        </p:nvSpPr>
        <p:spPr>
          <a:xfrm>
            <a:off x="14617619" y="6817077"/>
            <a:ext cx="326739" cy="326739"/>
          </a:xfrm>
          <a:prstGeom prst="ellipse">
            <a:avLst/>
          </a:prstGeom>
          <a:solidFill>
            <a:srgbClr val="1F6F78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58" name="Ellipse 58"/>
          <p:cNvSpPr/>
          <p:nvPr/>
        </p:nvSpPr>
        <p:spPr>
          <a:xfrm>
            <a:off x="15685401" y="7493499"/>
            <a:ext cx="326739" cy="326739"/>
          </a:xfrm>
          <a:prstGeom prst="ellipse">
            <a:avLst/>
          </a:prstGeom>
          <a:solidFill>
            <a:srgbClr val="1F6F78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59" name="Polygon 59"/>
          <p:cNvSpPr/>
          <p:nvPr/>
        </p:nvSpPr>
        <p:spPr>
          <a:xfrm>
            <a:off x="16352820" y="7719021"/>
            <a:ext cx="326739" cy="3267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0800" y="0"/>
                </a:lnTo>
                <a:close/>
              </a:path>
            </a:pathLst>
          </a:custGeom>
          <a:solidFill>
            <a:srgbClr val="C98A3D"/>
          </a:solidFill>
          <a:ln w="635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60" name="Polygon 60"/>
          <p:cNvSpPr/>
          <p:nvPr/>
        </p:nvSpPr>
        <p:spPr>
          <a:xfrm>
            <a:off x="15151438" y="7042599"/>
            <a:ext cx="326739" cy="3267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0800" y="0"/>
                </a:lnTo>
                <a:close/>
              </a:path>
            </a:pathLst>
          </a:custGeom>
          <a:solidFill>
            <a:srgbClr val="C98A3D"/>
          </a:solidFill>
          <a:ln w="635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61" name="Polygon 61"/>
          <p:cNvSpPr/>
          <p:nvPr/>
        </p:nvSpPr>
        <p:spPr>
          <a:xfrm>
            <a:off x="15285038" y="7155288"/>
            <a:ext cx="326739" cy="3267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0800" y="0"/>
                </a:lnTo>
                <a:close/>
              </a:path>
            </a:pathLst>
          </a:custGeom>
          <a:solidFill>
            <a:srgbClr val="C98A3D"/>
          </a:solidFill>
          <a:ln w="635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62" name="TextBox 62"/>
          <p:cNvSpPr txBox="1"/>
          <p:nvPr/>
        </p:nvSpPr>
        <p:spPr>
          <a:xfrm>
            <a:off x="5668899" y="11734277"/>
            <a:ext cx="605846" cy="50753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250">
                <a:solidFill>
                  <a:srgbClr val="555555"/>
                </a:solidFill>
                <a:latin typeface="Helvetica"/>
                <a:ea typeface="Helvetica"/>
                <a:cs typeface="Helvetica"/>
              </a:rPr>
              <a:t>0.0</a:t>
            </a:r>
            <a:endParaRPr lang="zh-CN" sz="2250"/>
          </a:p>
        </p:txBody>
      </p:sp>
      <p:sp>
        <p:nvSpPr>
          <p:cNvPr id="63" name="TextBox 63"/>
          <p:cNvSpPr txBox="1"/>
          <p:nvPr/>
        </p:nvSpPr>
        <p:spPr>
          <a:xfrm>
            <a:off x="9432929" y="11734277"/>
            <a:ext cx="605846" cy="50753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250">
                <a:solidFill>
                  <a:srgbClr val="555555"/>
                </a:solidFill>
                <a:latin typeface="Helvetica"/>
                <a:ea typeface="Helvetica"/>
                <a:cs typeface="Helvetica"/>
              </a:rPr>
              <a:t>0.1</a:t>
            </a:r>
            <a:endParaRPr lang="zh-CN" sz="2250"/>
          </a:p>
        </p:txBody>
      </p:sp>
      <p:sp>
        <p:nvSpPr>
          <p:cNvPr id="64" name="TextBox 64"/>
          <p:cNvSpPr txBox="1"/>
          <p:nvPr/>
        </p:nvSpPr>
        <p:spPr>
          <a:xfrm>
            <a:off x="13197105" y="11734277"/>
            <a:ext cx="605846" cy="50753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250">
                <a:solidFill>
                  <a:srgbClr val="555555"/>
                </a:solidFill>
                <a:latin typeface="Helvetica"/>
                <a:ea typeface="Helvetica"/>
                <a:cs typeface="Helvetica"/>
              </a:rPr>
              <a:t>0.2</a:t>
            </a:r>
            <a:endParaRPr lang="zh-CN" sz="2250"/>
          </a:p>
        </p:txBody>
      </p:sp>
      <p:sp>
        <p:nvSpPr>
          <p:cNvPr id="65" name="TextBox 65"/>
          <p:cNvSpPr txBox="1"/>
          <p:nvPr/>
        </p:nvSpPr>
        <p:spPr>
          <a:xfrm>
            <a:off x="16961135" y="11734277"/>
            <a:ext cx="605846" cy="50753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250">
                <a:solidFill>
                  <a:srgbClr val="555555"/>
                </a:solidFill>
                <a:latin typeface="Helvetica"/>
                <a:ea typeface="Helvetica"/>
                <a:cs typeface="Helvetica"/>
              </a:rPr>
              <a:t>0.3</a:t>
            </a:r>
            <a:endParaRPr lang="zh-CN" sz="2250"/>
          </a:p>
        </p:txBody>
      </p:sp>
      <p:sp>
        <p:nvSpPr>
          <p:cNvPr id="66" name="TextBox 66"/>
          <p:cNvSpPr txBox="1"/>
          <p:nvPr/>
        </p:nvSpPr>
        <p:spPr>
          <a:xfrm>
            <a:off x="20725165" y="11734277"/>
            <a:ext cx="605846" cy="50753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250">
                <a:solidFill>
                  <a:srgbClr val="555555"/>
                </a:solidFill>
                <a:latin typeface="Helvetica"/>
                <a:ea typeface="Helvetica"/>
                <a:cs typeface="Helvetica"/>
              </a:rPr>
              <a:t>0.4</a:t>
            </a:r>
            <a:endParaRPr lang="zh-CN" sz="2250"/>
          </a:p>
        </p:txBody>
      </p:sp>
      <p:sp>
        <p:nvSpPr>
          <p:cNvPr id="67" name="TextBox 67"/>
          <p:cNvSpPr txBox="1"/>
          <p:nvPr/>
        </p:nvSpPr>
        <p:spPr>
          <a:xfrm>
            <a:off x="24489195" y="11734277"/>
            <a:ext cx="605846" cy="50753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250">
                <a:solidFill>
                  <a:srgbClr val="555555"/>
                </a:solidFill>
                <a:latin typeface="Helvetica"/>
                <a:ea typeface="Helvetica"/>
                <a:cs typeface="Helvetica"/>
              </a:rPr>
              <a:t>0.5</a:t>
            </a:r>
            <a:endParaRPr lang="zh-CN" sz="2250"/>
          </a:p>
        </p:txBody>
      </p:sp>
      <p:sp>
        <p:nvSpPr>
          <p:cNvPr id="68" name="TextBox 68"/>
          <p:cNvSpPr txBox="1"/>
          <p:nvPr/>
        </p:nvSpPr>
        <p:spPr>
          <a:xfrm>
            <a:off x="9573645" y="12196213"/>
            <a:ext cx="11302691" cy="122853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500">
                <a:solidFill>
                  <a:srgbClr val="2B2B2B"/>
                </a:solidFill>
                <a:latin typeface="Helvetica"/>
                <a:ea typeface="Helvetica"/>
                <a:cs typeface="Helvetica"/>
              </a:rPr>
              <a:t>factory-conditional failure rate </a:t>
            </a:r>
            <a:r>
              <a:rPr lang="zh-CN" sz="2500" i="1">
                <a:solidFill>
                  <a:srgbClr val="2B2B2B"/>
                </a:solidFill>
                <a:latin typeface="Helvetica"/>
                <a:ea typeface="Helvetica"/>
                <a:cs typeface="Helvetica"/>
              </a:rPr>
              <a:t>R</a:t>
            </a:r>
            <a:r>
              <a:rPr lang="zh-CN" sz="2500" i="1">
                <a:solidFill>
                  <a:srgbClr val="2B2B2B"/>
                </a:solidFill>
                <a:latin typeface="Helvetica"/>
                <a:ea typeface="Helvetica"/>
                <a:cs typeface="Helvetica"/>
              </a:rPr>
              <a:t>c</a:t>
            </a:r>
            <a:r>
              <a:rPr lang="zh-CN" sz="2500">
                <a:solidFill>
                  <a:srgbClr val="2B2B2B"/>
                </a:solidFill>
                <a:latin typeface="Helvetica"/>
                <a:ea typeface="Helvetica"/>
                <a:cs typeface="Helvetica"/>
              </a:rPr>
              <a:t> =</a:t>
            </a:r>
            <a:r>
              <a:rPr lang="zh-CN" sz="2500" i="1">
                <a:solidFill>
                  <a:srgbClr val="2B2B2B"/>
                </a:solidFill>
                <a:latin typeface="Segoe UI Symbol"/>
                <a:ea typeface="Segoe UI Symbol"/>
                <a:cs typeface="Segoe UI Symbol"/>
              </a:rPr>
              <a:t> ℙ</a:t>
            </a:r>
            <a:r>
              <a:rPr lang="zh-CN" sz="2500">
                <a:solidFill>
                  <a:srgbClr val="2B2B2B"/>
                </a:solidFill>
                <a:latin typeface="Helvetica"/>
                <a:ea typeface="Helvetica"/>
                <a:cs typeface="Helvetica"/>
              </a:rPr>
              <a:t>(</a:t>
            </a:r>
            <a:r>
              <a:rPr lang="zh-CN" sz="2500" i="1">
                <a:solidFill>
                  <a:srgbClr val="2B2B2B"/>
                </a:solidFill>
                <a:latin typeface="Helvetica"/>
                <a:ea typeface="Helvetica"/>
                <a:cs typeface="Helvetica"/>
              </a:rPr>
              <a:t>Y</a:t>
            </a:r>
            <a:r>
              <a:rPr lang="zh-CN" sz="2500" i="1">
                <a:solidFill>
                  <a:srgbClr val="2B2B2B"/>
                </a:solidFill>
                <a:latin typeface="Helvetica"/>
                <a:ea typeface="Helvetica"/>
                <a:cs typeface="Helvetica"/>
              </a:rPr>
              <a:t>π</a:t>
            </a:r>
            <a:r>
              <a:rPr lang="zh-CN" sz="2500">
                <a:solidFill>
                  <a:srgbClr val="2B2B2B"/>
                </a:solidFill>
                <a:latin typeface="Helvetica"/>
                <a:ea typeface="Helvetica"/>
                <a:cs typeface="Helvetica"/>
              </a:rPr>
              <a:t>= 0</a:t>
            </a:r>
            <a:r>
              <a:rPr lang="zh-CN" sz="250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 j</a:t>
            </a:r>
            <a:r>
              <a:rPr lang="zh-CN" sz="2500" i="1">
                <a:solidFill>
                  <a:srgbClr val="2B2B2B"/>
                </a:solidFill>
                <a:latin typeface="Helvetica"/>
                <a:ea typeface="Helvetica"/>
                <a:cs typeface="Helvetica"/>
              </a:rPr>
              <a:t> Y</a:t>
            </a:r>
            <a:r>
              <a:rPr lang="zh-CN" sz="2500" i="1">
                <a:solidFill>
                  <a:srgbClr val="2B2B2B"/>
                </a:solidFill>
                <a:latin typeface="Helvetica"/>
                <a:ea typeface="Helvetica"/>
                <a:cs typeface="Helvetica"/>
              </a:rPr>
              <a:t>π</a:t>
            </a:r>
            <a:r>
              <a:rPr lang="zh-CN" sz="2500">
                <a:solidFill>
                  <a:srgbClr val="2B2B2B"/>
                </a:solidFill>
                <a:latin typeface="Helvetica"/>
                <a:ea typeface="Helvetica"/>
                <a:cs typeface="Helvetica"/>
              </a:rPr>
              <a:t>(0)</a:t>
            </a:r>
            <a:r>
              <a:rPr lang="zh-CN" sz="2500">
                <a:solidFill>
                  <a:srgbClr val="2B2B2B"/>
                </a:solidFill>
                <a:latin typeface="Helvetica"/>
                <a:ea typeface="Helvetica"/>
                <a:cs typeface="Helvetica"/>
              </a:rPr>
              <a:t>= 1)</a:t>
            </a:r>
            <a:endParaRPr lang="zh-CN" sz="2500"/>
          </a:p>
        </p:txBody>
      </p:sp>
      <p:sp>
        <p:nvSpPr>
          <p:cNvPr id="69" name="TextBox 69"/>
          <p:cNvSpPr txBox="1"/>
          <p:nvPr/>
        </p:nvSpPr>
        <p:spPr>
          <a:xfrm>
            <a:off x="4568298" y="11169963"/>
            <a:ext cx="745545" cy="50753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250">
                <a:solidFill>
                  <a:srgbClr val="555555"/>
                </a:solidFill>
                <a:latin typeface="Segoe UI Symbol"/>
                <a:ea typeface="Segoe UI Symbol"/>
                <a:cs typeface="Segoe UI Symbol"/>
              </a:rPr>
              <a:t>−40</a:t>
            </a:r>
            <a:endParaRPr lang="zh-CN" sz="2250"/>
          </a:p>
        </p:txBody>
      </p:sp>
      <p:sp>
        <p:nvSpPr>
          <p:cNvPr id="70" name="TextBox 70"/>
          <p:cNvSpPr txBox="1"/>
          <p:nvPr/>
        </p:nvSpPr>
        <p:spPr>
          <a:xfrm>
            <a:off x="4568298" y="9366075"/>
            <a:ext cx="745545" cy="50753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250">
                <a:solidFill>
                  <a:srgbClr val="555555"/>
                </a:solidFill>
                <a:latin typeface="Segoe UI Symbol"/>
                <a:ea typeface="Segoe UI Symbol"/>
                <a:cs typeface="Segoe UI Symbol"/>
              </a:rPr>
              <a:t>−30</a:t>
            </a:r>
            <a:endParaRPr lang="zh-CN" sz="2250"/>
          </a:p>
        </p:txBody>
      </p:sp>
      <p:sp>
        <p:nvSpPr>
          <p:cNvPr id="71" name="TextBox 71"/>
          <p:cNvSpPr txBox="1"/>
          <p:nvPr/>
        </p:nvSpPr>
        <p:spPr>
          <a:xfrm>
            <a:off x="4568298" y="7562332"/>
            <a:ext cx="745545" cy="50753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250">
                <a:solidFill>
                  <a:srgbClr val="555555"/>
                </a:solidFill>
                <a:latin typeface="Segoe UI Symbol"/>
                <a:ea typeface="Segoe UI Symbol"/>
                <a:cs typeface="Segoe UI Symbol"/>
              </a:rPr>
              <a:t>−20</a:t>
            </a:r>
            <a:endParaRPr lang="zh-CN" sz="2250"/>
          </a:p>
        </p:txBody>
      </p:sp>
      <p:sp>
        <p:nvSpPr>
          <p:cNvPr id="72" name="TextBox 72"/>
          <p:cNvSpPr txBox="1"/>
          <p:nvPr/>
        </p:nvSpPr>
        <p:spPr>
          <a:xfrm>
            <a:off x="4568298" y="5758443"/>
            <a:ext cx="745545" cy="50753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250">
                <a:solidFill>
                  <a:srgbClr val="555555"/>
                </a:solidFill>
                <a:latin typeface="Segoe UI Symbol"/>
                <a:ea typeface="Segoe UI Symbol"/>
                <a:cs typeface="Segoe UI Symbol"/>
              </a:rPr>
              <a:t>−10</a:t>
            </a:r>
            <a:endParaRPr lang="zh-CN" sz="2250"/>
          </a:p>
        </p:txBody>
      </p:sp>
      <p:sp>
        <p:nvSpPr>
          <p:cNvPr id="73" name="TextBox 73"/>
          <p:cNvSpPr txBox="1"/>
          <p:nvPr/>
        </p:nvSpPr>
        <p:spPr>
          <a:xfrm>
            <a:off x="5071330" y="3954700"/>
            <a:ext cx="242222" cy="50753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250">
                <a:solidFill>
                  <a:srgbClr val="555555"/>
                </a:solidFill>
                <a:latin typeface="Helvetica"/>
                <a:ea typeface="Helvetica"/>
                <a:cs typeface="Helvetica"/>
              </a:rPr>
              <a:t>0</a:t>
            </a:r>
            <a:endParaRPr lang="zh-CN" sz="2250"/>
          </a:p>
        </p:txBody>
      </p:sp>
      <p:sp>
        <p:nvSpPr>
          <p:cNvPr id="74" name="TextBox 74"/>
          <p:cNvSpPr txBox="1"/>
          <p:nvPr/>
        </p:nvSpPr>
        <p:spPr>
          <a:xfrm>
            <a:off x="4829253" y="2150812"/>
            <a:ext cx="484735" cy="50753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250">
                <a:solidFill>
                  <a:srgbClr val="555555"/>
                </a:solidFill>
                <a:latin typeface="Helvetica"/>
                <a:ea typeface="Helvetica"/>
                <a:cs typeface="Helvetica"/>
              </a:rPr>
              <a:t>10</a:t>
            </a:r>
            <a:endParaRPr lang="zh-CN" sz="2250"/>
          </a:p>
        </p:txBody>
      </p:sp>
      <p:sp>
        <p:nvSpPr>
          <p:cNvPr id="75" name="TextBox 75"/>
          <p:cNvSpPr txBox="1"/>
          <p:nvPr/>
        </p:nvSpPr>
        <p:spPr>
          <a:xfrm>
            <a:off x="4829253" y="347069"/>
            <a:ext cx="484735" cy="50753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250">
                <a:solidFill>
                  <a:srgbClr val="555555"/>
                </a:solidFill>
                <a:latin typeface="Helvetica"/>
                <a:ea typeface="Helvetica"/>
                <a:cs typeface="Helvetica"/>
              </a:rPr>
              <a:t>20</a:t>
            </a:r>
            <a:endParaRPr lang="zh-CN" sz="2250"/>
          </a:p>
        </p:txBody>
      </p:sp>
      <p:sp>
        <p:nvSpPr>
          <p:cNvPr id="76" name="TextBox 76"/>
          <p:cNvSpPr txBox="1"/>
          <p:nvPr/>
        </p:nvSpPr>
        <p:spPr>
          <a:xfrm rot="16200000">
            <a:off x="1142478" y="5503587"/>
            <a:ext cx="5803606" cy="56387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500">
                <a:solidFill>
                  <a:srgbClr val="2B2B2B"/>
                </a:solidFill>
                <a:latin typeface="Helvetica"/>
                <a:ea typeface="Helvetica"/>
                <a:cs typeface="Helvetica"/>
              </a:rPr>
              <a:t>mean success change (pp)</a:t>
            </a:r>
            <a:endParaRPr lang="zh-CN" sz="2500"/>
          </a:p>
        </p:txBody>
      </p:sp>
      <p:sp>
        <p:nvSpPr>
          <p:cNvPr id="77" name="TextBox 77"/>
          <p:cNvSpPr txBox="1"/>
          <p:nvPr/>
        </p:nvSpPr>
        <p:spPr>
          <a:xfrm>
            <a:off x="6084365" y="488511"/>
            <a:ext cx="1715887" cy="51929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250" b="1">
                <a:solidFill>
                  <a:srgbClr val="2E8B57"/>
                </a:solidFill>
                <a:latin typeface="Helvetica"/>
                <a:ea typeface="Helvetica"/>
                <a:cs typeface="Helvetica"/>
              </a:rPr>
              <a:t>certified</a:t>
            </a:r>
            <a:endParaRPr lang="zh-CN" sz="2250"/>
          </a:p>
        </p:txBody>
      </p:sp>
      <p:sp>
        <p:nvSpPr>
          <p:cNvPr id="78" name="TextBox 78"/>
          <p:cNvSpPr txBox="1"/>
          <p:nvPr/>
        </p:nvSpPr>
        <p:spPr>
          <a:xfrm>
            <a:off x="6084365" y="1020441"/>
            <a:ext cx="1315232" cy="51929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250" b="1">
                <a:solidFill>
                  <a:srgbClr val="2E8B57"/>
                </a:solidFill>
                <a:latin typeface="Helvetica"/>
                <a:ea typeface="Helvetica"/>
                <a:cs typeface="Helvetica"/>
              </a:rPr>
              <a:t>region</a:t>
            </a:r>
            <a:endParaRPr lang="zh-CN" sz="2250"/>
          </a:p>
        </p:txBody>
      </p:sp>
      <p:sp>
        <p:nvSpPr>
          <p:cNvPr id="79" name="TextBox 79"/>
          <p:cNvSpPr txBox="1"/>
          <p:nvPr/>
        </p:nvSpPr>
        <p:spPr>
          <a:xfrm>
            <a:off x="8079360" y="10922367"/>
            <a:ext cx="2377351" cy="49562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90">
                <a:solidFill>
                  <a:srgbClr val="2E8B57"/>
                </a:solidFill>
                <a:latin typeface="Helvetica"/>
                <a:ea typeface="Helvetica"/>
                <a:cs typeface="Helvetica"/>
              </a:rPr>
              <a:t>gate </a:t>
            </a:r>
            <a:r>
              <a:rPr lang="zh-CN" sz="2190" i="1">
                <a:solidFill>
                  <a:srgbClr val="2E8B57"/>
                </a:solidFill>
                <a:latin typeface="Helvetica"/>
                <a:ea typeface="Helvetica"/>
                <a:cs typeface="Helvetica"/>
              </a:rPr>
              <a:t>ε</a:t>
            </a:r>
            <a:r>
              <a:rPr lang="zh-CN" sz="2190">
                <a:solidFill>
                  <a:srgbClr val="2E8B57"/>
                </a:solidFill>
                <a:latin typeface="Helvetica"/>
                <a:ea typeface="Helvetica"/>
                <a:cs typeface="Helvetica"/>
              </a:rPr>
              <a:t> = 0.05</a:t>
            </a:r>
            <a:endParaRPr lang="zh-CN" sz="2190"/>
          </a:p>
        </p:txBody>
      </p:sp>
      <p:sp>
        <p:nvSpPr>
          <p:cNvPr id="80" name="TextBox 80"/>
          <p:cNvSpPr txBox="1"/>
          <p:nvPr/>
        </p:nvSpPr>
        <p:spPr>
          <a:xfrm>
            <a:off x="7100596" y="5927331"/>
            <a:ext cx="3266516" cy="52597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90">
                <a:solidFill>
                  <a:srgbClr val="2B2B2B"/>
                </a:solidFill>
                <a:latin typeface="Helvetica"/>
                <a:ea typeface="Helvetica"/>
                <a:cs typeface="Helvetica"/>
              </a:rPr>
              <a:t>factory policy </a:t>
            </a:r>
            <a:r>
              <a:rPr lang="zh-CN" sz="2190" i="1">
                <a:solidFill>
                  <a:srgbClr val="2B2B2B"/>
                </a:solidFill>
                <a:latin typeface="Helvetica"/>
                <a:ea typeface="Helvetica"/>
                <a:cs typeface="Helvetica"/>
              </a:rPr>
              <a:t>π</a:t>
            </a:r>
            <a:r>
              <a:rPr lang="zh-CN" sz="2190">
                <a:solidFill>
                  <a:srgbClr val="2B2B2B"/>
                </a:solidFill>
                <a:latin typeface="Helvetica"/>
                <a:ea typeface="Helvetica"/>
                <a:cs typeface="Helvetica"/>
              </a:rPr>
              <a:t>(0)</a:t>
            </a:r>
            <a:endParaRPr lang="zh-CN" sz="2190"/>
          </a:p>
        </p:txBody>
      </p:sp>
      <p:sp>
        <p:nvSpPr>
          <p:cNvPr id="81" name="TextBox 81"/>
          <p:cNvSpPr txBox="1"/>
          <p:nvPr/>
        </p:nvSpPr>
        <p:spPr>
          <a:xfrm>
            <a:off x="17930169" y="473118"/>
            <a:ext cx="2294142" cy="46527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60">
                <a:solidFill>
                  <a:srgbClr val="2B2B2B"/>
                </a:solidFill>
                <a:latin typeface="Helvetica"/>
                <a:ea typeface="Helvetica"/>
                <a:cs typeface="Helvetica"/>
              </a:rPr>
              <a:t>engine (ours)</a:t>
            </a:r>
            <a:endParaRPr lang="zh-CN" sz="2060"/>
          </a:p>
        </p:txBody>
      </p:sp>
      <p:sp>
        <p:nvSpPr>
          <p:cNvPr id="82" name="TextBox 82"/>
          <p:cNvSpPr txBox="1"/>
          <p:nvPr/>
        </p:nvSpPr>
        <p:spPr>
          <a:xfrm>
            <a:off x="17930169" y="1118173"/>
            <a:ext cx="3707250" cy="46527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60">
                <a:solidFill>
                  <a:srgbClr val="2B2B2B"/>
                </a:solidFill>
                <a:latin typeface="Helvetica"/>
                <a:ea typeface="Helvetica"/>
                <a:cs typeface="Helvetica"/>
              </a:rPr>
              <a:t>naive finetune (RWR)</a:t>
            </a:r>
            <a:endParaRPr lang="zh-CN" sz="2060"/>
          </a:p>
        </p:txBody>
      </p:sp>
      <p:sp>
        <p:nvSpPr>
          <p:cNvPr id="83" name="TextBox 83"/>
          <p:cNvSpPr txBox="1"/>
          <p:nvPr/>
        </p:nvSpPr>
        <p:spPr>
          <a:xfrm>
            <a:off x="17930169" y="1763082"/>
            <a:ext cx="4528454" cy="46527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60">
                <a:solidFill>
                  <a:srgbClr val="2B2B2B"/>
                </a:solidFill>
                <a:latin typeface="Helvetica"/>
                <a:ea typeface="Helvetica"/>
                <a:cs typeface="Helvetica"/>
              </a:rPr>
              <a:t>gentle finetune (lower LR)</a:t>
            </a:r>
            <a:endParaRPr lang="zh-CN" sz="2060"/>
          </a:p>
        </p:txBody>
      </p:sp>
      <p:sp>
        <p:nvSpPr>
          <p:cNvPr id="84" name="TextBox 84"/>
          <p:cNvSpPr txBox="1"/>
          <p:nvPr/>
        </p:nvSpPr>
        <p:spPr>
          <a:xfrm>
            <a:off x="17930169" y="2407992"/>
            <a:ext cx="6537388" cy="46527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60">
                <a:solidFill>
                  <a:srgbClr val="2B2B2B"/>
                </a:solidFill>
                <a:latin typeface="Helvetica"/>
                <a:ea typeface="Helvetica"/>
                <a:cs typeface="Helvetica"/>
              </a:rPr>
              <a:t>filled = both tasks, hollow = one task</a:t>
            </a:r>
            <a:endParaRPr lang="zh-CN" sz="2060"/>
          </a:p>
        </p:txBody>
      </p:sp>
      <p:sp>
        <p:nvSpPr>
          <p:cNvPr id="85" name="TextBox 85"/>
          <p:cNvSpPr txBox="1"/>
          <p:nvPr/>
        </p:nvSpPr>
        <p:spPr>
          <a:xfrm>
            <a:off x="17930169" y="3052901"/>
            <a:ext cx="6584439" cy="46527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60">
                <a:solidFill>
                  <a:srgbClr val="2B2B2B"/>
                </a:solidFill>
                <a:latin typeface="Helvetica"/>
                <a:ea typeface="Helvetica"/>
                <a:cs typeface="Helvetica"/>
              </a:rPr>
              <a:t>mean gate admits, certificate refuses</a:t>
            </a:r>
            <a:endParaRPr lang="zh-CN" sz="206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921128"/>
            <a:ext cx="28825253" cy="114378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2154734" y="1948137"/>
            <a:ext cx="10883206" cy="83676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2536408" y="4719381"/>
            <a:ext cx="226020" cy="22602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</a:ln>
        </p:spPr>
        <p:txBody>
          <a:bodyPr/>
          <a:lstStyle/>
          <a:p/>
        </p:txBody>
      </p:sp>
      <p:sp>
        <p:nvSpPr>
          <p:cNvPr id="5" name="Rect 5"/>
          <p:cNvSpPr/>
          <p:nvPr/>
        </p:nvSpPr>
        <p:spPr>
          <a:xfrm>
            <a:off x="6036071" y="6788320"/>
            <a:ext cx="226020" cy="22602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</a:ln>
        </p:spPr>
        <p:txBody>
          <a:bodyPr/>
          <a:lstStyle/>
          <a:p/>
        </p:txBody>
      </p:sp>
      <p:sp>
        <p:nvSpPr>
          <p:cNvPr id="6" name="Rect 6"/>
          <p:cNvSpPr/>
          <p:nvPr/>
        </p:nvSpPr>
        <p:spPr>
          <a:xfrm>
            <a:off x="9379063" y="7009931"/>
            <a:ext cx="226020" cy="22602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</a:ln>
        </p:spPr>
        <p:txBody>
          <a:bodyPr/>
          <a:lstStyle/>
          <a:p/>
        </p:txBody>
      </p:sp>
      <p:sp>
        <p:nvSpPr>
          <p:cNvPr id="7" name="Rect 7"/>
          <p:cNvSpPr/>
          <p:nvPr/>
        </p:nvSpPr>
        <p:spPr>
          <a:xfrm>
            <a:off x="12430247" y="8043892"/>
            <a:ext cx="226020" cy="22602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</a:ln>
        </p:spPr>
        <p:txBody>
          <a:bodyPr/>
          <a:lstStyle/>
          <a:p/>
        </p:txBody>
      </p:sp>
      <p:sp>
        <p:nvSpPr>
          <p:cNvPr id="8" name="Line 8"/>
          <p:cNvSpPr/>
          <p:nvPr/>
        </p:nvSpPr>
        <p:spPr>
          <a:xfrm>
            <a:off x="2649503" y="3062128"/>
            <a:ext cx="3499663" cy="3262791"/>
          </a:xfrm>
          <a:prstGeom prst="line">
            <a:avLst/>
          </a:prstGeom>
          <a:noFill/>
          <a:ln w="10160">
            <a:solidFill>
              <a:srgbClr val="C98A3D"/>
            </a:solidFill>
          </a:ln>
        </p:spPr>
        <p:txBody>
          <a:bodyPr/>
          <a:lstStyle/>
          <a:p/>
        </p:txBody>
      </p:sp>
      <p:sp>
        <p:nvSpPr>
          <p:cNvPr id="9" name="Line 9"/>
          <p:cNvSpPr/>
          <p:nvPr/>
        </p:nvSpPr>
        <p:spPr>
          <a:xfrm>
            <a:off x="6149166" y="6324920"/>
            <a:ext cx="3342992" cy="532071"/>
          </a:xfrm>
          <a:prstGeom prst="line">
            <a:avLst/>
          </a:prstGeom>
          <a:noFill/>
          <a:ln w="10160">
            <a:solidFill>
              <a:srgbClr val="C98A3D"/>
            </a:solidFill>
          </a:ln>
        </p:spPr>
        <p:txBody>
          <a:bodyPr/>
          <a:lstStyle/>
          <a:p/>
        </p:txBody>
      </p:sp>
      <p:sp>
        <p:nvSpPr>
          <p:cNvPr id="10" name="Line 10"/>
          <p:cNvSpPr/>
          <p:nvPr/>
        </p:nvSpPr>
        <p:spPr>
          <a:xfrm>
            <a:off x="9492158" y="6856991"/>
            <a:ext cx="3051184" cy="1645384"/>
          </a:xfrm>
          <a:prstGeom prst="line">
            <a:avLst/>
          </a:prstGeom>
          <a:noFill/>
          <a:ln w="10160">
            <a:solidFill>
              <a:srgbClr val="C98A3D"/>
            </a:solidFill>
          </a:ln>
        </p:spPr>
        <p:txBody>
          <a:bodyPr/>
          <a:lstStyle/>
          <a:p/>
        </p:txBody>
      </p:sp>
      <p:sp>
        <p:nvSpPr>
          <p:cNvPr id="11" name="Rect 11"/>
          <p:cNvSpPr/>
          <p:nvPr/>
        </p:nvSpPr>
        <p:spPr>
          <a:xfrm>
            <a:off x="6864528" y="3852265"/>
            <a:ext cx="226020" cy="22602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</a:ln>
        </p:spPr>
        <p:txBody>
          <a:bodyPr/>
          <a:lstStyle/>
          <a:p/>
        </p:txBody>
      </p:sp>
      <p:sp>
        <p:nvSpPr>
          <p:cNvPr id="12" name="Rect 12"/>
          <p:cNvSpPr/>
          <p:nvPr/>
        </p:nvSpPr>
        <p:spPr>
          <a:xfrm>
            <a:off x="17310785" y="1948137"/>
            <a:ext cx="9463672" cy="83676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Line 13"/>
          <p:cNvSpPr/>
          <p:nvPr/>
        </p:nvSpPr>
        <p:spPr>
          <a:xfrm>
            <a:off x="2649503" y="4357377"/>
            <a:ext cx="3499663" cy="3031685"/>
          </a:xfrm>
          <a:prstGeom prst="line">
            <a:avLst/>
          </a:prstGeom>
          <a:noFill/>
          <a:ln w="10160">
            <a:solidFill>
              <a:srgbClr val="C98A3D"/>
            </a:solidFill>
          </a:ln>
        </p:spPr>
        <p:txBody>
          <a:bodyPr/>
          <a:lstStyle/>
          <a:p/>
        </p:txBody>
      </p:sp>
      <p:sp>
        <p:nvSpPr>
          <p:cNvPr id="14" name="Line 14"/>
          <p:cNvSpPr/>
          <p:nvPr/>
        </p:nvSpPr>
        <p:spPr>
          <a:xfrm>
            <a:off x="6149166" y="7389061"/>
            <a:ext cx="3342992" cy="0"/>
          </a:xfrm>
          <a:prstGeom prst="line">
            <a:avLst/>
          </a:prstGeom>
          <a:noFill/>
          <a:ln w="10160">
            <a:solidFill>
              <a:srgbClr val="C98A3D"/>
            </a:solidFill>
          </a:ln>
        </p:spPr>
        <p:txBody>
          <a:bodyPr/>
          <a:lstStyle/>
          <a:p/>
        </p:txBody>
      </p:sp>
      <p:sp>
        <p:nvSpPr>
          <p:cNvPr id="15" name="Line 15"/>
          <p:cNvSpPr/>
          <p:nvPr/>
        </p:nvSpPr>
        <p:spPr>
          <a:xfrm>
            <a:off x="9492158" y="7389061"/>
            <a:ext cx="3051184" cy="595146"/>
          </a:xfrm>
          <a:prstGeom prst="line">
            <a:avLst/>
          </a:prstGeom>
          <a:noFill/>
          <a:ln w="10160">
            <a:solidFill>
              <a:srgbClr val="C98A3D"/>
            </a:solidFill>
          </a:ln>
        </p:spPr>
        <p:txBody>
          <a:bodyPr/>
          <a:lstStyle/>
          <a:p/>
        </p:txBody>
      </p:sp>
      <p:sp>
        <p:nvSpPr>
          <p:cNvPr id="16" name="Rect 16"/>
          <p:cNvSpPr/>
          <p:nvPr/>
        </p:nvSpPr>
        <p:spPr>
          <a:xfrm>
            <a:off x="17310785" y="1948137"/>
            <a:ext cx="2365833" cy="1394609"/>
          </a:xfrm>
          <a:prstGeom prst="rect">
            <a:avLst/>
          </a:prstGeom>
          <a:solidFill>
            <a:srgbClr val="6F020E"/>
          </a:solidFill>
          <a:ln w="508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7" name="Ellipse 17"/>
          <p:cNvSpPr/>
          <p:nvPr/>
        </p:nvSpPr>
        <p:spPr>
          <a:xfrm>
            <a:off x="2557603" y="2970228"/>
            <a:ext cx="183631" cy="183631"/>
          </a:xfrm>
          <a:prstGeom prst="ellipse">
            <a:avLst/>
          </a:prstGeom>
          <a:solidFill>
            <a:srgbClr val="C98A3D"/>
          </a:solidFill>
          <a:ln w="12700">
            <a:solidFill>
              <a:srgbClr val="C98A3D"/>
            </a:solidFill>
          </a:ln>
        </p:spPr>
        <p:txBody>
          <a:bodyPr/>
          <a:lstStyle/>
          <a:p/>
        </p:txBody>
      </p:sp>
      <p:sp>
        <p:nvSpPr>
          <p:cNvPr id="18" name="Rect 18"/>
          <p:cNvSpPr/>
          <p:nvPr/>
        </p:nvSpPr>
        <p:spPr>
          <a:xfrm>
            <a:off x="19676788" y="1948137"/>
            <a:ext cx="2365833" cy="1394609"/>
          </a:xfrm>
          <a:prstGeom prst="rect">
            <a:avLst/>
          </a:prstGeom>
          <a:solidFill>
            <a:srgbClr val="F75B40"/>
          </a:solidFill>
          <a:ln w="508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9" name="Ellipse 19"/>
          <p:cNvSpPr/>
          <p:nvPr/>
        </p:nvSpPr>
        <p:spPr>
          <a:xfrm>
            <a:off x="6057266" y="6233020"/>
            <a:ext cx="183631" cy="183631"/>
          </a:xfrm>
          <a:prstGeom prst="ellipse">
            <a:avLst/>
          </a:prstGeom>
          <a:solidFill>
            <a:srgbClr val="C98A3D"/>
          </a:solidFill>
          <a:ln w="12700">
            <a:solidFill>
              <a:srgbClr val="C98A3D"/>
            </a:solidFill>
          </a:ln>
        </p:spPr>
        <p:txBody>
          <a:bodyPr/>
          <a:lstStyle/>
          <a:p/>
        </p:txBody>
      </p:sp>
      <p:sp>
        <p:nvSpPr>
          <p:cNvPr id="20" name="Rect 20"/>
          <p:cNvSpPr/>
          <p:nvPr/>
        </p:nvSpPr>
        <p:spPr>
          <a:xfrm>
            <a:off x="22042621" y="1948137"/>
            <a:ext cx="2365833" cy="1394609"/>
          </a:xfrm>
          <a:prstGeom prst="rect">
            <a:avLst/>
          </a:prstGeom>
          <a:solidFill>
            <a:srgbClr val="FB7555"/>
          </a:solidFill>
          <a:ln w="508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21" name="Ellipse 21"/>
          <p:cNvSpPr/>
          <p:nvPr/>
        </p:nvSpPr>
        <p:spPr>
          <a:xfrm>
            <a:off x="9400258" y="6765091"/>
            <a:ext cx="183631" cy="183631"/>
          </a:xfrm>
          <a:prstGeom prst="ellipse">
            <a:avLst/>
          </a:prstGeom>
          <a:solidFill>
            <a:srgbClr val="C98A3D"/>
          </a:solidFill>
          <a:ln w="12700">
            <a:solidFill>
              <a:srgbClr val="C98A3D"/>
            </a:solidFill>
          </a:ln>
        </p:spPr>
        <p:txBody>
          <a:bodyPr/>
          <a:lstStyle/>
          <a:p/>
        </p:txBody>
      </p:sp>
      <p:sp>
        <p:nvSpPr>
          <p:cNvPr id="22" name="Rect 22"/>
          <p:cNvSpPr/>
          <p:nvPr/>
        </p:nvSpPr>
        <p:spPr>
          <a:xfrm>
            <a:off x="24408624" y="1948137"/>
            <a:ext cx="2365833" cy="1394609"/>
          </a:xfrm>
          <a:prstGeom prst="rect">
            <a:avLst/>
          </a:prstGeom>
          <a:solidFill>
            <a:srgbClr val="FCBDA4"/>
          </a:solidFill>
          <a:ln w="508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23" name="Ellipse 23"/>
          <p:cNvSpPr/>
          <p:nvPr/>
        </p:nvSpPr>
        <p:spPr>
          <a:xfrm>
            <a:off x="12451442" y="8410475"/>
            <a:ext cx="183631" cy="183631"/>
          </a:xfrm>
          <a:prstGeom prst="ellipse">
            <a:avLst/>
          </a:prstGeom>
          <a:solidFill>
            <a:srgbClr val="C98A3D"/>
          </a:solidFill>
          <a:ln w="12700">
            <a:solidFill>
              <a:srgbClr val="C98A3D"/>
            </a:solidFill>
          </a:ln>
        </p:spPr>
        <p:txBody>
          <a:bodyPr/>
          <a:lstStyle/>
          <a:p/>
        </p:txBody>
      </p:sp>
      <p:sp>
        <p:nvSpPr>
          <p:cNvPr id="24" name="Rect 24"/>
          <p:cNvSpPr/>
          <p:nvPr/>
        </p:nvSpPr>
        <p:spPr>
          <a:xfrm>
            <a:off x="17310785" y="3342746"/>
            <a:ext cx="2365833" cy="1394609"/>
          </a:xfrm>
          <a:prstGeom prst="rect">
            <a:avLst/>
          </a:prstGeom>
          <a:solidFill>
            <a:srgbClr val="B91419"/>
          </a:solidFill>
          <a:ln w="508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25" name="Line 25"/>
          <p:cNvSpPr/>
          <p:nvPr/>
        </p:nvSpPr>
        <p:spPr>
          <a:xfrm>
            <a:off x="2649503" y="5134627"/>
            <a:ext cx="3499663" cy="1456328"/>
          </a:xfrm>
          <a:prstGeom prst="line">
            <a:avLst/>
          </a:prstGeom>
          <a:noFill/>
          <a:ln w="10160">
            <a:solidFill>
              <a:srgbClr val="C98A3D"/>
            </a:solidFill>
          </a:ln>
        </p:spPr>
        <p:txBody>
          <a:bodyPr/>
          <a:lstStyle/>
          <a:p/>
        </p:txBody>
      </p:sp>
      <p:sp>
        <p:nvSpPr>
          <p:cNvPr id="26" name="Line 26"/>
          <p:cNvSpPr/>
          <p:nvPr/>
        </p:nvSpPr>
        <p:spPr>
          <a:xfrm>
            <a:off x="6149166" y="6590955"/>
            <a:ext cx="3342992" cy="266035"/>
          </a:xfrm>
          <a:prstGeom prst="line">
            <a:avLst/>
          </a:prstGeom>
          <a:noFill/>
          <a:ln w="10160">
            <a:solidFill>
              <a:srgbClr val="C98A3D"/>
            </a:solidFill>
          </a:ln>
        </p:spPr>
        <p:txBody>
          <a:bodyPr/>
          <a:lstStyle/>
          <a:p/>
        </p:txBody>
      </p:sp>
      <p:sp>
        <p:nvSpPr>
          <p:cNvPr id="27" name="Line 27"/>
          <p:cNvSpPr/>
          <p:nvPr/>
        </p:nvSpPr>
        <p:spPr>
          <a:xfrm>
            <a:off x="9492158" y="6856991"/>
            <a:ext cx="3051184" cy="868133"/>
          </a:xfrm>
          <a:prstGeom prst="line">
            <a:avLst/>
          </a:prstGeom>
          <a:noFill/>
          <a:ln w="10160">
            <a:solidFill>
              <a:srgbClr val="C98A3D"/>
            </a:solidFill>
          </a:ln>
        </p:spPr>
        <p:txBody>
          <a:bodyPr/>
          <a:lstStyle/>
          <a:p/>
        </p:txBody>
      </p:sp>
      <p:sp>
        <p:nvSpPr>
          <p:cNvPr id="28" name="Rect 28"/>
          <p:cNvSpPr/>
          <p:nvPr/>
        </p:nvSpPr>
        <p:spPr>
          <a:xfrm>
            <a:off x="19676788" y="3342746"/>
            <a:ext cx="2365833" cy="1394609"/>
          </a:xfrm>
          <a:prstGeom prst="rect">
            <a:avLst/>
          </a:prstGeom>
          <a:solidFill>
            <a:srgbClr val="FC8B6B"/>
          </a:solidFill>
          <a:ln w="508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29" name="Ellipse 29"/>
          <p:cNvSpPr/>
          <p:nvPr/>
        </p:nvSpPr>
        <p:spPr>
          <a:xfrm>
            <a:off x="2557603" y="4265477"/>
            <a:ext cx="183631" cy="183631"/>
          </a:xfrm>
          <a:prstGeom prst="ellipse">
            <a:avLst/>
          </a:prstGeom>
          <a:solidFill>
            <a:srgbClr val="C98A3D"/>
          </a:solidFill>
          <a:ln w="12700">
            <a:solidFill>
              <a:srgbClr val="C98A3D"/>
            </a:solidFill>
          </a:ln>
        </p:spPr>
        <p:txBody>
          <a:bodyPr/>
          <a:lstStyle/>
          <a:p/>
        </p:txBody>
      </p:sp>
      <p:sp>
        <p:nvSpPr>
          <p:cNvPr id="30" name="Rect 30"/>
          <p:cNvSpPr/>
          <p:nvPr/>
        </p:nvSpPr>
        <p:spPr>
          <a:xfrm>
            <a:off x="22042621" y="3342746"/>
            <a:ext cx="2365833" cy="1394609"/>
          </a:xfrm>
          <a:prstGeom prst="rect">
            <a:avLst/>
          </a:prstGeom>
          <a:solidFill>
            <a:srgbClr val="FC8B6B"/>
          </a:solidFill>
          <a:ln w="508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1" name="Ellipse 31"/>
          <p:cNvSpPr/>
          <p:nvPr/>
        </p:nvSpPr>
        <p:spPr>
          <a:xfrm>
            <a:off x="6057266" y="7297331"/>
            <a:ext cx="183631" cy="183631"/>
          </a:xfrm>
          <a:prstGeom prst="ellipse">
            <a:avLst/>
          </a:prstGeom>
          <a:solidFill>
            <a:srgbClr val="C98A3D"/>
          </a:solidFill>
          <a:ln w="12700">
            <a:solidFill>
              <a:srgbClr val="C98A3D"/>
            </a:solidFill>
          </a:ln>
        </p:spPr>
        <p:txBody>
          <a:bodyPr/>
          <a:lstStyle/>
          <a:p/>
        </p:txBody>
      </p:sp>
      <p:sp>
        <p:nvSpPr>
          <p:cNvPr id="32" name="Rect 32"/>
          <p:cNvSpPr/>
          <p:nvPr/>
        </p:nvSpPr>
        <p:spPr>
          <a:xfrm>
            <a:off x="24408624" y="3342746"/>
            <a:ext cx="2365833" cy="1394609"/>
          </a:xfrm>
          <a:prstGeom prst="rect">
            <a:avLst/>
          </a:prstGeom>
          <a:solidFill>
            <a:srgbClr val="FCA689"/>
          </a:solidFill>
          <a:ln w="508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3" name="Ellipse 33"/>
          <p:cNvSpPr/>
          <p:nvPr/>
        </p:nvSpPr>
        <p:spPr>
          <a:xfrm>
            <a:off x="9400258" y="7297331"/>
            <a:ext cx="183631" cy="183631"/>
          </a:xfrm>
          <a:prstGeom prst="ellipse">
            <a:avLst/>
          </a:prstGeom>
          <a:solidFill>
            <a:srgbClr val="C98A3D"/>
          </a:solidFill>
          <a:ln w="12700">
            <a:solidFill>
              <a:srgbClr val="C98A3D"/>
            </a:solidFill>
          </a:ln>
        </p:spPr>
        <p:txBody>
          <a:bodyPr/>
          <a:lstStyle/>
          <a:p/>
        </p:txBody>
      </p:sp>
      <p:sp>
        <p:nvSpPr>
          <p:cNvPr id="34" name="Rect 34"/>
          <p:cNvSpPr/>
          <p:nvPr/>
        </p:nvSpPr>
        <p:spPr>
          <a:xfrm>
            <a:off x="17310785" y="4737355"/>
            <a:ext cx="2365833" cy="1394609"/>
          </a:xfrm>
          <a:prstGeom prst="rect">
            <a:avLst/>
          </a:prstGeom>
          <a:solidFill>
            <a:srgbClr val="D92523"/>
          </a:solidFill>
          <a:ln w="508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5" name="Ellipse 35"/>
          <p:cNvSpPr/>
          <p:nvPr/>
        </p:nvSpPr>
        <p:spPr>
          <a:xfrm>
            <a:off x="12451442" y="7892477"/>
            <a:ext cx="183631" cy="183631"/>
          </a:xfrm>
          <a:prstGeom prst="ellipse">
            <a:avLst/>
          </a:prstGeom>
          <a:solidFill>
            <a:srgbClr val="C98A3D"/>
          </a:solidFill>
          <a:ln w="12700">
            <a:solidFill>
              <a:srgbClr val="C98A3D"/>
            </a:solidFill>
          </a:ln>
        </p:spPr>
        <p:txBody>
          <a:bodyPr/>
          <a:lstStyle/>
          <a:p/>
        </p:txBody>
      </p:sp>
      <p:sp>
        <p:nvSpPr>
          <p:cNvPr id="36" name="Rect 36"/>
          <p:cNvSpPr/>
          <p:nvPr/>
        </p:nvSpPr>
        <p:spPr>
          <a:xfrm>
            <a:off x="19676788" y="4737355"/>
            <a:ext cx="2365833" cy="1394609"/>
          </a:xfrm>
          <a:prstGeom prst="rect">
            <a:avLst/>
          </a:prstGeom>
          <a:solidFill>
            <a:srgbClr val="FA6849"/>
          </a:solidFill>
          <a:ln w="508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7" name="Line 37"/>
          <p:cNvSpPr/>
          <p:nvPr/>
        </p:nvSpPr>
        <p:spPr>
          <a:xfrm>
            <a:off x="2649503" y="5652625"/>
            <a:ext cx="3499663" cy="1204366"/>
          </a:xfrm>
          <a:prstGeom prst="line">
            <a:avLst/>
          </a:prstGeom>
          <a:noFill/>
          <a:ln w="10160">
            <a:solidFill>
              <a:srgbClr val="1F6F78"/>
            </a:solidFill>
          </a:ln>
        </p:spPr>
        <p:txBody>
          <a:bodyPr/>
          <a:lstStyle/>
          <a:p/>
        </p:txBody>
      </p:sp>
      <p:sp>
        <p:nvSpPr>
          <p:cNvPr id="38" name="Line 38"/>
          <p:cNvSpPr/>
          <p:nvPr/>
        </p:nvSpPr>
        <p:spPr>
          <a:xfrm>
            <a:off x="6149166" y="6856991"/>
            <a:ext cx="3342992" cy="532071"/>
          </a:xfrm>
          <a:prstGeom prst="line">
            <a:avLst/>
          </a:prstGeom>
          <a:noFill/>
          <a:ln w="10160">
            <a:solidFill>
              <a:srgbClr val="1F6F78"/>
            </a:solidFill>
          </a:ln>
        </p:spPr>
        <p:txBody>
          <a:bodyPr/>
          <a:lstStyle/>
          <a:p/>
        </p:txBody>
      </p:sp>
      <p:sp>
        <p:nvSpPr>
          <p:cNvPr id="39" name="Line 39"/>
          <p:cNvSpPr/>
          <p:nvPr/>
        </p:nvSpPr>
        <p:spPr>
          <a:xfrm>
            <a:off x="9492158" y="7389061"/>
            <a:ext cx="3051184" cy="854230"/>
          </a:xfrm>
          <a:prstGeom prst="line">
            <a:avLst/>
          </a:prstGeom>
          <a:noFill/>
          <a:ln w="10160">
            <a:solidFill>
              <a:srgbClr val="1F6F78"/>
            </a:solidFill>
          </a:ln>
        </p:spPr>
        <p:txBody>
          <a:bodyPr/>
          <a:lstStyle/>
          <a:p/>
        </p:txBody>
      </p:sp>
      <p:sp>
        <p:nvSpPr>
          <p:cNvPr id="40" name="Rect 40"/>
          <p:cNvSpPr/>
          <p:nvPr/>
        </p:nvSpPr>
        <p:spPr>
          <a:xfrm>
            <a:off x="22042621" y="4737355"/>
            <a:ext cx="2365833" cy="1394609"/>
          </a:xfrm>
          <a:prstGeom prst="rect">
            <a:avLst/>
          </a:prstGeom>
          <a:solidFill>
            <a:srgbClr val="FB7555"/>
          </a:solidFill>
          <a:ln w="508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41" name="Ellipse 41"/>
          <p:cNvSpPr/>
          <p:nvPr/>
        </p:nvSpPr>
        <p:spPr>
          <a:xfrm>
            <a:off x="2557603" y="5042727"/>
            <a:ext cx="183631" cy="183631"/>
          </a:xfrm>
          <a:prstGeom prst="ellipse">
            <a:avLst/>
          </a:prstGeom>
          <a:solidFill>
            <a:srgbClr val="C98A3D"/>
          </a:solidFill>
          <a:ln w="12700">
            <a:solidFill>
              <a:srgbClr val="C98A3D"/>
            </a:solidFill>
          </a:ln>
        </p:spPr>
        <p:txBody>
          <a:bodyPr/>
          <a:lstStyle/>
          <a:p/>
        </p:txBody>
      </p:sp>
      <p:sp>
        <p:nvSpPr>
          <p:cNvPr id="42" name="Rect 42"/>
          <p:cNvSpPr/>
          <p:nvPr/>
        </p:nvSpPr>
        <p:spPr>
          <a:xfrm>
            <a:off x="24408624" y="4737355"/>
            <a:ext cx="2365833" cy="1394609"/>
          </a:xfrm>
          <a:prstGeom prst="rect">
            <a:avLst/>
          </a:prstGeom>
          <a:solidFill>
            <a:srgbClr val="FC9B7C"/>
          </a:solidFill>
          <a:ln w="508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43" name="Ellipse 43"/>
          <p:cNvSpPr/>
          <p:nvPr/>
        </p:nvSpPr>
        <p:spPr>
          <a:xfrm>
            <a:off x="6057266" y="6499055"/>
            <a:ext cx="183631" cy="183631"/>
          </a:xfrm>
          <a:prstGeom prst="ellipse">
            <a:avLst/>
          </a:prstGeom>
          <a:solidFill>
            <a:srgbClr val="C98A3D"/>
          </a:solidFill>
          <a:ln w="12700">
            <a:solidFill>
              <a:srgbClr val="C98A3D"/>
            </a:solidFill>
          </a:ln>
        </p:spPr>
        <p:txBody>
          <a:bodyPr/>
          <a:lstStyle/>
          <a:p/>
        </p:txBody>
      </p:sp>
      <p:sp>
        <p:nvSpPr>
          <p:cNvPr id="44" name="Rect 44"/>
          <p:cNvSpPr/>
          <p:nvPr/>
        </p:nvSpPr>
        <p:spPr>
          <a:xfrm>
            <a:off x="17310785" y="6131964"/>
            <a:ext cx="2365833" cy="1394609"/>
          </a:xfrm>
          <a:prstGeom prst="rect">
            <a:avLst/>
          </a:prstGeom>
          <a:solidFill>
            <a:srgbClr val="ED392B"/>
          </a:solidFill>
          <a:ln w="508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45" name="Ellipse 45"/>
          <p:cNvSpPr/>
          <p:nvPr/>
        </p:nvSpPr>
        <p:spPr>
          <a:xfrm>
            <a:off x="9400258" y="6765091"/>
            <a:ext cx="183631" cy="183631"/>
          </a:xfrm>
          <a:prstGeom prst="ellipse">
            <a:avLst/>
          </a:prstGeom>
          <a:solidFill>
            <a:srgbClr val="C98A3D"/>
          </a:solidFill>
          <a:ln w="12700">
            <a:solidFill>
              <a:srgbClr val="C98A3D"/>
            </a:solidFill>
          </a:ln>
        </p:spPr>
        <p:txBody>
          <a:bodyPr/>
          <a:lstStyle/>
          <a:p/>
        </p:txBody>
      </p:sp>
      <p:sp>
        <p:nvSpPr>
          <p:cNvPr id="46" name="Rect 46"/>
          <p:cNvSpPr/>
          <p:nvPr/>
        </p:nvSpPr>
        <p:spPr>
          <a:xfrm>
            <a:off x="19676788" y="6131964"/>
            <a:ext cx="2365833" cy="1394609"/>
          </a:xfrm>
          <a:prstGeom prst="rect">
            <a:avLst/>
          </a:prstGeom>
          <a:solidFill>
            <a:srgbClr val="FB7555"/>
          </a:solidFill>
          <a:ln w="508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47" name="Ellipse 47"/>
          <p:cNvSpPr/>
          <p:nvPr/>
        </p:nvSpPr>
        <p:spPr>
          <a:xfrm>
            <a:off x="12451442" y="7633394"/>
            <a:ext cx="183631" cy="183631"/>
          </a:xfrm>
          <a:prstGeom prst="ellipse">
            <a:avLst/>
          </a:prstGeom>
          <a:solidFill>
            <a:srgbClr val="C98A3D"/>
          </a:solidFill>
          <a:ln w="12700">
            <a:solidFill>
              <a:srgbClr val="C98A3D"/>
            </a:solidFill>
          </a:ln>
        </p:spPr>
        <p:txBody>
          <a:bodyPr/>
          <a:lstStyle/>
          <a:p/>
        </p:txBody>
      </p:sp>
      <p:sp>
        <p:nvSpPr>
          <p:cNvPr id="48" name="Rect 48"/>
          <p:cNvSpPr/>
          <p:nvPr/>
        </p:nvSpPr>
        <p:spPr>
          <a:xfrm>
            <a:off x="22042621" y="6131964"/>
            <a:ext cx="2365833" cy="1394609"/>
          </a:xfrm>
          <a:prstGeom prst="rect">
            <a:avLst/>
          </a:prstGeom>
          <a:solidFill>
            <a:srgbClr val="FC8B6B"/>
          </a:solidFill>
          <a:ln w="508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49" name="Line 49"/>
          <p:cNvSpPr/>
          <p:nvPr/>
        </p:nvSpPr>
        <p:spPr>
          <a:xfrm>
            <a:off x="2649503" y="5911709"/>
            <a:ext cx="3499663" cy="1743388"/>
          </a:xfrm>
          <a:prstGeom prst="line">
            <a:avLst/>
          </a:prstGeom>
          <a:noFill/>
          <a:ln w="10160">
            <a:solidFill>
              <a:srgbClr val="1F6F78"/>
            </a:solidFill>
          </a:ln>
        </p:spPr>
        <p:txBody>
          <a:bodyPr/>
          <a:lstStyle/>
          <a:p/>
        </p:txBody>
      </p:sp>
      <p:sp>
        <p:nvSpPr>
          <p:cNvPr id="50" name="Line 50"/>
          <p:cNvSpPr/>
          <p:nvPr/>
        </p:nvSpPr>
        <p:spPr>
          <a:xfrm flipV="1">
            <a:off x="6149166" y="7389061"/>
            <a:ext cx="3342992" cy="266035"/>
          </a:xfrm>
          <a:prstGeom prst="line">
            <a:avLst/>
          </a:prstGeom>
          <a:noFill/>
          <a:ln w="10160">
            <a:solidFill>
              <a:srgbClr val="1F6F78"/>
            </a:solidFill>
          </a:ln>
        </p:spPr>
        <p:txBody>
          <a:bodyPr/>
          <a:lstStyle/>
          <a:p/>
        </p:txBody>
      </p:sp>
      <p:sp>
        <p:nvSpPr>
          <p:cNvPr id="51" name="Line 51"/>
          <p:cNvSpPr/>
          <p:nvPr/>
        </p:nvSpPr>
        <p:spPr>
          <a:xfrm>
            <a:off x="9492158" y="7389061"/>
            <a:ext cx="3051184" cy="595146"/>
          </a:xfrm>
          <a:prstGeom prst="line">
            <a:avLst/>
          </a:prstGeom>
          <a:noFill/>
          <a:ln w="10160">
            <a:solidFill>
              <a:srgbClr val="1F6F78"/>
            </a:solidFill>
          </a:ln>
        </p:spPr>
        <p:txBody>
          <a:bodyPr/>
          <a:lstStyle/>
          <a:p/>
        </p:txBody>
      </p:sp>
      <p:sp>
        <p:nvSpPr>
          <p:cNvPr id="52" name="Rect 52"/>
          <p:cNvSpPr/>
          <p:nvPr/>
        </p:nvSpPr>
        <p:spPr>
          <a:xfrm>
            <a:off x="24408624" y="6131964"/>
            <a:ext cx="2365833" cy="1394609"/>
          </a:xfrm>
          <a:prstGeom prst="rect">
            <a:avLst/>
          </a:prstGeom>
          <a:solidFill>
            <a:srgbClr val="FCB296"/>
          </a:solidFill>
          <a:ln w="508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53" name="Ellipse 53"/>
          <p:cNvSpPr/>
          <p:nvPr/>
        </p:nvSpPr>
        <p:spPr>
          <a:xfrm>
            <a:off x="2557603" y="5560894"/>
            <a:ext cx="183631" cy="183631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</a:ln>
        </p:spPr>
        <p:txBody>
          <a:bodyPr/>
          <a:lstStyle/>
          <a:p/>
        </p:txBody>
      </p:sp>
      <p:sp>
        <p:nvSpPr>
          <p:cNvPr id="54" name="Rect 54"/>
          <p:cNvSpPr/>
          <p:nvPr/>
        </p:nvSpPr>
        <p:spPr>
          <a:xfrm>
            <a:off x="17310785" y="7526572"/>
            <a:ext cx="2365833" cy="1394609"/>
          </a:xfrm>
          <a:prstGeom prst="rect">
            <a:avLst/>
          </a:prstGeom>
          <a:solidFill>
            <a:srgbClr val="F24633"/>
          </a:solidFill>
          <a:ln w="508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55" name="Ellipse 55"/>
          <p:cNvSpPr/>
          <p:nvPr/>
        </p:nvSpPr>
        <p:spPr>
          <a:xfrm>
            <a:off x="6057266" y="6765091"/>
            <a:ext cx="183631" cy="183631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</a:ln>
        </p:spPr>
        <p:txBody>
          <a:bodyPr/>
          <a:lstStyle/>
          <a:p/>
        </p:txBody>
      </p:sp>
      <p:sp>
        <p:nvSpPr>
          <p:cNvPr id="56" name="Rect 56"/>
          <p:cNvSpPr/>
          <p:nvPr/>
        </p:nvSpPr>
        <p:spPr>
          <a:xfrm>
            <a:off x="19676788" y="7526572"/>
            <a:ext cx="2365833" cy="1394609"/>
          </a:xfrm>
          <a:prstGeom prst="rect">
            <a:avLst/>
          </a:prstGeom>
          <a:solidFill>
            <a:srgbClr val="FC9777"/>
          </a:solidFill>
          <a:ln w="508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57" name="Ellipse 57"/>
          <p:cNvSpPr/>
          <p:nvPr/>
        </p:nvSpPr>
        <p:spPr>
          <a:xfrm>
            <a:off x="9400258" y="7297331"/>
            <a:ext cx="183631" cy="183631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</a:ln>
        </p:spPr>
        <p:txBody>
          <a:bodyPr/>
          <a:lstStyle/>
          <a:p/>
        </p:txBody>
      </p:sp>
      <p:sp>
        <p:nvSpPr>
          <p:cNvPr id="58" name="Rect 58"/>
          <p:cNvSpPr/>
          <p:nvPr/>
        </p:nvSpPr>
        <p:spPr>
          <a:xfrm>
            <a:off x="22042621" y="7526572"/>
            <a:ext cx="2365833" cy="1394609"/>
          </a:xfrm>
          <a:prstGeom prst="rect">
            <a:avLst/>
          </a:prstGeom>
          <a:solidFill>
            <a:srgbClr val="FC8B6B"/>
          </a:solidFill>
          <a:ln w="508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59" name="Ellipse 59"/>
          <p:cNvSpPr/>
          <p:nvPr/>
        </p:nvSpPr>
        <p:spPr>
          <a:xfrm>
            <a:off x="12451442" y="8151391"/>
            <a:ext cx="183631" cy="183631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</a:ln>
        </p:spPr>
        <p:txBody>
          <a:bodyPr/>
          <a:lstStyle/>
          <a:p/>
        </p:txBody>
      </p:sp>
      <p:sp>
        <p:nvSpPr>
          <p:cNvPr id="60" name="Rect 60"/>
          <p:cNvSpPr/>
          <p:nvPr/>
        </p:nvSpPr>
        <p:spPr>
          <a:xfrm>
            <a:off x="24408624" y="7526572"/>
            <a:ext cx="2365833" cy="1394609"/>
          </a:xfrm>
          <a:prstGeom prst="rect">
            <a:avLst/>
          </a:prstGeom>
          <a:solidFill>
            <a:srgbClr val="FCA689"/>
          </a:solidFill>
          <a:ln w="508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61" name="Line 61"/>
          <p:cNvSpPr/>
          <p:nvPr/>
        </p:nvSpPr>
        <p:spPr>
          <a:xfrm>
            <a:off x="2649503" y="4875544"/>
            <a:ext cx="3499663" cy="1715411"/>
          </a:xfrm>
          <a:prstGeom prst="line">
            <a:avLst/>
          </a:prstGeom>
          <a:noFill/>
          <a:ln w="10160">
            <a:solidFill>
              <a:srgbClr val="1F6F78"/>
            </a:solidFill>
          </a:ln>
        </p:spPr>
        <p:txBody>
          <a:bodyPr/>
          <a:lstStyle/>
          <a:p/>
        </p:txBody>
      </p:sp>
      <p:sp>
        <p:nvSpPr>
          <p:cNvPr id="62" name="Line 62"/>
          <p:cNvSpPr/>
          <p:nvPr/>
        </p:nvSpPr>
        <p:spPr>
          <a:xfrm>
            <a:off x="6149166" y="6590955"/>
            <a:ext cx="3342992" cy="266035"/>
          </a:xfrm>
          <a:prstGeom prst="line">
            <a:avLst/>
          </a:prstGeom>
          <a:noFill/>
          <a:ln w="10160">
            <a:solidFill>
              <a:srgbClr val="1F6F78"/>
            </a:solidFill>
          </a:ln>
        </p:spPr>
        <p:txBody>
          <a:bodyPr/>
          <a:lstStyle/>
          <a:p/>
        </p:txBody>
      </p:sp>
      <p:sp>
        <p:nvSpPr>
          <p:cNvPr id="63" name="Line 63"/>
          <p:cNvSpPr/>
          <p:nvPr/>
        </p:nvSpPr>
        <p:spPr>
          <a:xfrm>
            <a:off x="9492158" y="6856991"/>
            <a:ext cx="3051184" cy="1645384"/>
          </a:xfrm>
          <a:prstGeom prst="line">
            <a:avLst/>
          </a:prstGeom>
          <a:noFill/>
          <a:ln w="10160">
            <a:solidFill>
              <a:srgbClr val="1F6F78"/>
            </a:solidFill>
          </a:ln>
        </p:spPr>
        <p:txBody>
          <a:bodyPr/>
          <a:lstStyle/>
          <a:p/>
        </p:txBody>
      </p:sp>
      <p:sp>
        <p:nvSpPr>
          <p:cNvPr id="64" name="Rect 64"/>
          <p:cNvSpPr/>
          <p:nvPr/>
        </p:nvSpPr>
        <p:spPr>
          <a:xfrm>
            <a:off x="17310785" y="8921181"/>
            <a:ext cx="2365833" cy="1394609"/>
          </a:xfrm>
          <a:prstGeom prst="rect">
            <a:avLst/>
          </a:prstGeom>
          <a:solidFill>
            <a:srgbClr val="CF1C1F"/>
          </a:solidFill>
          <a:ln w="508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65" name="Ellipse 65"/>
          <p:cNvSpPr/>
          <p:nvPr/>
        </p:nvSpPr>
        <p:spPr>
          <a:xfrm>
            <a:off x="2557603" y="5819978"/>
            <a:ext cx="183631" cy="183631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</a:ln>
        </p:spPr>
        <p:txBody>
          <a:bodyPr/>
          <a:lstStyle/>
          <a:p/>
        </p:txBody>
      </p:sp>
      <p:sp>
        <p:nvSpPr>
          <p:cNvPr id="66" name="Rect 66"/>
          <p:cNvSpPr/>
          <p:nvPr/>
        </p:nvSpPr>
        <p:spPr>
          <a:xfrm>
            <a:off x="19676788" y="8921181"/>
            <a:ext cx="2365833" cy="1394609"/>
          </a:xfrm>
          <a:prstGeom prst="rect">
            <a:avLst/>
          </a:prstGeom>
          <a:solidFill>
            <a:srgbClr val="FA6849"/>
          </a:solidFill>
          <a:ln w="508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67" name="Ellipse 67"/>
          <p:cNvSpPr/>
          <p:nvPr/>
        </p:nvSpPr>
        <p:spPr>
          <a:xfrm>
            <a:off x="6057266" y="7563366"/>
            <a:ext cx="183631" cy="183631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</a:ln>
        </p:spPr>
        <p:txBody>
          <a:bodyPr/>
          <a:lstStyle/>
          <a:p/>
        </p:txBody>
      </p:sp>
      <p:sp>
        <p:nvSpPr>
          <p:cNvPr id="68" name="Rect 68"/>
          <p:cNvSpPr/>
          <p:nvPr/>
        </p:nvSpPr>
        <p:spPr>
          <a:xfrm>
            <a:off x="22042621" y="8921181"/>
            <a:ext cx="2365833" cy="1394609"/>
          </a:xfrm>
          <a:prstGeom prst="rect">
            <a:avLst/>
          </a:prstGeom>
          <a:solidFill>
            <a:srgbClr val="FB7555"/>
          </a:solidFill>
          <a:ln w="508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69" name="Ellipse 69"/>
          <p:cNvSpPr/>
          <p:nvPr/>
        </p:nvSpPr>
        <p:spPr>
          <a:xfrm>
            <a:off x="9400258" y="7297331"/>
            <a:ext cx="183631" cy="183631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</a:ln>
        </p:spPr>
        <p:txBody>
          <a:bodyPr/>
          <a:lstStyle/>
          <a:p/>
        </p:txBody>
      </p:sp>
      <p:sp>
        <p:nvSpPr>
          <p:cNvPr id="70" name="Rect 70"/>
          <p:cNvSpPr/>
          <p:nvPr/>
        </p:nvSpPr>
        <p:spPr>
          <a:xfrm>
            <a:off x="24408624" y="8921181"/>
            <a:ext cx="2365833" cy="1394609"/>
          </a:xfrm>
          <a:prstGeom prst="rect">
            <a:avLst/>
          </a:prstGeom>
          <a:solidFill>
            <a:srgbClr val="FCBDA4"/>
          </a:solidFill>
          <a:ln w="508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71" name="Ellipse 71"/>
          <p:cNvSpPr/>
          <p:nvPr/>
        </p:nvSpPr>
        <p:spPr>
          <a:xfrm>
            <a:off x="12451442" y="7892477"/>
            <a:ext cx="183631" cy="183631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</a:ln>
        </p:spPr>
        <p:txBody>
          <a:bodyPr/>
          <a:lstStyle/>
          <a:p/>
        </p:txBody>
      </p:sp>
      <p:sp>
        <p:nvSpPr>
          <p:cNvPr id="72" name="Line 72"/>
          <p:cNvSpPr/>
          <p:nvPr/>
        </p:nvSpPr>
        <p:spPr>
          <a:xfrm>
            <a:off x="2649503" y="4832307"/>
            <a:ext cx="3499663" cy="2068938"/>
          </a:xfrm>
          <a:prstGeom prst="line">
            <a:avLst/>
          </a:prstGeom>
          <a:noFill/>
          <a:ln w="20320">
            <a:solidFill>
              <a:srgbClr val="2B2B2B"/>
            </a:solidFill>
          </a:ln>
        </p:spPr>
        <p:txBody>
          <a:bodyPr/>
          <a:lstStyle/>
          <a:p/>
        </p:txBody>
      </p:sp>
      <p:sp>
        <p:nvSpPr>
          <p:cNvPr id="73" name="Line 73"/>
          <p:cNvSpPr/>
          <p:nvPr/>
        </p:nvSpPr>
        <p:spPr>
          <a:xfrm>
            <a:off x="6149166" y="6901245"/>
            <a:ext cx="3342992" cy="221781"/>
          </a:xfrm>
          <a:prstGeom prst="line">
            <a:avLst/>
          </a:prstGeom>
          <a:noFill/>
          <a:ln w="20320">
            <a:solidFill>
              <a:srgbClr val="2B2B2B"/>
            </a:solidFill>
          </a:ln>
        </p:spPr>
        <p:txBody>
          <a:bodyPr/>
          <a:lstStyle/>
          <a:p/>
        </p:txBody>
      </p:sp>
      <p:sp>
        <p:nvSpPr>
          <p:cNvPr id="74" name="Line 74"/>
          <p:cNvSpPr/>
          <p:nvPr/>
        </p:nvSpPr>
        <p:spPr>
          <a:xfrm>
            <a:off x="9492158" y="7123026"/>
            <a:ext cx="3051184" cy="1033961"/>
          </a:xfrm>
          <a:prstGeom prst="line">
            <a:avLst/>
          </a:prstGeom>
          <a:noFill/>
          <a:ln w="20320">
            <a:solidFill>
              <a:srgbClr val="2B2B2B"/>
            </a:solidFill>
          </a:ln>
        </p:spPr>
        <p:txBody>
          <a:bodyPr/>
          <a:lstStyle/>
          <a:p/>
        </p:txBody>
      </p:sp>
      <p:sp>
        <p:nvSpPr>
          <p:cNvPr id="75" name="Ellipse 75"/>
          <p:cNvSpPr/>
          <p:nvPr/>
        </p:nvSpPr>
        <p:spPr>
          <a:xfrm>
            <a:off x="2557603" y="4783644"/>
            <a:ext cx="183631" cy="183631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</a:ln>
        </p:spPr>
        <p:txBody>
          <a:bodyPr/>
          <a:lstStyle/>
          <a:p/>
        </p:txBody>
      </p:sp>
      <p:sp>
        <p:nvSpPr>
          <p:cNvPr id="76" name="Rect 76"/>
          <p:cNvSpPr/>
          <p:nvPr/>
        </p:nvSpPr>
        <p:spPr>
          <a:xfrm>
            <a:off x="27153079" y="1948137"/>
            <a:ext cx="473234" cy="83676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7" name="Ellipse 77"/>
          <p:cNvSpPr/>
          <p:nvPr/>
        </p:nvSpPr>
        <p:spPr>
          <a:xfrm>
            <a:off x="6057266" y="6499055"/>
            <a:ext cx="183631" cy="183631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</a:ln>
        </p:spPr>
        <p:txBody>
          <a:bodyPr/>
          <a:lstStyle/>
          <a:p/>
        </p:txBody>
      </p:sp>
      <p:sp>
        <p:nvSpPr>
          <p:cNvPr id="78" name="Rect 78"/>
          <p:cNvSpPr/>
          <p:nvPr/>
        </p:nvSpPr>
        <p:spPr>
          <a:xfrm>
            <a:off x="27153079" y="10036869"/>
            <a:ext cx="473234" cy="278922"/>
          </a:xfrm>
          <a:prstGeom prst="rect">
            <a:avLst/>
          </a:prstGeom>
          <a:solidFill>
            <a:srgbClr val="FFF2EC"/>
          </a:solidFill>
          <a:ln>
            <a:noFill/>
          </a:ln>
        </p:spPr>
        <p:txBody>
          <a:bodyPr/>
          <a:lstStyle/>
          <a:p/>
        </p:txBody>
      </p:sp>
      <p:sp>
        <p:nvSpPr>
          <p:cNvPr id="79" name="Ellipse 79"/>
          <p:cNvSpPr/>
          <p:nvPr/>
        </p:nvSpPr>
        <p:spPr>
          <a:xfrm>
            <a:off x="9400258" y="6765091"/>
            <a:ext cx="183631" cy="183631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</a:ln>
        </p:spPr>
        <p:txBody>
          <a:bodyPr/>
          <a:lstStyle/>
          <a:p/>
        </p:txBody>
      </p:sp>
      <p:sp>
        <p:nvSpPr>
          <p:cNvPr id="80" name="Rect 80"/>
          <p:cNvSpPr/>
          <p:nvPr/>
        </p:nvSpPr>
        <p:spPr>
          <a:xfrm>
            <a:off x="27153079" y="9757947"/>
            <a:ext cx="473234" cy="278922"/>
          </a:xfrm>
          <a:prstGeom prst="rect">
            <a:avLst/>
          </a:prstGeom>
          <a:solidFill>
            <a:srgbClr val="FFEDE5"/>
          </a:solidFill>
          <a:ln>
            <a:noFill/>
          </a:ln>
        </p:spPr>
        <p:txBody>
          <a:bodyPr/>
          <a:lstStyle/>
          <a:p/>
        </p:txBody>
      </p:sp>
      <p:sp>
        <p:nvSpPr>
          <p:cNvPr id="81" name="Ellipse 81"/>
          <p:cNvSpPr/>
          <p:nvPr/>
        </p:nvSpPr>
        <p:spPr>
          <a:xfrm>
            <a:off x="12451442" y="8410475"/>
            <a:ext cx="183631" cy="183631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</a:ln>
        </p:spPr>
        <p:txBody>
          <a:bodyPr/>
          <a:lstStyle/>
          <a:p/>
        </p:txBody>
      </p:sp>
      <p:sp>
        <p:nvSpPr>
          <p:cNvPr id="82" name="Rect 82"/>
          <p:cNvSpPr/>
          <p:nvPr/>
        </p:nvSpPr>
        <p:spPr>
          <a:xfrm>
            <a:off x="27153079" y="9479025"/>
            <a:ext cx="473234" cy="278922"/>
          </a:xfrm>
          <a:prstGeom prst="rect">
            <a:avLst/>
          </a:prstGeom>
          <a:solidFill>
            <a:srgbClr val="FEE7DC"/>
          </a:solidFill>
          <a:ln>
            <a:noFill/>
          </a:ln>
        </p:spPr>
        <p:txBody>
          <a:bodyPr/>
          <a:lstStyle/>
          <a:p/>
        </p:txBody>
      </p:sp>
      <p:sp>
        <p:nvSpPr>
          <p:cNvPr id="83" name="Line 83"/>
          <p:cNvSpPr/>
          <p:nvPr/>
        </p:nvSpPr>
        <p:spPr>
          <a:xfrm>
            <a:off x="2154734" y="9823565"/>
            <a:ext cx="10883206" cy="0"/>
          </a:xfrm>
          <a:prstGeom prst="line">
            <a:avLst/>
          </a:prstGeom>
          <a:noFill/>
          <a:ln w="12700">
            <a:solidFill>
              <a:srgbClr val="2E8B57"/>
            </a:solidFill>
            <a:prstDash val="dash"/>
          </a:ln>
        </p:spPr>
        <p:txBody>
          <a:bodyPr/>
          <a:lstStyle/>
          <a:p/>
        </p:txBody>
      </p:sp>
      <p:sp>
        <p:nvSpPr>
          <p:cNvPr id="84" name="Rect 84"/>
          <p:cNvSpPr/>
          <p:nvPr/>
        </p:nvSpPr>
        <p:spPr>
          <a:xfrm>
            <a:off x="27153079" y="9200103"/>
            <a:ext cx="473234" cy="278922"/>
          </a:xfrm>
          <a:prstGeom prst="rect">
            <a:avLst/>
          </a:prstGeom>
          <a:solidFill>
            <a:srgbClr val="FEE2D5"/>
          </a:solidFill>
          <a:ln>
            <a:noFill/>
          </a:ln>
        </p:spPr>
        <p:txBody>
          <a:bodyPr/>
          <a:lstStyle/>
          <a:p/>
        </p:txBody>
      </p:sp>
      <p:sp>
        <p:nvSpPr>
          <p:cNvPr id="85" name="Line 85"/>
          <p:cNvSpPr/>
          <p:nvPr/>
        </p:nvSpPr>
        <p:spPr>
          <a:xfrm flipV="1">
            <a:off x="2154734" y="1948137"/>
            <a:ext cx="0" cy="8367654"/>
          </a:xfrm>
          <a:prstGeom prst="line">
            <a:avLst/>
          </a:prstGeom>
          <a:noFill/>
          <a:ln w="7620">
            <a:solidFill>
              <a:srgbClr val="555555"/>
            </a:solidFill>
          </a:ln>
        </p:spPr>
        <p:txBody>
          <a:bodyPr/>
          <a:lstStyle/>
          <a:p/>
        </p:txBody>
      </p:sp>
      <p:sp>
        <p:nvSpPr>
          <p:cNvPr id="86" name="Rect 86"/>
          <p:cNvSpPr/>
          <p:nvPr/>
        </p:nvSpPr>
        <p:spPr>
          <a:xfrm>
            <a:off x="27153079" y="8921181"/>
            <a:ext cx="473234" cy="278922"/>
          </a:xfrm>
          <a:prstGeom prst="rect">
            <a:avLst/>
          </a:prstGeom>
          <a:solidFill>
            <a:srgbClr val="FED9C9"/>
          </a:solidFill>
          <a:ln>
            <a:noFill/>
          </a:ln>
        </p:spPr>
        <p:txBody>
          <a:bodyPr/>
          <a:lstStyle/>
          <a:p/>
        </p:txBody>
      </p:sp>
      <p:sp>
        <p:nvSpPr>
          <p:cNvPr id="87" name="Line 87"/>
          <p:cNvSpPr/>
          <p:nvPr/>
        </p:nvSpPr>
        <p:spPr>
          <a:xfrm>
            <a:off x="2154734" y="10315790"/>
            <a:ext cx="10883206" cy="0"/>
          </a:xfrm>
          <a:prstGeom prst="line">
            <a:avLst/>
          </a:prstGeom>
          <a:noFill/>
          <a:ln w="7620">
            <a:solidFill>
              <a:srgbClr val="555555"/>
            </a:solidFill>
          </a:ln>
        </p:spPr>
        <p:txBody>
          <a:bodyPr/>
          <a:lstStyle/>
          <a:p/>
        </p:txBody>
      </p:sp>
      <p:sp>
        <p:nvSpPr>
          <p:cNvPr id="88" name="Rect 88"/>
          <p:cNvSpPr/>
          <p:nvPr/>
        </p:nvSpPr>
        <p:spPr>
          <a:xfrm>
            <a:off x="27153079" y="8642260"/>
            <a:ext cx="473234" cy="278922"/>
          </a:xfrm>
          <a:prstGeom prst="rect">
            <a:avLst/>
          </a:prstGeom>
          <a:solidFill>
            <a:srgbClr val="FDD0BC"/>
          </a:solidFill>
          <a:ln>
            <a:noFill/>
          </a:ln>
        </p:spPr>
        <p:txBody>
          <a:bodyPr/>
          <a:lstStyle/>
          <a:p/>
        </p:txBody>
      </p:sp>
      <p:sp>
        <p:nvSpPr>
          <p:cNvPr id="89" name="Line 89"/>
          <p:cNvSpPr/>
          <p:nvPr/>
        </p:nvSpPr>
        <p:spPr>
          <a:xfrm>
            <a:off x="6621552" y="2483090"/>
            <a:ext cx="356070" cy="0"/>
          </a:xfrm>
          <a:prstGeom prst="line">
            <a:avLst/>
          </a:prstGeom>
          <a:noFill/>
          <a:ln w="10160">
            <a:solidFill>
              <a:srgbClr val="C98A3D"/>
            </a:solidFill>
          </a:ln>
        </p:spPr>
        <p:txBody>
          <a:bodyPr/>
          <a:lstStyle/>
          <a:p/>
        </p:txBody>
      </p:sp>
      <p:sp>
        <p:nvSpPr>
          <p:cNvPr id="90" name="Line 90"/>
          <p:cNvSpPr/>
          <p:nvPr/>
        </p:nvSpPr>
        <p:spPr>
          <a:xfrm>
            <a:off x="6977623" y="2483090"/>
            <a:ext cx="356070" cy="0"/>
          </a:xfrm>
          <a:prstGeom prst="line">
            <a:avLst/>
          </a:prstGeom>
          <a:noFill/>
          <a:ln w="10160">
            <a:solidFill>
              <a:srgbClr val="C98A3D"/>
            </a:solidFill>
          </a:ln>
        </p:spPr>
        <p:txBody>
          <a:bodyPr/>
          <a:lstStyle/>
          <a:p/>
        </p:txBody>
      </p:sp>
      <p:sp>
        <p:nvSpPr>
          <p:cNvPr id="91" name="Rect 91"/>
          <p:cNvSpPr/>
          <p:nvPr/>
        </p:nvSpPr>
        <p:spPr>
          <a:xfrm>
            <a:off x="27153079" y="8363338"/>
            <a:ext cx="473234" cy="278922"/>
          </a:xfrm>
          <a:prstGeom prst="rect">
            <a:avLst/>
          </a:prstGeom>
          <a:solidFill>
            <a:srgbClr val="FDC5AE"/>
          </a:solidFill>
          <a:ln>
            <a:noFill/>
          </a:ln>
        </p:spPr>
        <p:txBody>
          <a:bodyPr/>
          <a:lstStyle/>
          <a:p/>
        </p:txBody>
      </p:sp>
      <p:sp>
        <p:nvSpPr>
          <p:cNvPr id="92" name="Rect 92"/>
          <p:cNvSpPr/>
          <p:nvPr/>
        </p:nvSpPr>
        <p:spPr>
          <a:xfrm>
            <a:off x="27153079" y="8084416"/>
            <a:ext cx="473234" cy="278922"/>
          </a:xfrm>
          <a:prstGeom prst="rect">
            <a:avLst/>
          </a:prstGeom>
          <a:solidFill>
            <a:srgbClr val="FCBBA1"/>
          </a:solidFill>
          <a:ln>
            <a:noFill/>
          </a:ln>
        </p:spPr>
        <p:txBody>
          <a:bodyPr/>
          <a:lstStyle/>
          <a:p/>
        </p:txBody>
      </p:sp>
      <p:sp>
        <p:nvSpPr>
          <p:cNvPr id="93" name="Line 93"/>
          <p:cNvSpPr/>
          <p:nvPr/>
        </p:nvSpPr>
        <p:spPr>
          <a:xfrm>
            <a:off x="6621552" y="3224225"/>
            <a:ext cx="356070" cy="0"/>
          </a:xfrm>
          <a:prstGeom prst="line">
            <a:avLst/>
          </a:prstGeom>
          <a:noFill/>
          <a:ln w="10160">
            <a:solidFill>
              <a:srgbClr val="1F6F78"/>
            </a:solidFill>
          </a:ln>
        </p:spPr>
        <p:txBody>
          <a:bodyPr/>
          <a:lstStyle/>
          <a:p/>
        </p:txBody>
      </p:sp>
      <p:sp>
        <p:nvSpPr>
          <p:cNvPr id="94" name="Line 94"/>
          <p:cNvSpPr/>
          <p:nvPr/>
        </p:nvSpPr>
        <p:spPr>
          <a:xfrm>
            <a:off x="6977623" y="3224225"/>
            <a:ext cx="356070" cy="0"/>
          </a:xfrm>
          <a:prstGeom prst="line">
            <a:avLst/>
          </a:prstGeom>
          <a:noFill/>
          <a:ln w="10160">
            <a:solidFill>
              <a:srgbClr val="1F6F78"/>
            </a:solidFill>
          </a:ln>
        </p:spPr>
        <p:txBody>
          <a:bodyPr/>
          <a:lstStyle/>
          <a:p/>
        </p:txBody>
      </p:sp>
      <p:sp>
        <p:nvSpPr>
          <p:cNvPr id="95" name="Rect 95"/>
          <p:cNvSpPr/>
          <p:nvPr/>
        </p:nvSpPr>
        <p:spPr>
          <a:xfrm>
            <a:off x="27153079" y="7805494"/>
            <a:ext cx="473234" cy="278922"/>
          </a:xfrm>
          <a:prstGeom prst="rect">
            <a:avLst/>
          </a:prstGeom>
          <a:solidFill>
            <a:srgbClr val="FCB095"/>
          </a:solidFill>
          <a:ln>
            <a:noFill/>
          </a:ln>
        </p:spPr>
        <p:txBody>
          <a:bodyPr/>
          <a:lstStyle/>
          <a:p/>
        </p:txBody>
      </p:sp>
      <p:sp>
        <p:nvSpPr>
          <p:cNvPr id="96" name="Rect 96"/>
          <p:cNvSpPr/>
          <p:nvPr/>
        </p:nvSpPr>
        <p:spPr>
          <a:xfrm>
            <a:off x="27153079" y="7526572"/>
            <a:ext cx="473234" cy="278922"/>
          </a:xfrm>
          <a:prstGeom prst="rect">
            <a:avLst/>
          </a:prstGeom>
          <a:solidFill>
            <a:srgbClr val="FCA588"/>
          </a:solidFill>
          <a:ln>
            <a:noFill/>
          </a:ln>
        </p:spPr>
        <p:txBody>
          <a:bodyPr/>
          <a:lstStyle/>
          <a:p/>
        </p:txBody>
      </p:sp>
      <p:sp>
        <p:nvSpPr>
          <p:cNvPr id="97" name="Line 97"/>
          <p:cNvSpPr/>
          <p:nvPr/>
        </p:nvSpPr>
        <p:spPr>
          <a:xfrm>
            <a:off x="6621552" y="3965360"/>
            <a:ext cx="356070" cy="0"/>
          </a:xfrm>
          <a:prstGeom prst="line">
            <a:avLst/>
          </a:prstGeom>
          <a:noFill/>
          <a:ln w="20320">
            <a:solidFill>
              <a:srgbClr val="2B2B2B"/>
            </a:solidFill>
          </a:ln>
        </p:spPr>
        <p:txBody>
          <a:bodyPr/>
          <a:lstStyle/>
          <a:p/>
        </p:txBody>
      </p:sp>
      <p:sp>
        <p:nvSpPr>
          <p:cNvPr id="98" name="Line 98"/>
          <p:cNvSpPr/>
          <p:nvPr/>
        </p:nvSpPr>
        <p:spPr>
          <a:xfrm>
            <a:off x="6977623" y="3965360"/>
            <a:ext cx="356070" cy="0"/>
          </a:xfrm>
          <a:prstGeom prst="line">
            <a:avLst/>
          </a:prstGeom>
          <a:noFill/>
          <a:ln w="20320">
            <a:solidFill>
              <a:srgbClr val="2B2B2B"/>
            </a:solidFill>
          </a:ln>
        </p:spPr>
        <p:txBody>
          <a:bodyPr/>
          <a:lstStyle/>
          <a:p/>
        </p:txBody>
      </p:sp>
      <p:sp>
        <p:nvSpPr>
          <p:cNvPr id="99" name="Rect 99"/>
          <p:cNvSpPr/>
          <p:nvPr/>
        </p:nvSpPr>
        <p:spPr>
          <a:xfrm>
            <a:off x="27153079" y="7247651"/>
            <a:ext cx="473234" cy="278922"/>
          </a:xfrm>
          <a:prstGeom prst="rect">
            <a:avLst/>
          </a:prstGeom>
          <a:solidFill>
            <a:srgbClr val="FC9B7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" name="Rect 100"/>
          <p:cNvSpPr/>
          <p:nvPr/>
        </p:nvSpPr>
        <p:spPr>
          <a:xfrm>
            <a:off x="27153079" y="6968729"/>
            <a:ext cx="473234" cy="278922"/>
          </a:xfrm>
          <a:prstGeom prst="rect">
            <a:avLst/>
          </a:prstGeom>
          <a:solidFill>
            <a:srgbClr val="FC8F6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" name="Ellipse 101"/>
          <p:cNvSpPr/>
          <p:nvPr/>
        </p:nvSpPr>
        <p:spPr>
          <a:xfrm>
            <a:off x="6885723" y="2391359"/>
            <a:ext cx="183631" cy="183631"/>
          </a:xfrm>
          <a:prstGeom prst="ellipse">
            <a:avLst/>
          </a:prstGeom>
          <a:solidFill>
            <a:srgbClr val="C98A3D"/>
          </a:solidFill>
          <a:ln w="12700">
            <a:solidFill>
              <a:srgbClr val="C98A3D"/>
            </a:solidFill>
          </a:ln>
        </p:spPr>
        <p:txBody>
          <a:bodyPr/>
          <a:lstStyle/>
          <a:p/>
        </p:txBody>
      </p:sp>
      <p:sp>
        <p:nvSpPr>
          <p:cNvPr id="102" name="Rect 102"/>
          <p:cNvSpPr/>
          <p:nvPr/>
        </p:nvSpPr>
        <p:spPr>
          <a:xfrm>
            <a:off x="27153079" y="6689807"/>
            <a:ext cx="473234" cy="278922"/>
          </a:xfrm>
          <a:prstGeom prst="rect">
            <a:avLst/>
          </a:prstGeom>
          <a:solidFill>
            <a:srgbClr val="FC856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" name="Rect 103"/>
          <p:cNvSpPr/>
          <p:nvPr/>
        </p:nvSpPr>
        <p:spPr>
          <a:xfrm>
            <a:off x="27153079" y="6410885"/>
            <a:ext cx="473234" cy="278922"/>
          </a:xfrm>
          <a:prstGeom prst="rect">
            <a:avLst/>
          </a:prstGeom>
          <a:solidFill>
            <a:srgbClr val="FB7A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" name="Ellipse 104"/>
          <p:cNvSpPr/>
          <p:nvPr/>
        </p:nvSpPr>
        <p:spPr>
          <a:xfrm>
            <a:off x="6885723" y="3132325"/>
            <a:ext cx="183631" cy="183631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</a:ln>
        </p:spPr>
        <p:txBody>
          <a:bodyPr/>
          <a:lstStyle/>
          <a:p/>
        </p:txBody>
      </p:sp>
      <p:sp>
        <p:nvSpPr>
          <p:cNvPr id="105" name="Rect 105"/>
          <p:cNvSpPr/>
          <p:nvPr/>
        </p:nvSpPr>
        <p:spPr>
          <a:xfrm>
            <a:off x="27153079" y="6131964"/>
            <a:ext cx="473234" cy="278922"/>
          </a:xfrm>
          <a:prstGeom prst="rect">
            <a:avLst/>
          </a:prstGeom>
          <a:solidFill>
            <a:srgbClr val="FB705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" name="Rect 106"/>
          <p:cNvSpPr/>
          <p:nvPr/>
        </p:nvSpPr>
        <p:spPr>
          <a:xfrm>
            <a:off x="27153079" y="5853042"/>
            <a:ext cx="473234" cy="278922"/>
          </a:xfrm>
          <a:prstGeom prst="rect">
            <a:avLst/>
          </a:prstGeom>
          <a:solidFill>
            <a:srgbClr val="F9634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" name="Rect 107"/>
          <p:cNvSpPr/>
          <p:nvPr/>
        </p:nvSpPr>
        <p:spPr>
          <a:xfrm>
            <a:off x="27153079" y="5574120"/>
            <a:ext cx="473234" cy="278922"/>
          </a:xfrm>
          <a:prstGeom prst="rect">
            <a:avLst/>
          </a:prstGeom>
          <a:solidFill>
            <a:srgbClr val="F6583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" name="Rect 108"/>
          <p:cNvSpPr/>
          <p:nvPr/>
        </p:nvSpPr>
        <p:spPr>
          <a:xfrm>
            <a:off x="27153079" y="5295198"/>
            <a:ext cx="473234" cy="278922"/>
          </a:xfrm>
          <a:prstGeom prst="rect">
            <a:avLst/>
          </a:prstGeom>
          <a:solidFill>
            <a:srgbClr val="F34A3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" name="Rect 109"/>
          <p:cNvSpPr/>
          <p:nvPr/>
        </p:nvSpPr>
        <p:spPr>
          <a:xfrm>
            <a:off x="27153079" y="5016276"/>
            <a:ext cx="473234" cy="278922"/>
          </a:xfrm>
          <a:prstGeom prst="rect">
            <a:avLst/>
          </a:prstGeom>
          <a:solidFill>
            <a:srgbClr val="F03F2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" name="Rect 110"/>
          <p:cNvSpPr/>
          <p:nvPr/>
        </p:nvSpPr>
        <p:spPr>
          <a:xfrm>
            <a:off x="27153079" y="4737355"/>
            <a:ext cx="473234" cy="278922"/>
          </a:xfrm>
          <a:prstGeom prst="rect">
            <a:avLst/>
          </a:prstGeom>
          <a:solidFill>
            <a:srgbClr val="E8342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" name="Rect 111"/>
          <p:cNvSpPr/>
          <p:nvPr/>
        </p:nvSpPr>
        <p:spPr>
          <a:xfrm>
            <a:off x="27153079" y="4458433"/>
            <a:ext cx="473234" cy="278922"/>
          </a:xfrm>
          <a:prstGeom prst="rect">
            <a:avLst/>
          </a:prstGeom>
          <a:solidFill>
            <a:srgbClr val="DE2B2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" name="Rect 112"/>
          <p:cNvSpPr/>
          <p:nvPr/>
        </p:nvSpPr>
        <p:spPr>
          <a:xfrm>
            <a:off x="27153079" y="4179511"/>
            <a:ext cx="473234" cy="278922"/>
          </a:xfrm>
          <a:prstGeom prst="rect">
            <a:avLst/>
          </a:prstGeom>
          <a:solidFill>
            <a:srgbClr val="D4212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" name="Rect 113"/>
          <p:cNvSpPr/>
          <p:nvPr/>
        </p:nvSpPr>
        <p:spPr>
          <a:xfrm>
            <a:off x="27153079" y="3900589"/>
            <a:ext cx="473234" cy="278922"/>
          </a:xfrm>
          <a:prstGeom prst="rect">
            <a:avLst/>
          </a:prstGeom>
          <a:solidFill>
            <a:srgbClr val="CA181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" name="Rect 114"/>
          <p:cNvSpPr/>
          <p:nvPr/>
        </p:nvSpPr>
        <p:spPr>
          <a:xfrm>
            <a:off x="27153079" y="3621667"/>
            <a:ext cx="473234" cy="278922"/>
          </a:xfrm>
          <a:prstGeom prst="rect">
            <a:avLst/>
          </a:prstGeom>
          <a:solidFill>
            <a:srgbClr val="C1161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" name="Rect 115"/>
          <p:cNvSpPr/>
          <p:nvPr/>
        </p:nvSpPr>
        <p:spPr>
          <a:xfrm>
            <a:off x="27153079" y="3342746"/>
            <a:ext cx="473234" cy="278922"/>
          </a:xfrm>
          <a:prstGeom prst="rect">
            <a:avLst/>
          </a:prstGeom>
          <a:solidFill>
            <a:srgbClr val="B613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" name="Rect 116"/>
          <p:cNvSpPr/>
          <p:nvPr/>
        </p:nvSpPr>
        <p:spPr>
          <a:xfrm>
            <a:off x="27153079" y="3063824"/>
            <a:ext cx="473234" cy="278922"/>
          </a:xfrm>
          <a:prstGeom prst="rect">
            <a:avLst/>
          </a:prstGeom>
          <a:solidFill>
            <a:srgbClr val="AC1117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" name="Rect 117"/>
          <p:cNvSpPr/>
          <p:nvPr/>
        </p:nvSpPr>
        <p:spPr>
          <a:xfrm>
            <a:off x="27153079" y="2784902"/>
            <a:ext cx="473234" cy="278922"/>
          </a:xfrm>
          <a:prstGeom prst="rect">
            <a:avLst/>
          </a:prstGeom>
          <a:solidFill>
            <a:srgbClr val="9F0E1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" name="Rect 118"/>
          <p:cNvSpPr/>
          <p:nvPr/>
        </p:nvSpPr>
        <p:spPr>
          <a:xfrm>
            <a:off x="27153079" y="2505980"/>
            <a:ext cx="473234" cy="278922"/>
          </a:xfrm>
          <a:prstGeom prst="rect">
            <a:avLst/>
          </a:prstGeom>
          <a:solidFill>
            <a:srgbClr val="900A1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" name="Rect 119"/>
          <p:cNvSpPr/>
          <p:nvPr/>
        </p:nvSpPr>
        <p:spPr>
          <a:xfrm>
            <a:off x="27153079" y="2227058"/>
            <a:ext cx="473234" cy="278922"/>
          </a:xfrm>
          <a:prstGeom prst="rect">
            <a:avLst/>
          </a:prstGeom>
          <a:solidFill>
            <a:srgbClr val="7E0610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" name="Rect 120"/>
          <p:cNvSpPr/>
          <p:nvPr/>
        </p:nvSpPr>
        <p:spPr>
          <a:xfrm>
            <a:off x="27153079" y="1948137"/>
            <a:ext cx="473234" cy="278922"/>
          </a:xfrm>
          <a:prstGeom prst="rect">
            <a:avLst/>
          </a:prstGeom>
          <a:solidFill>
            <a:srgbClr val="6F020E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" name="Line 121"/>
          <p:cNvSpPr/>
          <p:nvPr/>
        </p:nvSpPr>
        <p:spPr>
          <a:xfrm flipV="1">
            <a:off x="17310785" y="1948137"/>
            <a:ext cx="0" cy="8367654"/>
          </a:xfrm>
          <a:prstGeom prst="line">
            <a:avLst/>
          </a:prstGeom>
          <a:noFill/>
          <a:ln w="7620">
            <a:solidFill>
              <a:srgbClr val="555555"/>
            </a:solidFill>
          </a:ln>
        </p:spPr>
        <p:txBody>
          <a:bodyPr/>
          <a:lstStyle/>
          <a:p/>
        </p:txBody>
      </p:sp>
      <p:sp>
        <p:nvSpPr>
          <p:cNvPr id="122" name="Line 122"/>
          <p:cNvSpPr/>
          <p:nvPr/>
        </p:nvSpPr>
        <p:spPr>
          <a:xfrm>
            <a:off x="17310785" y="10315790"/>
            <a:ext cx="9463672" cy="0"/>
          </a:xfrm>
          <a:prstGeom prst="line">
            <a:avLst/>
          </a:prstGeom>
          <a:noFill/>
          <a:ln w="7620">
            <a:solidFill>
              <a:srgbClr val="555555"/>
            </a:solidFill>
          </a:ln>
        </p:spPr>
        <p:txBody>
          <a:bodyPr/>
          <a:lstStyle/>
          <a:p/>
        </p:txBody>
      </p:sp>
      <p:sp>
        <p:nvSpPr>
          <p:cNvPr id="123" name="Line 123"/>
          <p:cNvSpPr/>
          <p:nvPr/>
        </p:nvSpPr>
        <p:spPr>
          <a:xfrm flipV="1">
            <a:off x="27153079" y="1948137"/>
            <a:ext cx="0" cy="8367654"/>
          </a:xfrm>
          <a:prstGeom prst="line">
            <a:avLst/>
          </a:prstGeom>
          <a:noFill/>
          <a:ln w="6350">
            <a:solidFill>
              <a:srgbClr val="555555"/>
            </a:solidFill>
          </a:ln>
        </p:spPr>
        <p:txBody>
          <a:bodyPr/>
          <a:lstStyle/>
          <a:p/>
        </p:txBody>
      </p:sp>
      <p:sp>
        <p:nvSpPr>
          <p:cNvPr id="124" name="Line 124"/>
          <p:cNvSpPr/>
          <p:nvPr/>
        </p:nvSpPr>
        <p:spPr>
          <a:xfrm>
            <a:off x="27153079" y="10315790"/>
            <a:ext cx="473234" cy="0"/>
          </a:xfrm>
          <a:prstGeom prst="line">
            <a:avLst/>
          </a:prstGeom>
          <a:noFill/>
          <a:ln w="6350">
            <a:solidFill>
              <a:srgbClr val="555555"/>
            </a:solidFill>
          </a:ln>
        </p:spPr>
        <p:txBody>
          <a:bodyPr/>
          <a:lstStyle/>
          <a:p/>
        </p:txBody>
      </p:sp>
      <p:sp>
        <p:nvSpPr>
          <p:cNvPr id="125" name="TextBox 125"/>
          <p:cNvSpPr txBox="1"/>
          <p:nvPr/>
        </p:nvSpPr>
        <p:spPr>
          <a:xfrm>
            <a:off x="2209501" y="10732562"/>
            <a:ext cx="879833" cy="5761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90">
                <a:solidFill>
                  <a:srgbClr val="555555"/>
                </a:solidFill>
                <a:latin typeface="Helvetica"/>
                <a:ea typeface="Helvetica"/>
                <a:cs typeface="Helvetica"/>
              </a:rPr>
              <a:t>-1.8</a:t>
            </a:r>
            <a:endParaRPr lang="zh-CN" sz="2190"/>
          </a:p>
        </p:txBody>
      </p:sp>
      <p:sp>
        <p:nvSpPr>
          <p:cNvPr id="126" name="TextBox 126"/>
          <p:cNvSpPr txBox="1"/>
          <p:nvPr/>
        </p:nvSpPr>
        <p:spPr>
          <a:xfrm>
            <a:off x="5709164" y="10732562"/>
            <a:ext cx="879833" cy="5761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90">
                <a:solidFill>
                  <a:srgbClr val="555555"/>
                </a:solidFill>
                <a:latin typeface="Helvetica"/>
                <a:ea typeface="Helvetica"/>
                <a:cs typeface="Helvetica"/>
              </a:rPr>
              <a:t>-0.5</a:t>
            </a:r>
            <a:endParaRPr lang="zh-CN" sz="2190"/>
          </a:p>
        </p:txBody>
      </p:sp>
      <p:sp>
        <p:nvSpPr>
          <p:cNvPr id="127" name="TextBox 127"/>
          <p:cNvSpPr txBox="1"/>
          <p:nvPr/>
        </p:nvSpPr>
        <p:spPr>
          <a:xfrm>
            <a:off x="9148296" y="10732562"/>
            <a:ext cx="687894" cy="5761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90">
                <a:solidFill>
                  <a:srgbClr val="555555"/>
                </a:solidFill>
                <a:latin typeface="Helvetica"/>
                <a:ea typeface="Helvetica"/>
                <a:cs typeface="Helvetica"/>
              </a:rPr>
              <a:t>0.8</a:t>
            </a:r>
            <a:endParaRPr lang="zh-CN" sz="2190"/>
          </a:p>
        </p:txBody>
      </p:sp>
      <p:sp>
        <p:nvSpPr>
          <p:cNvPr id="128" name="TextBox 128"/>
          <p:cNvSpPr txBox="1"/>
          <p:nvPr/>
        </p:nvSpPr>
        <p:spPr>
          <a:xfrm>
            <a:off x="12199480" y="10732562"/>
            <a:ext cx="687894" cy="5761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90">
                <a:solidFill>
                  <a:srgbClr val="555555"/>
                </a:solidFill>
                <a:latin typeface="Helvetica"/>
                <a:ea typeface="Helvetica"/>
                <a:cs typeface="Helvetica"/>
              </a:rPr>
              <a:t>2.0</a:t>
            </a:r>
            <a:endParaRPr lang="zh-CN" sz="2190"/>
          </a:p>
        </p:txBody>
      </p:sp>
      <p:sp>
        <p:nvSpPr>
          <p:cNvPr id="129" name="TextBox 129"/>
          <p:cNvSpPr txBox="1"/>
          <p:nvPr/>
        </p:nvSpPr>
        <p:spPr>
          <a:xfrm>
            <a:off x="1414617" y="11567632"/>
            <a:ext cx="12294093" cy="64482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440">
                <a:solidFill>
                  <a:srgbClr val="2B2B2B"/>
                </a:solidFill>
                <a:latin typeface="Helvetica"/>
                <a:ea typeface="Helvetica"/>
                <a:cs typeface="Helvetica"/>
              </a:rPr>
              <a:t>left-plate </a:t>
            </a:r>
            <a:r>
              <a:rPr lang="zh-CN" sz="2440" i="1">
                <a:solidFill>
                  <a:srgbClr val="2B2B2B"/>
                </a:solidFill>
                <a:latin typeface="Helvetica"/>
                <a:ea typeface="Helvetica"/>
                <a:cs typeface="Helvetica"/>
              </a:rPr>
              <a:t>x</a:t>
            </a:r>
            <a:r>
              <a:rPr lang="zh-CN" sz="2440">
                <a:solidFill>
                  <a:srgbClr val="2B2B2B"/>
                </a:solidFill>
                <a:latin typeface="Helvetica"/>
                <a:ea typeface="Helvetica"/>
                <a:cs typeface="Helvetica"/>
              </a:rPr>
              <a:t> at the anchor (cm; quartile-bin centres)</a:t>
            </a:r>
            <a:endParaRPr lang="zh-CN" sz="2440"/>
          </a:p>
        </p:txBody>
      </p:sp>
      <p:sp>
        <p:nvSpPr>
          <p:cNvPr id="130" name="TextBox 130"/>
          <p:cNvSpPr txBox="1"/>
          <p:nvPr/>
        </p:nvSpPr>
        <p:spPr>
          <a:xfrm>
            <a:off x="1050238" y="10080445"/>
            <a:ext cx="687894" cy="5761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90">
                <a:solidFill>
                  <a:srgbClr val="555555"/>
                </a:solidFill>
                <a:latin typeface="Helvetica"/>
                <a:ea typeface="Helvetica"/>
                <a:cs typeface="Helvetica"/>
              </a:rPr>
              <a:t>0.0</a:t>
            </a:r>
            <a:endParaRPr lang="zh-CN" sz="2190"/>
          </a:p>
        </p:txBody>
      </p:sp>
      <p:sp>
        <p:nvSpPr>
          <p:cNvPr id="131" name="TextBox 131"/>
          <p:cNvSpPr txBox="1"/>
          <p:nvPr/>
        </p:nvSpPr>
        <p:spPr>
          <a:xfrm>
            <a:off x="1050238" y="8111545"/>
            <a:ext cx="687894" cy="5761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90">
                <a:solidFill>
                  <a:srgbClr val="555555"/>
                </a:solidFill>
                <a:latin typeface="Helvetica"/>
                <a:ea typeface="Helvetica"/>
                <a:cs typeface="Helvetica"/>
              </a:rPr>
              <a:t>0.2</a:t>
            </a:r>
            <a:endParaRPr lang="zh-CN" sz="2190"/>
          </a:p>
        </p:txBody>
      </p:sp>
      <p:sp>
        <p:nvSpPr>
          <p:cNvPr id="132" name="TextBox 132"/>
          <p:cNvSpPr txBox="1"/>
          <p:nvPr/>
        </p:nvSpPr>
        <p:spPr>
          <a:xfrm>
            <a:off x="1050238" y="6142646"/>
            <a:ext cx="687894" cy="5761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90">
                <a:solidFill>
                  <a:srgbClr val="555555"/>
                </a:solidFill>
                <a:latin typeface="Helvetica"/>
                <a:ea typeface="Helvetica"/>
                <a:cs typeface="Helvetica"/>
              </a:rPr>
              <a:t>0.4</a:t>
            </a:r>
            <a:endParaRPr lang="zh-CN" sz="2190"/>
          </a:p>
        </p:txBody>
      </p:sp>
      <p:sp>
        <p:nvSpPr>
          <p:cNvPr id="133" name="TextBox 133"/>
          <p:cNvSpPr txBox="1"/>
          <p:nvPr/>
        </p:nvSpPr>
        <p:spPr>
          <a:xfrm>
            <a:off x="1050238" y="4173746"/>
            <a:ext cx="687894" cy="5761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90">
                <a:solidFill>
                  <a:srgbClr val="555555"/>
                </a:solidFill>
                <a:latin typeface="Helvetica"/>
                <a:ea typeface="Helvetica"/>
                <a:cs typeface="Helvetica"/>
              </a:rPr>
              <a:t>0.6</a:t>
            </a:r>
            <a:endParaRPr lang="zh-CN" sz="2190"/>
          </a:p>
        </p:txBody>
      </p:sp>
      <p:sp>
        <p:nvSpPr>
          <p:cNvPr id="134" name="TextBox 134"/>
          <p:cNvSpPr txBox="1"/>
          <p:nvPr/>
        </p:nvSpPr>
        <p:spPr>
          <a:xfrm>
            <a:off x="1050238" y="2205016"/>
            <a:ext cx="687894" cy="5761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90">
                <a:solidFill>
                  <a:srgbClr val="555555"/>
                </a:solidFill>
                <a:latin typeface="Helvetica"/>
                <a:ea typeface="Helvetica"/>
                <a:cs typeface="Helvetica"/>
              </a:rPr>
              <a:t>0.8</a:t>
            </a:r>
            <a:endParaRPr lang="zh-CN" sz="2190"/>
          </a:p>
        </p:txBody>
      </p:sp>
      <p:sp>
        <p:nvSpPr>
          <p:cNvPr id="135" name="TextBox 135"/>
          <p:cNvSpPr txBox="1"/>
          <p:nvPr/>
        </p:nvSpPr>
        <p:spPr>
          <a:xfrm rot="16200000">
            <a:off x="-3442692" y="5807431"/>
            <a:ext cx="7725540" cy="69501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440">
                <a:solidFill>
                  <a:srgbClr val="2B2B2B"/>
                </a:solidFill>
                <a:latin typeface="Helvetica"/>
                <a:ea typeface="Helvetica"/>
                <a:cs typeface="Helvetica"/>
              </a:rPr>
              <a:t>conditional negative-flip rate </a:t>
            </a:r>
            <a:r>
              <a:rPr lang="zh-CN" sz="2440" i="1">
                <a:solidFill>
                  <a:srgbClr val="2B2B2B"/>
                </a:solidFill>
                <a:latin typeface="Helvetica"/>
                <a:ea typeface="Helvetica"/>
                <a:cs typeface="Helvetica"/>
              </a:rPr>
              <a:t>R</a:t>
            </a:r>
            <a:r>
              <a:rPr lang="zh-CN" sz="2440" i="1">
                <a:solidFill>
                  <a:srgbClr val="2B2B2B"/>
                </a:solidFill>
                <a:latin typeface="Helvetica"/>
                <a:ea typeface="Helvetica"/>
                <a:cs typeface="Helvetica"/>
              </a:rPr>
              <a:t>c</a:t>
            </a:r>
            <a:endParaRPr lang="zh-CN" sz="2440"/>
          </a:p>
        </p:txBody>
      </p:sp>
      <p:sp>
        <p:nvSpPr>
          <p:cNvPr id="136" name="TextBox 136"/>
          <p:cNvSpPr txBox="1"/>
          <p:nvPr/>
        </p:nvSpPr>
        <p:spPr>
          <a:xfrm>
            <a:off x="8769335" y="9157036"/>
            <a:ext cx="4162293" cy="56208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30">
                <a:solidFill>
                  <a:srgbClr val="2E8B57"/>
                </a:solidFill>
                <a:latin typeface="Helvetica"/>
                <a:ea typeface="Helvetica"/>
                <a:cs typeface="Helvetica"/>
              </a:rPr>
              <a:t>release line </a:t>
            </a:r>
            <a:r>
              <a:rPr lang="zh-CN" sz="2130" i="1">
                <a:solidFill>
                  <a:srgbClr val="2E8B57"/>
                </a:solidFill>
                <a:latin typeface="Helvetica"/>
                <a:ea typeface="Helvetica"/>
                <a:cs typeface="Helvetica"/>
              </a:rPr>
              <a:t>ε</a:t>
            </a:r>
            <a:r>
              <a:rPr lang="zh-CN" sz="2130">
                <a:solidFill>
                  <a:srgbClr val="2E8B57"/>
                </a:solidFill>
                <a:latin typeface="Helvetica"/>
                <a:ea typeface="Helvetica"/>
                <a:cs typeface="Helvetica"/>
              </a:rPr>
              <a:t> = 0.05</a:t>
            </a:r>
            <a:endParaRPr lang="zh-CN" sz="2130"/>
          </a:p>
        </p:txBody>
      </p:sp>
      <p:sp>
        <p:nvSpPr>
          <p:cNvPr id="137" name="TextBox 137"/>
          <p:cNvSpPr txBox="1"/>
          <p:nvPr/>
        </p:nvSpPr>
        <p:spPr>
          <a:xfrm>
            <a:off x="1571796" y="1022862"/>
            <a:ext cx="365057" cy="75792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810" b="1">
                <a:solidFill>
                  <a:srgbClr val="2B2B2B"/>
                </a:solidFill>
                <a:latin typeface="Helvetica"/>
                <a:ea typeface="Helvetica"/>
                <a:cs typeface="Helvetica"/>
              </a:rPr>
              <a:t>a</a:t>
            </a:r>
            <a:endParaRPr lang="zh-CN" sz="2810"/>
          </a:p>
        </p:txBody>
      </p:sp>
      <p:sp>
        <p:nvSpPr>
          <p:cNvPr id="138" name="TextBox 138"/>
          <p:cNvSpPr txBox="1"/>
          <p:nvPr/>
        </p:nvSpPr>
        <p:spPr>
          <a:xfrm>
            <a:off x="7689764" y="2215189"/>
            <a:ext cx="4852391" cy="51850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70">
                <a:solidFill>
                  <a:srgbClr val="2B2B2B"/>
                </a:solidFill>
                <a:latin typeface="Helvetica"/>
                <a:ea typeface="Helvetica"/>
                <a:cs typeface="Helvetica"/>
              </a:rPr>
              <a:t>naive FT (RWR), 3 seeds</a:t>
            </a:r>
            <a:endParaRPr lang="zh-CN" sz="1970"/>
          </a:p>
        </p:txBody>
      </p:sp>
      <p:sp>
        <p:nvSpPr>
          <p:cNvPr id="139" name="TextBox 139"/>
          <p:cNvSpPr txBox="1"/>
          <p:nvPr/>
        </p:nvSpPr>
        <p:spPr>
          <a:xfrm>
            <a:off x="7689764" y="2956324"/>
            <a:ext cx="4357623" cy="51850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70">
                <a:solidFill>
                  <a:srgbClr val="2B2B2B"/>
                </a:solidFill>
                <a:latin typeface="Helvetica"/>
                <a:ea typeface="Helvetica"/>
                <a:cs typeface="Helvetica"/>
              </a:rPr>
              <a:t>engine (ours), 3 seeds</a:t>
            </a:r>
            <a:endParaRPr lang="zh-CN" sz="1970"/>
          </a:p>
        </p:txBody>
      </p:sp>
      <p:sp>
        <p:nvSpPr>
          <p:cNvPr id="140" name="TextBox 140"/>
          <p:cNvSpPr txBox="1"/>
          <p:nvPr/>
        </p:nvSpPr>
        <p:spPr>
          <a:xfrm>
            <a:off x="7689764" y="3697290"/>
            <a:ext cx="5083159" cy="51850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70">
                <a:solidFill>
                  <a:srgbClr val="2B2B2B"/>
                </a:solidFill>
                <a:latin typeface="Helvetica"/>
                <a:ea typeface="Helvetica"/>
                <a:cs typeface="Helvetica"/>
              </a:rPr>
              <a:t>mean over six candidates</a:t>
            </a:r>
            <a:endParaRPr lang="zh-CN" sz="1970"/>
          </a:p>
        </p:txBody>
      </p:sp>
      <p:sp>
        <p:nvSpPr>
          <p:cNvPr id="141" name="TextBox 141"/>
          <p:cNvSpPr txBox="1"/>
          <p:nvPr/>
        </p:nvSpPr>
        <p:spPr>
          <a:xfrm>
            <a:off x="17481529" y="10563005"/>
            <a:ext cx="2028075" cy="5103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39">
                <a:solidFill>
                  <a:srgbClr val="555555"/>
                </a:solidFill>
                <a:latin typeface="Helvetica"/>
                <a:ea typeface="Helvetica"/>
                <a:cs typeface="Helvetica"/>
              </a:rPr>
              <a:t>[-2.5, -1.1]</a:t>
            </a:r>
            <a:endParaRPr lang="zh-CN" sz="1939"/>
          </a:p>
        </p:txBody>
      </p:sp>
      <p:sp>
        <p:nvSpPr>
          <p:cNvPr id="142" name="TextBox 142"/>
          <p:cNvSpPr txBox="1"/>
          <p:nvPr/>
        </p:nvSpPr>
        <p:spPr>
          <a:xfrm>
            <a:off x="19932480" y="10563005"/>
            <a:ext cx="1857840" cy="5103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39">
                <a:solidFill>
                  <a:srgbClr val="555555"/>
                </a:solidFill>
                <a:latin typeface="Helvetica"/>
                <a:ea typeface="Helvetica"/>
                <a:cs typeface="Helvetica"/>
              </a:rPr>
              <a:t>[-1.1, 0.2]</a:t>
            </a:r>
            <a:endParaRPr lang="zh-CN" sz="1939"/>
          </a:p>
        </p:txBody>
      </p:sp>
      <p:sp>
        <p:nvSpPr>
          <p:cNvPr id="143" name="TextBox 143"/>
          <p:cNvSpPr txBox="1"/>
          <p:nvPr/>
        </p:nvSpPr>
        <p:spPr>
          <a:xfrm>
            <a:off x="22383431" y="10563005"/>
            <a:ext cx="1687434" cy="5103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39">
                <a:solidFill>
                  <a:srgbClr val="555555"/>
                </a:solidFill>
                <a:latin typeface="Helvetica"/>
                <a:ea typeface="Helvetica"/>
                <a:cs typeface="Helvetica"/>
              </a:rPr>
              <a:t>[0.2, 1.4]</a:t>
            </a:r>
            <a:endParaRPr lang="zh-CN" sz="1939"/>
          </a:p>
        </p:txBody>
      </p:sp>
      <p:sp>
        <p:nvSpPr>
          <p:cNvPr id="144" name="TextBox 144"/>
          <p:cNvSpPr txBox="1"/>
          <p:nvPr/>
        </p:nvSpPr>
        <p:spPr>
          <a:xfrm>
            <a:off x="24749265" y="10563005"/>
            <a:ext cx="1687434" cy="5103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39">
                <a:solidFill>
                  <a:srgbClr val="555555"/>
                </a:solidFill>
                <a:latin typeface="Helvetica"/>
                <a:ea typeface="Helvetica"/>
                <a:cs typeface="Helvetica"/>
              </a:rPr>
              <a:t>[1.4, 2.5]</a:t>
            </a:r>
            <a:endParaRPr lang="zh-CN" sz="1939"/>
          </a:p>
        </p:txBody>
      </p:sp>
      <p:sp>
        <p:nvSpPr>
          <p:cNvPr id="145" name="TextBox 145"/>
          <p:cNvSpPr txBox="1"/>
          <p:nvPr/>
        </p:nvSpPr>
        <p:spPr>
          <a:xfrm>
            <a:off x="19216779" y="11332286"/>
            <a:ext cx="5642189" cy="64482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440">
                <a:solidFill>
                  <a:srgbClr val="2B2B2B"/>
                </a:solidFill>
                <a:latin typeface="Helvetica"/>
                <a:ea typeface="Helvetica"/>
                <a:cs typeface="Helvetica"/>
              </a:rPr>
              <a:t>left-plate </a:t>
            </a:r>
            <a:r>
              <a:rPr lang="zh-CN" sz="2440" i="1">
                <a:solidFill>
                  <a:srgbClr val="2B2B2B"/>
                </a:solidFill>
                <a:latin typeface="Helvetica"/>
                <a:ea typeface="Helvetica"/>
                <a:cs typeface="Helvetica"/>
              </a:rPr>
              <a:t>x</a:t>
            </a:r>
            <a:r>
              <a:rPr lang="zh-CN" sz="2440">
                <a:solidFill>
                  <a:srgbClr val="2B2B2B"/>
                </a:solidFill>
                <a:latin typeface="Helvetica"/>
                <a:ea typeface="Helvetica"/>
                <a:cs typeface="Helvetica"/>
              </a:rPr>
              <a:t> bucket (cm)</a:t>
            </a:r>
            <a:endParaRPr lang="zh-CN" sz="2440"/>
          </a:p>
        </p:txBody>
      </p:sp>
      <p:sp>
        <p:nvSpPr>
          <p:cNvPr id="146" name="TextBox 146"/>
          <p:cNvSpPr txBox="1"/>
          <p:nvPr/>
        </p:nvSpPr>
        <p:spPr>
          <a:xfrm>
            <a:off x="15329338" y="2416793"/>
            <a:ext cx="1734910" cy="55970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30">
                <a:solidFill>
                  <a:srgbClr val="C98A3D"/>
                </a:solidFill>
                <a:latin typeface="Helvetica"/>
                <a:ea typeface="Helvetica"/>
                <a:cs typeface="Helvetica"/>
              </a:rPr>
              <a:t>RWR s0</a:t>
            </a:r>
            <a:endParaRPr lang="zh-CN" sz="2130"/>
          </a:p>
        </p:txBody>
      </p:sp>
      <p:sp>
        <p:nvSpPr>
          <p:cNvPr id="147" name="TextBox 147"/>
          <p:cNvSpPr txBox="1"/>
          <p:nvPr/>
        </p:nvSpPr>
        <p:spPr>
          <a:xfrm>
            <a:off x="15329338" y="3811402"/>
            <a:ext cx="1734910" cy="55970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30">
                <a:solidFill>
                  <a:srgbClr val="C98A3D"/>
                </a:solidFill>
                <a:latin typeface="Helvetica"/>
                <a:ea typeface="Helvetica"/>
                <a:cs typeface="Helvetica"/>
              </a:rPr>
              <a:t>RWR s1</a:t>
            </a:r>
            <a:endParaRPr lang="zh-CN" sz="2130"/>
          </a:p>
        </p:txBody>
      </p:sp>
      <p:sp>
        <p:nvSpPr>
          <p:cNvPr id="148" name="TextBox 148"/>
          <p:cNvSpPr txBox="1"/>
          <p:nvPr/>
        </p:nvSpPr>
        <p:spPr>
          <a:xfrm>
            <a:off x="15329338" y="5206011"/>
            <a:ext cx="1734910" cy="55970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30">
                <a:solidFill>
                  <a:srgbClr val="C98A3D"/>
                </a:solidFill>
                <a:latin typeface="Helvetica"/>
                <a:ea typeface="Helvetica"/>
                <a:cs typeface="Helvetica"/>
              </a:rPr>
              <a:t>RWR s2</a:t>
            </a:r>
            <a:endParaRPr lang="zh-CN" sz="2130"/>
          </a:p>
        </p:txBody>
      </p:sp>
      <p:sp>
        <p:nvSpPr>
          <p:cNvPr id="149" name="TextBox 149"/>
          <p:cNvSpPr txBox="1"/>
          <p:nvPr/>
        </p:nvSpPr>
        <p:spPr>
          <a:xfrm>
            <a:off x="14989376" y="6600620"/>
            <a:ext cx="2075042" cy="55970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30">
                <a:solidFill>
                  <a:srgbClr val="1F6F78"/>
                </a:solidFill>
                <a:latin typeface="Helvetica"/>
                <a:ea typeface="Helvetica"/>
                <a:cs typeface="Helvetica"/>
              </a:rPr>
              <a:t>engine s0</a:t>
            </a:r>
            <a:endParaRPr lang="zh-CN" sz="2130"/>
          </a:p>
        </p:txBody>
      </p:sp>
      <p:sp>
        <p:nvSpPr>
          <p:cNvPr id="150" name="TextBox 150"/>
          <p:cNvSpPr txBox="1"/>
          <p:nvPr/>
        </p:nvSpPr>
        <p:spPr>
          <a:xfrm>
            <a:off x="14989376" y="7995229"/>
            <a:ext cx="2075042" cy="55970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30">
                <a:solidFill>
                  <a:srgbClr val="1F6F78"/>
                </a:solidFill>
                <a:latin typeface="Helvetica"/>
                <a:ea typeface="Helvetica"/>
                <a:cs typeface="Helvetica"/>
              </a:rPr>
              <a:t>engine s1</a:t>
            </a:r>
            <a:endParaRPr lang="zh-CN" sz="2130"/>
          </a:p>
        </p:txBody>
      </p:sp>
      <p:sp>
        <p:nvSpPr>
          <p:cNvPr id="151" name="TextBox 151"/>
          <p:cNvSpPr txBox="1"/>
          <p:nvPr/>
        </p:nvSpPr>
        <p:spPr>
          <a:xfrm>
            <a:off x="14989376" y="9389838"/>
            <a:ext cx="2075042" cy="55970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30">
                <a:solidFill>
                  <a:srgbClr val="1F6F78"/>
                </a:solidFill>
                <a:latin typeface="Helvetica"/>
                <a:ea typeface="Helvetica"/>
                <a:cs typeface="Helvetica"/>
              </a:rPr>
              <a:t>engine s2</a:t>
            </a:r>
            <a:endParaRPr lang="zh-CN" sz="2130"/>
          </a:p>
        </p:txBody>
      </p:sp>
      <p:sp>
        <p:nvSpPr>
          <p:cNvPr id="152" name="TextBox 152"/>
          <p:cNvSpPr txBox="1"/>
          <p:nvPr/>
        </p:nvSpPr>
        <p:spPr>
          <a:xfrm>
            <a:off x="18012583" y="2357448"/>
            <a:ext cx="962746" cy="5761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9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0.74</a:t>
            </a:r>
            <a:endParaRPr lang="zh-CN" sz="2190"/>
          </a:p>
        </p:txBody>
      </p:sp>
      <p:sp>
        <p:nvSpPr>
          <p:cNvPr id="153" name="TextBox 153"/>
          <p:cNvSpPr txBox="1"/>
          <p:nvPr/>
        </p:nvSpPr>
        <p:spPr>
          <a:xfrm>
            <a:off x="20378416" y="2357448"/>
            <a:ext cx="962746" cy="5761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9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0.41</a:t>
            </a:r>
            <a:endParaRPr lang="zh-CN" sz="2190"/>
          </a:p>
        </p:txBody>
      </p:sp>
      <p:sp>
        <p:nvSpPr>
          <p:cNvPr id="154" name="TextBox 154"/>
          <p:cNvSpPr txBox="1"/>
          <p:nvPr/>
        </p:nvSpPr>
        <p:spPr>
          <a:xfrm>
            <a:off x="22744419" y="2357448"/>
            <a:ext cx="962746" cy="5761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9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0.35</a:t>
            </a:r>
            <a:endParaRPr lang="zh-CN" sz="2190"/>
          </a:p>
        </p:txBody>
      </p:sp>
      <p:sp>
        <p:nvSpPr>
          <p:cNvPr id="155" name="TextBox 155"/>
          <p:cNvSpPr txBox="1"/>
          <p:nvPr/>
        </p:nvSpPr>
        <p:spPr>
          <a:xfrm>
            <a:off x="25110252" y="2357448"/>
            <a:ext cx="962746" cy="5761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9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0.18</a:t>
            </a:r>
            <a:endParaRPr lang="zh-CN" sz="2190"/>
          </a:p>
        </p:txBody>
      </p:sp>
      <p:sp>
        <p:nvSpPr>
          <p:cNvPr id="156" name="TextBox 156"/>
          <p:cNvSpPr txBox="1"/>
          <p:nvPr/>
        </p:nvSpPr>
        <p:spPr>
          <a:xfrm>
            <a:off x="18012583" y="3752057"/>
            <a:ext cx="962746" cy="5761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9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0.61</a:t>
            </a:r>
            <a:endParaRPr lang="zh-CN" sz="2190"/>
          </a:p>
        </p:txBody>
      </p:sp>
      <p:sp>
        <p:nvSpPr>
          <p:cNvPr id="157" name="TextBox 157"/>
          <p:cNvSpPr txBox="1"/>
          <p:nvPr/>
        </p:nvSpPr>
        <p:spPr>
          <a:xfrm>
            <a:off x="20378416" y="3752057"/>
            <a:ext cx="962746" cy="5761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9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0.30</a:t>
            </a:r>
            <a:endParaRPr lang="zh-CN" sz="2190"/>
          </a:p>
        </p:txBody>
      </p:sp>
      <p:sp>
        <p:nvSpPr>
          <p:cNvPr id="158" name="TextBox 158"/>
          <p:cNvSpPr txBox="1"/>
          <p:nvPr/>
        </p:nvSpPr>
        <p:spPr>
          <a:xfrm>
            <a:off x="22744419" y="3752057"/>
            <a:ext cx="962746" cy="5761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9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0.30</a:t>
            </a:r>
            <a:endParaRPr lang="zh-CN" sz="2190"/>
          </a:p>
        </p:txBody>
      </p:sp>
      <p:sp>
        <p:nvSpPr>
          <p:cNvPr id="159" name="TextBox 159"/>
          <p:cNvSpPr txBox="1"/>
          <p:nvPr/>
        </p:nvSpPr>
        <p:spPr>
          <a:xfrm>
            <a:off x="25110252" y="3752057"/>
            <a:ext cx="962746" cy="5761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9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0.24</a:t>
            </a:r>
            <a:endParaRPr lang="zh-CN" sz="2190"/>
          </a:p>
        </p:txBody>
      </p:sp>
      <p:sp>
        <p:nvSpPr>
          <p:cNvPr id="160" name="TextBox 160"/>
          <p:cNvSpPr txBox="1"/>
          <p:nvPr/>
        </p:nvSpPr>
        <p:spPr>
          <a:xfrm>
            <a:off x="18012583" y="5146666"/>
            <a:ext cx="962746" cy="5761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9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0.53</a:t>
            </a:r>
            <a:endParaRPr lang="zh-CN" sz="2190"/>
          </a:p>
        </p:txBody>
      </p:sp>
      <p:sp>
        <p:nvSpPr>
          <p:cNvPr id="161" name="TextBox 161"/>
          <p:cNvSpPr txBox="1"/>
          <p:nvPr/>
        </p:nvSpPr>
        <p:spPr>
          <a:xfrm>
            <a:off x="20378416" y="5146666"/>
            <a:ext cx="962746" cy="5761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9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0.38</a:t>
            </a:r>
            <a:endParaRPr lang="zh-CN" sz="2190"/>
          </a:p>
        </p:txBody>
      </p:sp>
      <p:sp>
        <p:nvSpPr>
          <p:cNvPr id="162" name="TextBox 162"/>
          <p:cNvSpPr txBox="1"/>
          <p:nvPr/>
        </p:nvSpPr>
        <p:spPr>
          <a:xfrm>
            <a:off x="22744419" y="5146666"/>
            <a:ext cx="962746" cy="5761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9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0.35</a:t>
            </a:r>
            <a:endParaRPr lang="zh-CN" sz="2190"/>
          </a:p>
        </p:txBody>
      </p:sp>
      <p:sp>
        <p:nvSpPr>
          <p:cNvPr id="163" name="TextBox 163"/>
          <p:cNvSpPr txBox="1"/>
          <p:nvPr/>
        </p:nvSpPr>
        <p:spPr>
          <a:xfrm>
            <a:off x="25110252" y="5146666"/>
            <a:ext cx="962746" cy="5761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9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0.26</a:t>
            </a:r>
            <a:endParaRPr lang="zh-CN" sz="2190"/>
          </a:p>
        </p:txBody>
      </p:sp>
      <p:sp>
        <p:nvSpPr>
          <p:cNvPr id="164" name="TextBox 164"/>
          <p:cNvSpPr txBox="1"/>
          <p:nvPr/>
        </p:nvSpPr>
        <p:spPr>
          <a:xfrm>
            <a:off x="18012583" y="6541275"/>
            <a:ext cx="962746" cy="5761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9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0.47</a:t>
            </a:r>
            <a:endParaRPr lang="zh-CN" sz="2190"/>
          </a:p>
        </p:txBody>
      </p:sp>
      <p:sp>
        <p:nvSpPr>
          <p:cNvPr id="165" name="TextBox 165"/>
          <p:cNvSpPr txBox="1"/>
          <p:nvPr/>
        </p:nvSpPr>
        <p:spPr>
          <a:xfrm>
            <a:off x="20378416" y="6541275"/>
            <a:ext cx="962746" cy="5761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9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0.35</a:t>
            </a:r>
            <a:endParaRPr lang="zh-CN" sz="2190"/>
          </a:p>
        </p:txBody>
      </p:sp>
      <p:sp>
        <p:nvSpPr>
          <p:cNvPr id="166" name="TextBox 166"/>
          <p:cNvSpPr txBox="1"/>
          <p:nvPr/>
        </p:nvSpPr>
        <p:spPr>
          <a:xfrm>
            <a:off x="22744419" y="6541275"/>
            <a:ext cx="962746" cy="5761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9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0.30</a:t>
            </a:r>
            <a:endParaRPr lang="zh-CN" sz="2190"/>
          </a:p>
        </p:txBody>
      </p:sp>
      <p:sp>
        <p:nvSpPr>
          <p:cNvPr id="167" name="TextBox 167"/>
          <p:cNvSpPr txBox="1"/>
          <p:nvPr/>
        </p:nvSpPr>
        <p:spPr>
          <a:xfrm>
            <a:off x="25110252" y="6541275"/>
            <a:ext cx="962746" cy="5761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9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0.21</a:t>
            </a:r>
            <a:endParaRPr lang="zh-CN" sz="2190"/>
          </a:p>
        </p:txBody>
      </p:sp>
      <p:sp>
        <p:nvSpPr>
          <p:cNvPr id="168" name="TextBox 168"/>
          <p:cNvSpPr txBox="1"/>
          <p:nvPr/>
        </p:nvSpPr>
        <p:spPr>
          <a:xfrm>
            <a:off x="18012583" y="7935884"/>
            <a:ext cx="962746" cy="5761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9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0.45</a:t>
            </a:r>
            <a:endParaRPr lang="zh-CN" sz="2190"/>
          </a:p>
        </p:txBody>
      </p:sp>
      <p:sp>
        <p:nvSpPr>
          <p:cNvPr id="169" name="TextBox 169"/>
          <p:cNvSpPr txBox="1"/>
          <p:nvPr/>
        </p:nvSpPr>
        <p:spPr>
          <a:xfrm>
            <a:off x="20378416" y="7935884"/>
            <a:ext cx="962746" cy="5761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9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0.27</a:t>
            </a:r>
            <a:endParaRPr lang="zh-CN" sz="2190"/>
          </a:p>
        </p:txBody>
      </p:sp>
      <p:sp>
        <p:nvSpPr>
          <p:cNvPr id="170" name="TextBox 170"/>
          <p:cNvSpPr txBox="1"/>
          <p:nvPr/>
        </p:nvSpPr>
        <p:spPr>
          <a:xfrm>
            <a:off x="22744419" y="7935884"/>
            <a:ext cx="962746" cy="5761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9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0.30</a:t>
            </a:r>
            <a:endParaRPr lang="zh-CN" sz="2190"/>
          </a:p>
        </p:txBody>
      </p:sp>
      <p:sp>
        <p:nvSpPr>
          <p:cNvPr id="171" name="TextBox 171"/>
          <p:cNvSpPr txBox="1"/>
          <p:nvPr/>
        </p:nvSpPr>
        <p:spPr>
          <a:xfrm>
            <a:off x="25110252" y="7935884"/>
            <a:ext cx="962746" cy="5761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9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0.24</a:t>
            </a:r>
            <a:endParaRPr lang="zh-CN" sz="2190"/>
          </a:p>
        </p:txBody>
      </p:sp>
      <p:sp>
        <p:nvSpPr>
          <p:cNvPr id="172" name="TextBox 172"/>
          <p:cNvSpPr txBox="1"/>
          <p:nvPr/>
        </p:nvSpPr>
        <p:spPr>
          <a:xfrm>
            <a:off x="18012583" y="9330493"/>
            <a:ext cx="962746" cy="5761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9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0.55</a:t>
            </a:r>
            <a:endParaRPr lang="zh-CN" sz="2190"/>
          </a:p>
        </p:txBody>
      </p:sp>
      <p:sp>
        <p:nvSpPr>
          <p:cNvPr id="173" name="TextBox 173"/>
          <p:cNvSpPr txBox="1"/>
          <p:nvPr/>
        </p:nvSpPr>
        <p:spPr>
          <a:xfrm>
            <a:off x="20378416" y="9330493"/>
            <a:ext cx="962746" cy="5761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9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0.38</a:t>
            </a:r>
            <a:endParaRPr lang="zh-CN" sz="2190"/>
          </a:p>
        </p:txBody>
      </p:sp>
      <p:sp>
        <p:nvSpPr>
          <p:cNvPr id="174" name="TextBox 174"/>
          <p:cNvSpPr txBox="1"/>
          <p:nvPr/>
        </p:nvSpPr>
        <p:spPr>
          <a:xfrm>
            <a:off x="22744419" y="9330493"/>
            <a:ext cx="962746" cy="5761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9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0.35</a:t>
            </a:r>
            <a:endParaRPr lang="zh-CN" sz="2190"/>
          </a:p>
        </p:txBody>
      </p:sp>
      <p:sp>
        <p:nvSpPr>
          <p:cNvPr id="175" name="TextBox 175"/>
          <p:cNvSpPr txBox="1"/>
          <p:nvPr/>
        </p:nvSpPr>
        <p:spPr>
          <a:xfrm>
            <a:off x="25110252" y="9330493"/>
            <a:ext cx="962746" cy="5761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9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0.18</a:t>
            </a:r>
            <a:endParaRPr lang="zh-CN" sz="2190"/>
          </a:p>
        </p:txBody>
      </p:sp>
      <p:sp>
        <p:nvSpPr>
          <p:cNvPr id="176" name="TextBox 176"/>
          <p:cNvSpPr txBox="1"/>
          <p:nvPr/>
        </p:nvSpPr>
        <p:spPr>
          <a:xfrm>
            <a:off x="16732934" y="1022862"/>
            <a:ext cx="388456" cy="75792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810" b="1">
                <a:solidFill>
                  <a:srgbClr val="2B2B2B"/>
                </a:solidFill>
                <a:latin typeface="Helvetica"/>
                <a:ea typeface="Helvetica"/>
                <a:cs typeface="Helvetica"/>
              </a:rPr>
              <a:t>b</a:t>
            </a:r>
            <a:endParaRPr lang="zh-CN" sz="2810"/>
          </a:p>
        </p:txBody>
      </p:sp>
      <p:sp>
        <p:nvSpPr>
          <p:cNvPr id="177" name="TextBox 177"/>
          <p:cNvSpPr txBox="1"/>
          <p:nvPr/>
        </p:nvSpPr>
        <p:spPr>
          <a:xfrm>
            <a:off x="27873528" y="10107235"/>
            <a:ext cx="851856" cy="5103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39">
                <a:solidFill>
                  <a:srgbClr val="555555"/>
                </a:solidFill>
                <a:latin typeface="Helvetica"/>
                <a:ea typeface="Helvetica"/>
                <a:cs typeface="Helvetica"/>
              </a:rPr>
              <a:t>0.00</a:t>
            </a:r>
            <a:endParaRPr lang="zh-CN" sz="1939"/>
          </a:p>
        </p:txBody>
      </p:sp>
      <p:sp>
        <p:nvSpPr>
          <p:cNvPr id="178" name="TextBox 178"/>
          <p:cNvSpPr txBox="1"/>
          <p:nvPr/>
        </p:nvSpPr>
        <p:spPr>
          <a:xfrm>
            <a:off x="27873528" y="7318017"/>
            <a:ext cx="851856" cy="5103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39">
                <a:solidFill>
                  <a:srgbClr val="555555"/>
                </a:solidFill>
                <a:latin typeface="Helvetica"/>
                <a:ea typeface="Helvetica"/>
                <a:cs typeface="Helvetica"/>
              </a:rPr>
              <a:t>0.25</a:t>
            </a:r>
            <a:endParaRPr lang="zh-CN" sz="1939"/>
          </a:p>
        </p:txBody>
      </p:sp>
      <p:sp>
        <p:nvSpPr>
          <p:cNvPr id="179" name="TextBox 179"/>
          <p:cNvSpPr txBox="1"/>
          <p:nvPr/>
        </p:nvSpPr>
        <p:spPr>
          <a:xfrm>
            <a:off x="27873528" y="4528799"/>
            <a:ext cx="851856" cy="5103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39">
                <a:solidFill>
                  <a:srgbClr val="555555"/>
                </a:solidFill>
                <a:latin typeface="Helvetica"/>
                <a:ea typeface="Helvetica"/>
                <a:cs typeface="Helvetica"/>
              </a:rPr>
              <a:t>0.50</a:t>
            </a:r>
            <a:endParaRPr lang="zh-CN" sz="1939"/>
          </a:p>
        </p:txBody>
      </p:sp>
      <p:sp>
        <p:nvSpPr>
          <p:cNvPr id="180" name="TextBox 180"/>
          <p:cNvSpPr txBox="1"/>
          <p:nvPr/>
        </p:nvSpPr>
        <p:spPr>
          <a:xfrm>
            <a:off x="27873528" y="1739581"/>
            <a:ext cx="851856" cy="5103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39">
                <a:solidFill>
                  <a:srgbClr val="555555"/>
                </a:solidFill>
                <a:latin typeface="Helvetica"/>
                <a:ea typeface="Helvetica"/>
                <a:cs typeface="Helvetica"/>
              </a:rPr>
              <a:t>0.75</a:t>
            </a:r>
            <a:endParaRPr lang="zh-CN" sz="1939"/>
          </a:p>
        </p:txBody>
      </p:sp>
      <p:sp>
        <p:nvSpPr>
          <p:cNvPr id="181" name="TextBox 181"/>
          <p:cNvSpPr txBox="1"/>
          <p:nvPr/>
        </p:nvSpPr>
        <p:spPr>
          <a:xfrm>
            <a:off x="27107129" y="1258208"/>
            <a:ext cx="539023" cy="64143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250" i="1">
                <a:solidFill>
                  <a:srgbClr val="2B2B2B"/>
                </a:solidFill>
                <a:latin typeface="Helvetica"/>
                <a:ea typeface="Helvetica"/>
                <a:cs typeface="Helvetica"/>
              </a:rPr>
              <a:t>R</a:t>
            </a:r>
            <a:r>
              <a:rPr lang="zh-CN" sz="2250" i="1">
                <a:solidFill>
                  <a:srgbClr val="2B2B2B"/>
                </a:solidFill>
                <a:latin typeface="Helvetica"/>
                <a:ea typeface="Helvetica"/>
                <a:cs typeface="Helvetica"/>
              </a:rPr>
              <a:t>c</a:t>
            </a:r>
            <a:endParaRPr lang="zh-CN" sz="22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3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