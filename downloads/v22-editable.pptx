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09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v22 source-faithful editable reconstruction. Conceptual scenes, not measured results. Current ten-chunk protocol is proposed. Text and simple geometry editable; robot art, particle routes and marked mathematical regions are movable rasters. Fixed connector endpoints. No simulator or surrogate queries at deployment; sampler/decoder costs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v22 source-faithful editable reconstruction. Conceptual scenes, not measured results. Current ten-chunk protocol is proposed. Text and simple geometry editable; robot art, particle routes and marked mathematical regions are movable rasters. Fixed connector endpoints. No simulator or surrogate queries at deployment; sampler/decoder costs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v22 source-faithful editable reconstruction. Conceptual scenes, not measured results. Current ten-chunk protocol is proposed. Text and simple geometry editable; robot art, particle routes and marked mathematical regions are movable rasters. Fixed connector endpoints. No simulator or surrogate queries at deployment; sampler/decoder costs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core-badge" descr="Editable shape; source id score-badge"/>
          <p:cNvSpPr/>
          <p:nvPr/>
        </p:nvSpPr>
        <p:spPr>
          <a:xfrm>
            <a:off x="4907039" y="4886421"/>
            <a:ext cx="2384793" cy="384865"/>
          </a:xfrm>
          <a:prstGeom prst="roundRect">
            <a:avLst>
              <a:gd name="adj" fmla="val 12000"/>
            </a:avLst>
          </a:prstGeom>
          <a:solidFill>
            <a:srgbClr val="ED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poser" descr="Editable shape; source id proposer"/>
          <p:cNvSpPr/>
          <p:nvPr/>
        </p:nvSpPr>
        <p:spPr>
          <a:xfrm>
            <a:off x="8322723" y="1202705"/>
            <a:ext cx="1511972" cy="1099616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8247">
            <a:solidFill>
              <a:srgbClr val="D07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vla" descr="Editable shape; source id vla"/>
          <p:cNvSpPr/>
          <p:nvPr/>
        </p:nvSpPr>
        <p:spPr>
          <a:xfrm>
            <a:off x="9429212" y="2852130"/>
            <a:ext cx="1422629" cy="1010272"/>
          </a:xfrm>
          <a:prstGeom prst="roundRect">
            <a:avLst>
              <a:gd name="adj" fmla="val 12000"/>
            </a:avLst>
          </a:prstGeom>
          <a:solidFill>
            <a:srgbClr val="EEF4F9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la-lock-body" descr="Editable shape; source id vla-lock-body"/>
          <p:cNvSpPr/>
          <p:nvPr/>
        </p:nvSpPr>
        <p:spPr>
          <a:xfrm>
            <a:off x="10576937" y="3272459"/>
            <a:ext cx="136352" cy="115047"/>
          </a:xfrm>
          <a:prstGeom prst="roundRect">
            <a:avLst>
              <a:gd name="adj" fmla="val 12000"/>
            </a:avLst>
          </a:prstGeom>
          <a:solidFill>
            <a:srgbClr val="09204B"/>
          </a:solidFill>
          <a:ln w="687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time-badge" descr="Editable shape; source id runtime-badge"/>
          <p:cNvSpPr/>
          <p:nvPr/>
        </p:nvSpPr>
        <p:spPr>
          <a:xfrm>
            <a:off x="8590755" y="4886421"/>
            <a:ext cx="3223251" cy="384865"/>
          </a:xfrm>
          <a:prstGeom prst="roundRect">
            <a:avLst>
              <a:gd name="adj" fmla="val 12000"/>
            </a:avLst>
          </a:prstGeom>
          <a:solidFill>
            <a:srgbClr val="ED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ream-token-0" descr="Editable shape; source id stream-token-0"/>
          <p:cNvSpPr/>
          <p:nvPr/>
        </p:nvSpPr>
        <p:spPr>
          <a:xfrm>
            <a:off x="10185199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ream-token-1" descr="Editable shape; source id stream-token-1"/>
          <p:cNvSpPr/>
          <p:nvPr/>
        </p:nvSpPr>
        <p:spPr>
          <a:xfrm>
            <a:off x="10432613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ream-token-2" descr="Editable shape; source id stream-token-2"/>
          <p:cNvSpPr/>
          <p:nvPr/>
        </p:nvSpPr>
        <p:spPr>
          <a:xfrm>
            <a:off x="10680026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ream-token-3" descr="Editable shape; source id stream-token-3"/>
          <p:cNvSpPr/>
          <p:nvPr/>
        </p:nvSpPr>
        <p:spPr>
          <a:xfrm>
            <a:off x="10927440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ream-token-4" descr="Editable shape; source id stream-token-4"/>
          <p:cNvSpPr/>
          <p:nvPr/>
        </p:nvSpPr>
        <p:spPr>
          <a:xfrm>
            <a:off x="11174854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ream-token-5" descr="Editable shape; source id stream-token-5"/>
          <p:cNvSpPr/>
          <p:nvPr/>
        </p:nvSpPr>
        <p:spPr>
          <a:xfrm>
            <a:off x="11683426" y="1608189"/>
            <a:ext cx="185560" cy="185560"/>
          </a:xfrm>
          <a:prstGeom prst="roundRect">
            <a:avLst>
              <a:gd name="adj" fmla="val 12000"/>
            </a:avLst>
          </a:prstGeom>
          <a:solidFill>
            <a:srgbClr val="F4C46D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la-lock-loop" descr="Editable shape; source id vla-lock-loop"/>
          <p:cNvSpPr/>
          <p:nvPr/>
        </p:nvSpPr>
        <p:spPr>
          <a:xfrm>
            <a:off x="10602503" y="3195760"/>
            <a:ext cx="85220" cy="106525"/>
          </a:xfrm>
          <a:prstGeom prst="ellipse">
            <a:avLst/>
          </a:prstGeom>
          <a:noFill/>
          <a:ln w="17044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la-lock-hole" descr="Editable shape; source id vla-lock-hole"/>
          <p:cNvSpPr/>
          <p:nvPr/>
        </p:nvSpPr>
        <p:spPr>
          <a:xfrm>
            <a:off x="10636591" y="3302286"/>
            <a:ext cx="17044" cy="340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fix-token-0" descr="Editable shape; source id prefix-token-0"/>
          <p:cNvSpPr/>
          <p:nvPr/>
        </p:nvSpPr>
        <p:spPr>
          <a:xfrm>
            <a:off x="11099255" y="3257614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B7C8D9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efix-token-1" descr="Editable shape; source id prefix-token-1"/>
          <p:cNvSpPr/>
          <p:nvPr/>
        </p:nvSpPr>
        <p:spPr>
          <a:xfrm>
            <a:off x="11284815" y="3257614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B7C8D9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fix-token-2" descr="Editable shape; source id prefix-token-2"/>
          <p:cNvSpPr/>
          <p:nvPr/>
        </p:nvSpPr>
        <p:spPr>
          <a:xfrm>
            <a:off x="11470376" y="3257614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B7C8D9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efix-token-3" descr="Editable shape; source id prefix-token-3"/>
          <p:cNvSpPr/>
          <p:nvPr/>
        </p:nvSpPr>
        <p:spPr>
          <a:xfrm>
            <a:off x="11655936" y="3257614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B7C8D9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fix-token-4" descr="Editable shape; source id prefix-token-4"/>
          <p:cNvSpPr/>
          <p:nvPr/>
        </p:nvSpPr>
        <p:spPr>
          <a:xfrm>
            <a:off x="11841496" y="3257614"/>
            <a:ext cx="151197" cy="151197"/>
          </a:xfrm>
          <a:prstGeom prst="roundRect">
            <a:avLst>
              <a:gd name="adj" fmla="val 11999"/>
            </a:avLst>
          </a:prstGeom>
          <a:solidFill>
            <a:srgbClr val="B7C8D9"/>
          </a:solidFill>
          <a:ln w="6185">
            <a:solidFill>
              <a:srgbClr val="6374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robot-scen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32" y="542935"/>
            <a:ext cx="3614989" cy="3147652"/>
          </a:xfrm>
          <a:prstGeom prst="rect">
            <a:avLst/>
          </a:prstGeom>
          <a:effectLst/>
        </p:spPr>
      </p:pic>
      <p:pic>
        <p:nvPicPr>
          <p:cNvPr id="21" name="sequence-0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68" y="3814295"/>
            <a:ext cx="1024018" cy="694133"/>
          </a:xfrm>
          <a:prstGeom prst="rect">
            <a:avLst/>
          </a:prstGeom>
          <a:effectLst/>
        </p:spPr>
      </p:pic>
      <p:pic>
        <p:nvPicPr>
          <p:cNvPr id="22" name="sequence-1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864" y="3814295"/>
            <a:ext cx="1024018" cy="694133"/>
          </a:xfrm>
          <a:prstGeom prst="rect">
            <a:avLst/>
          </a:prstGeom>
          <a:effectLst/>
        </p:spPr>
      </p:pic>
      <p:pic>
        <p:nvPicPr>
          <p:cNvPr id="23" name="sequence-2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678" y="3814295"/>
            <a:ext cx="1024018" cy="694133"/>
          </a:xfrm>
          <a:prstGeom prst="rect">
            <a:avLst/>
          </a:prstGeom>
          <a:effectLst/>
        </p:spPr>
      </p:pic>
      <p:pic>
        <p:nvPicPr>
          <p:cNvPr id="24" name="distribution-shaping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014" y="1491355"/>
            <a:ext cx="3752441" cy="2288577"/>
          </a:xfrm>
          <a:prstGeom prst="rect">
            <a:avLst/>
          </a:prstGeom>
          <a:effectLst/>
        </p:spPr>
      </p:pic>
      <p:pic>
        <p:nvPicPr>
          <p:cNvPr id="25" name="proposer-art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0793" y="1511972"/>
            <a:ext cx="1257686" cy="742241"/>
          </a:xfrm>
          <a:prstGeom prst="rect">
            <a:avLst/>
          </a:prstGeom>
          <a:effectLst/>
        </p:spPr>
      </p:pic>
      <p:pic>
        <p:nvPicPr>
          <p:cNvPr id="26" name="observation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8360" y="3085799"/>
            <a:ext cx="804094" cy="577298"/>
          </a:xfrm>
          <a:prstGeom prst="rect">
            <a:avLst/>
          </a:prstGeom>
          <a:effectLst/>
        </p:spPr>
      </p:pic>
      <p:cxnSp>
        <p:nvCxnSpPr>
          <p:cNvPr id="27" name="divider-left-0" descr="Editable line; source id divider-left-0"/>
          <p:cNvCxnSpPr/>
          <p:nvPr/>
        </p:nvCxnSpPr>
        <p:spPr>
          <a:xfrm>
            <a:off x="4075454" y="151197"/>
            <a:ext cx="0" cy="1044636"/>
          </a:xfrm>
          <a:prstGeom prst="line">
            <a:avLst/>
          </a:prstGeom>
          <a:ln w="8934">
            <a:solidFill>
              <a:srgbClr val="ACB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divider-left-bottom-0" descr="Editable line; source id divider-left-bottom-0"/>
          <p:cNvCxnSpPr/>
          <p:nvPr/>
        </p:nvCxnSpPr>
        <p:spPr>
          <a:xfrm>
            <a:off x="4075454" y="1408883"/>
            <a:ext cx="0" cy="4006729"/>
          </a:xfrm>
          <a:prstGeom prst="line">
            <a:avLst/>
          </a:prstGeom>
          <a:ln w="8934">
            <a:solidFill>
              <a:srgbClr val="ACB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divider-right-0" descr="Editable line; source id divider-right-0"/>
          <p:cNvCxnSpPr/>
          <p:nvPr/>
        </p:nvCxnSpPr>
        <p:spPr>
          <a:xfrm>
            <a:off x="8116545" y="158069"/>
            <a:ext cx="0" cy="1017146"/>
          </a:xfrm>
          <a:prstGeom prst="line">
            <a:avLst/>
          </a:prstGeom>
          <a:ln w="8934">
            <a:solidFill>
              <a:srgbClr val="ACB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ivider-right-bottom-0" descr="Editable line; source id divider-right-bottom-0"/>
          <p:cNvCxnSpPr/>
          <p:nvPr/>
        </p:nvCxnSpPr>
        <p:spPr>
          <a:xfrm>
            <a:off x="8116545" y="1415756"/>
            <a:ext cx="0" cy="3999856"/>
          </a:xfrm>
          <a:prstGeom prst="line">
            <a:avLst/>
          </a:prstGeom>
          <a:ln w="8934">
            <a:solidFill>
              <a:srgbClr val="ACBD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equence-1-0" descr="Editable line; source id sequence-1-0"/>
          <p:cNvSpPr/>
          <p:nvPr/>
        </p:nvSpPr>
        <p:spPr>
          <a:xfrm>
            <a:off x="1285177" y="4120126"/>
            <a:ext cx="137452" cy="75599"/>
          </a:xfrm>
          <a:custGeom>
            <a:avLst/>
            <a:gdLst/>
            <a:ahLst/>
            <a:cxnLst/>
            <a:rect l="l" t="t" r="r" b="b"/>
            <a:pathLst>
              <a:path w="20000" h="11000">
                <a:moveTo>
                  <a:pt x="0" y="4750"/>
                </a:moveTo>
                <a:lnTo>
                  <a:pt x="9000" y="4750"/>
                </a:lnTo>
                <a:lnTo>
                  <a:pt x="9000" y="0"/>
                </a:lnTo>
                <a:lnTo>
                  <a:pt x="20000" y="5500"/>
                </a:lnTo>
                <a:lnTo>
                  <a:pt x="9000" y="11000"/>
                </a:lnTo>
                <a:lnTo>
                  <a:pt x="9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quence-2-0" descr="Editable line; source id sequence-2-0"/>
          <p:cNvSpPr/>
          <p:nvPr/>
        </p:nvSpPr>
        <p:spPr>
          <a:xfrm>
            <a:off x="2529118" y="4120126"/>
            <a:ext cx="144325" cy="75599"/>
          </a:xfrm>
          <a:custGeom>
            <a:avLst/>
            <a:gdLst/>
            <a:ahLst/>
            <a:cxnLst/>
            <a:rect l="l" t="t" r="r" b="b"/>
            <a:pathLst>
              <a:path w="21000" h="11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1000" y="5500"/>
                </a:lnTo>
                <a:lnTo>
                  <a:pt x="10000" y="11000"/>
                </a:lnTo>
                <a:lnTo>
                  <a:pt x="10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feedback-bracket-0" descr="Editable line; source id feedback-bracket-0"/>
          <p:cNvCxnSpPr/>
          <p:nvPr/>
        </p:nvCxnSpPr>
        <p:spPr>
          <a:xfrm>
            <a:off x="240541" y="4934529"/>
            <a:ext cx="0" cy="109962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feedback-bracket-1" descr="Editable line; source id feedback-bracket-1"/>
          <p:cNvCxnSpPr/>
          <p:nvPr/>
        </p:nvCxnSpPr>
        <p:spPr>
          <a:xfrm>
            <a:off x="240541" y="5044491"/>
            <a:ext cx="3505028" cy="0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feedback-bracket-2" descr="Editable line; source id feedback-bracket-2"/>
          <p:cNvCxnSpPr/>
          <p:nvPr/>
        </p:nvCxnSpPr>
        <p:spPr>
          <a:xfrm flipV="1">
            <a:off x="3745569" y="4934529"/>
            <a:ext cx="0" cy="109962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cores-to-training-0" descr="Editable line; source id scores-to-training-0"/>
          <p:cNvCxnSpPr/>
          <p:nvPr/>
        </p:nvCxnSpPr>
        <p:spPr>
          <a:xfrm>
            <a:off x="3766187" y="4157925"/>
            <a:ext cx="158069" cy="0"/>
          </a:xfrm>
          <a:prstGeom prst="line">
            <a:avLst/>
          </a:prstGeom>
          <a:ln w="11683">
            <a:solidFill>
              <a:srgbClr val="D07A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cores-to-training-1" descr="Editable line; source id scores-to-training-1"/>
          <p:cNvCxnSpPr/>
          <p:nvPr/>
        </p:nvCxnSpPr>
        <p:spPr>
          <a:xfrm flipV="1">
            <a:off x="3924256" y="1292049"/>
            <a:ext cx="0" cy="2865876"/>
          </a:xfrm>
          <a:prstGeom prst="line">
            <a:avLst/>
          </a:prstGeom>
          <a:ln w="11683">
            <a:solidFill>
              <a:srgbClr val="D07A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cores-to-training-2" descr="Editable line; source id scores-to-training-2"/>
          <p:cNvSpPr/>
          <p:nvPr/>
        </p:nvSpPr>
        <p:spPr>
          <a:xfrm>
            <a:off x="3924257" y="1254250"/>
            <a:ext cx="391738" cy="75599"/>
          </a:xfrm>
          <a:custGeom>
            <a:avLst/>
            <a:gdLst/>
            <a:ahLst/>
            <a:cxnLst/>
            <a:rect l="l" t="t" r="r" b="b"/>
            <a:pathLst>
              <a:path w="57000" h="11000">
                <a:moveTo>
                  <a:pt x="0" y="4650"/>
                </a:moveTo>
                <a:lnTo>
                  <a:pt x="46000" y="4650"/>
                </a:lnTo>
                <a:lnTo>
                  <a:pt x="46000" y="0"/>
                </a:lnTo>
                <a:lnTo>
                  <a:pt x="57000" y="5500"/>
                </a:lnTo>
                <a:lnTo>
                  <a:pt x="46000" y="11000"/>
                </a:lnTo>
                <a:lnTo>
                  <a:pt x="46000" y="6350"/>
                </a:lnTo>
                <a:lnTo>
                  <a:pt x="0" y="6350"/>
                </a:lnTo>
                <a:close/>
              </a:path>
            </a:pathLst>
          </a:custGeom>
          <a:solidFill>
            <a:srgbClr val="D07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enter-rule-0" descr="Editable line; source id center-rule-0"/>
          <p:cNvCxnSpPr/>
          <p:nvPr/>
        </p:nvCxnSpPr>
        <p:spPr>
          <a:xfrm>
            <a:off x="4247269" y="4439702"/>
            <a:ext cx="3704333" cy="0"/>
          </a:xfrm>
          <a:prstGeom prst="line">
            <a:avLst/>
          </a:prstGeom>
          <a:ln w="8247">
            <a:solidFill>
              <a:srgbClr val="B8C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ransfer-0" descr="Editable line; source id transfer-0"/>
          <p:cNvSpPr/>
          <p:nvPr/>
        </p:nvSpPr>
        <p:spPr>
          <a:xfrm>
            <a:off x="7896622" y="1254250"/>
            <a:ext cx="391738" cy="75599"/>
          </a:xfrm>
          <a:custGeom>
            <a:avLst/>
            <a:gdLst/>
            <a:ahLst/>
            <a:cxnLst/>
            <a:rect l="l" t="t" r="r" b="b"/>
            <a:pathLst>
              <a:path w="57000" h="11000">
                <a:moveTo>
                  <a:pt x="0" y="4600"/>
                </a:moveTo>
                <a:lnTo>
                  <a:pt x="46000" y="4600"/>
                </a:lnTo>
                <a:lnTo>
                  <a:pt x="46000" y="0"/>
                </a:lnTo>
                <a:lnTo>
                  <a:pt x="57000" y="5500"/>
                </a:lnTo>
                <a:lnTo>
                  <a:pt x="46000" y="11000"/>
                </a:lnTo>
                <a:lnTo>
                  <a:pt x="46000" y="6400"/>
                </a:lnTo>
                <a:lnTo>
                  <a:pt x="0" y="6400"/>
                </a:lnTo>
                <a:close/>
              </a:path>
            </a:pathLst>
          </a:custGeom>
          <a:solidFill>
            <a:srgbClr val="D07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roposer-stream-0" descr="Editable line; source id proposer-stream-0"/>
          <p:cNvSpPr/>
          <p:nvPr/>
        </p:nvSpPr>
        <p:spPr>
          <a:xfrm>
            <a:off x="9848442" y="1673479"/>
            <a:ext cx="281777" cy="75599"/>
          </a:xfrm>
          <a:custGeom>
            <a:avLst/>
            <a:gdLst/>
            <a:ahLst/>
            <a:cxnLst/>
            <a:rect l="l" t="t" r="r" b="b"/>
            <a:pathLst>
              <a:path w="41000" h="11000">
                <a:moveTo>
                  <a:pt x="0" y="4600"/>
                </a:moveTo>
                <a:lnTo>
                  <a:pt x="30000" y="4600"/>
                </a:lnTo>
                <a:lnTo>
                  <a:pt x="30000" y="0"/>
                </a:lnTo>
                <a:lnTo>
                  <a:pt x="41000" y="5500"/>
                </a:lnTo>
                <a:lnTo>
                  <a:pt x="30000" y="11000"/>
                </a:lnTo>
                <a:lnTo>
                  <a:pt x="30000" y="6400"/>
                </a:lnTo>
                <a:lnTo>
                  <a:pt x="0" y="6400"/>
                </a:lnTo>
                <a:close/>
              </a:path>
            </a:pathLst>
          </a:custGeom>
          <a:solidFill>
            <a:srgbClr val="D07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stream-bracket-0" descr="Editable line; source id stream-bracket-0"/>
          <p:cNvCxnSpPr/>
          <p:nvPr/>
        </p:nvCxnSpPr>
        <p:spPr>
          <a:xfrm flipV="1">
            <a:off x="10171454" y="1429501"/>
            <a:ext cx="0" cy="68726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eam-bracket-1" descr="Editable line; source id stream-bracket-1"/>
          <p:cNvCxnSpPr/>
          <p:nvPr/>
        </p:nvCxnSpPr>
        <p:spPr>
          <a:xfrm>
            <a:off x="10171454" y="1429501"/>
            <a:ext cx="1628807" cy="0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eam-bracket-2" descr="Editable line; source id stream-bracket-2"/>
          <p:cNvCxnSpPr/>
          <p:nvPr/>
        </p:nvCxnSpPr>
        <p:spPr>
          <a:xfrm>
            <a:off x="11800261" y="1429501"/>
            <a:ext cx="0" cy="68726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esample-0" descr="Editable line; source id resample-0"/>
          <p:cNvCxnSpPr/>
          <p:nvPr/>
        </p:nvCxnSpPr>
        <p:spPr>
          <a:xfrm>
            <a:off x="11889605" y="1711278"/>
            <a:ext cx="89343" cy="0"/>
          </a:xfrm>
          <a:prstGeom prst="line">
            <a:avLst/>
          </a:prstGeom>
          <a:ln w="10308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sample-1" descr="Editable line; source id resample-1"/>
          <p:cNvCxnSpPr/>
          <p:nvPr/>
        </p:nvCxnSpPr>
        <p:spPr>
          <a:xfrm flipV="1">
            <a:off x="11978948" y="872820"/>
            <a:ext cx="0" cy="838458"/>
          </a:xfrm>
          <a:prstGeom prst="line">
            <a:avLst/>
          </a:prstGeom>
          <a:ln w="10308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esample-2" descr="Editable line; source id resample-2"/>
          <p:cNvCxnSpPr/>
          <p:nvPr/>
        </p:nvCxnSpPr>
        <p:spPr>
          <a:xfrm flipH="1">
            <a:off x="9126818" y="872820"/>
            <a:ext cx="2852130" cy="0"/>
          </a:xfrm>
          <a:prstGeom prst="line">
            <a:avLst/>
          </a:prstGeom>
          <a:ln w="10308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sample-3" descr="Editable line; source id resample-3"/>
          <p:cNvSpPr/>
          <p:nvPr/>
        </p:nvSpPr>
        <p:spPr>
          <a:xfrm>
            <a:off x="9089019" y="872821"/>
            <a:ext cx="75599" cy="295522"/>
          </a:xfrm>
          <a:custGeom>
            <a:avLst/>
            <a:gdLst/>
            <a:ahLst/>
            <a:cxnLst/>
            <a:rect l="l" t="t" r="r" b="b"/>
            <a:pathLst>
              <a:path w="11000" h="43000">
                <a:moveTo>
                  <a:pt x="6250" y="0"/>
                </a:moveTo>
                <a:lnTo>
                  <a:pt x="6250" y="32000"/>
                </a:lnTo>
                <a:lnTo>
                  <a:pt x="11000" y="32000"/>
                </a:lnTo>
                <a:lnTo>
                  <a:pt x="5500" y="43000"/>
                </a:lnTo>
                <a:lnTo>
                  <a:pt x="0" y="32000"/>
                </a:lnTo>
                <a:lnTo>
                  <a:pt x="4750" y="32000"/>
                </a:lnTo>
                <a:lnTo>
                  <a:pt x="4750" y="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lice-to-vla-0" descr="Editable line; source id slice-to-vla-0"/>
          <p:cNvSpPr/>
          <p:nvPr/>
        </p:nvSpPr>
        <p:spPr>
          <a:xfrm>
            <a:off x="10168018" y="1938074"/>
            <a:ext cx="75599" cy="872821"/>
          </a:xfrm>
          <a:custGeom>
            <a:avLst/>
            <a:gdLst/>
            <a:ahLst/>
            <a:cxnLst/>
            <a:rect l="l" t="t" r="r" b="b"/>
            <a:pathLst>
              <a:path w="11000" h="127000">
                <a:moveTo>
                  <a:pt x="6400" y="0"/>
                </a:moveTo>
                <a:lnTo>
                  <a:pt x="6400" y="116000"/>
                </a:lnTo>
                <a:lnTo>
                  <a:pt x="11000" y="116000"/>
                </a:lnTo>
                <a:lnTo>
                  <a:pt x="5500" y="127000"/>
                </a:lnTo>
                <a:lnTo>
                  <a:pt x="0" y="116000"/>
                </a:lnTo>
                <a:lnTo>
                  <a:pt x="4600" y="116000"/>
                </a:lnTo>
                <a:lnTo>
                  <a:pt x="4600" y="0"/>
                </a:lnTo>
                <a:close/>
              </a:path>
            </a:pathLst>
          </a:custGeom>
          <a:solidFill>
            <a:srgbClr val="D07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ontext-proposer-0" descr="Editable line; source id context-proposer-0"/>
          <p:cNvSpPr/>
          <p:nvPr/>
        </p:nvSpPr>
        <p:spPr>
          <a:xfrm>
            <a:off x="8711026" y="2343558"/>
            <a:ext cx="75599" cy="487955"/>
          </a:xfrm>
          <a:custGeom>
            <a:avLst/>
            <a:gdLst/>
            <a:ahLst/>
            <a:cxnLst/>
            <a:rect l="l" t="t" r="r" b="b"/>
            <a:pathLst>
              <a:path w="11000" h="71000">
                <a:moveTo>
                  <a:pt x="4700" y="71000"/>
                </a:moveTo>
                <a:lnTo>
                  <a:pt x="470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6300" y="11000"/>
                </a:lnTo>
                <a:lnTo>
                  <a:pt x="6300" y="7100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bservation-vla-0" descr="Editable line; source id observation-vla-0"/>
          <p:cNvSpPr/>
          <p:nvPr/>
        </p:nvSpPr>
        <p:spPr>
          <a:xfrm>
            <a:off x="9119946" y="3322904"/>
            <a:ext cx="268032" cy="75599"/>
          </a:xfrm>
          <a:custGeom>
            <a:avLst/>
            <a:gdLst/>
            <a:ahLst/>
            <a:cxnLst/>
            <a:rect l="l" t="t" r="r" b="b"/>
            <a:pathLst>
              <a:path w="39000" h="11000">
                <a:moveTo>
                  <a:pt x="0" y="4750"/>
                </a:moveTo>
                <a:lnTo>
                  <a:pt x="28000" y="4750"/>
                </a:lnTo>
                <a:lnTo>
                  <a:pt x="28000" y="0"/>
                </a:lnTo>
                <a:lnTo>
                  <a:pt x="39000" y="5500"/>
                </a:lnTo>
                <a:lnTo>
                  <a:pt x="28000" y="11000"/>
                </a:lnTo>
                <a:lnTo>
                  <a:pt x="28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la-prefix-0" descr="Editable line; source id vla-prefix-0"/>
          <p:cNvSpPr/>
          <p:nvPr/>
        </p:nvSpPr>
        <p:spPr>
          <a:xfrm>
            <a:off x="10872460" y="3322904"/>
            <a:ext cx="178688" cy="75599"/>
          </a:xfrm>
          <a:custGeom>
            <a:avLst/>
            <a:gdLst/>
            <a:ahLst/>
            <a:cxnLst/>
            <a:rect l="l" t="t" r="r" b="b"/>
            <a:pathLst>
              <a:path w="26000" h="11000">
                <a:moveTo>
                  <a:pt x="0" y="4750"/>
                </a:moveTo>
                <a:lnTo>
                  <a:pt x="15000" y="4750"/>
                </a:lnTo>
                <a:lnTo>
                  <a:pt x="15000" y="0"/>
                </a:lnTo>
                <a:lnTo>
                  <a:pt x="26000" y="5500"/>
                </a:lnTo>
                <a:lnTo>
                  <a:pt x="15000" y="11000"/>
                </a:lnTo>
                <a:lnTo>
                  <a:pt x="15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hunk-loop-0" descr="Editable line; source id chunk-loop-0"/>
          <p:cNvCxnSpPr/>
          <p:nvPr/>
        </p:nvCxnSpPr>
        <p:spPr>
          <a:xfrm>
            <a:off x="11759025" y="3580626"/>
            <a:ext cx="0" cy="611662"/>
          </a:xfrm>
          <a:prstGeom prst="line">
            <a:avLst/>
          </a:prstGeom>
          <a:ln w="10308">
            <a:solidFill>
              <a:srgbClr val="2762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hunk-loop-1" descr="Editable line; source id chunk-loop-1"/>
          <p:cNvCxnSpPr/>
          <p:nvPr/>
        </p:nvCxnSpPr>
        <p:spPr>
          <a:xfrm flipH="1">
            <a:off x="8680098" y="4192288"/>
            <a:ext cx="3078927" cy="0"/>
          </a:xfrm>
          <a:prstGeom prst="line">
            <a:avLst/>
          </a:prstGeom>
          <a:ln w="10308">
            <a:solidFill>
              <a:srgbClr val="2762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hunk-loop-2" descr="Editable line; source id chunk-loop-2"/>
          <p:cNvSpPr/>
          <p:nvPr/>
        </p:nvSpPr>
        <p:spPr>
          <a:xfrm>
            <a:off x="8642300" y="3711206"/>
            <a:ext cx="75599" cy="481082"/>
          </a:xfrm>
          <a:custGeom>
            <a:avLst/>
            <a:gdLst/>
            <a:ahLst/>
            <a:cxnLst/>
            <a:rect l="l" t="t" r="r" b="b"/>
            <a:pathLst>
              <a:path w="11000" h="70000">
                <a:moveTo>
                  <a:pt x="4750" y="70000"/>
                </a:moveTo>
                <a:lnTo>
                  <a:pt x="475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6250" y="11000"/>
                </a:lnTo>
                <a:lnTo>
                  <a:pt x="6250" y="700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footer-rule-0" descr="Editable line; source id footer-rule-0"/>
          <p:cNvCxnSpPr/>
          <p:nvPr/>
        </p:nvCxnSpPr>
        <p:spPr>
          <a:xfrm>
            <a:off x="192432" y="5594299"/>
            <a:ext cx="11814007" cy="0"/>
          </a:xfrm>
          <a:prstGeom prst="line">
            <a:avLst/>
          </a:prstGeom>
          <a:ln w="8247">
            <a:solidFill>
              <a:srgbClr val="A5BB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heading-a" descr="Editable text; source id heading-a"/>
          <p:cNvSpPr txBox="1"/>
          <p:nvPr/>
        </p:nvSpPr>
        <p:spPr>
          <a:xfrm>
            <a:off x="206178" y="82471"/>
            <a:ext cx="3779932" cy="3505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02"/>
              </a:lnSpc>
              <a:spcBef>
                <a:spcPts val="0"/>
              </a:spcBef>
              <a:spcAft>
                <a:spcPts val="0"/>
              </a:spcAft>
              <a:def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(a)  Score student continuation</a:t>
            </a:r>
          </a:p>
        </p:txBody>
      </p:sp>
      <p:sp>
        <p:nvSpPr>
          <p:cNvPr id="58" name="heading-b" descr="Editable text; source id heading-b"/>
          <p:cNvSpPr txBox="1"/>
          <p:nvPr/>
        </p:nvSpPr>
        <p:spPr>
          <a:xfrm>
            <a:off x="4261014" y="82471"/>
            <a:ext cx="3766187" cy="3505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02"/>
              </a:lnSpc>
              <a:spcBef>
                <a:spcPts val="0"/>
              </a:spcBef>
              <a:spcAft>
                <a:spcPts val="0"/>
              </a:spcAft>
              <a:def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(b)  Learn what to propose</a:t>
            </a:r>
          </a:p>
        </p:txBody>
      </p:sp>
      <p:sp>
        <p:nvSpPr>
          <p:cNvPr id="59" name="heading-c" descr="Editable text; source id heading-c"/>
          <p:cNvSpPr txBox="1"/>
          <p:nvPr/>
        </p:nvSpPr>
        <p:spPr>
          <a:xfrm>
            <a:off x="8233379" y="82471"/>
            <a:ext cx="3779932" cy="3505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02"/>
              </a:lnSpc>
              <a:spcBef>
                <a:spcPts val="0"/>
              </a:spcBef>
              <a:spcAft>
                <a:spcPts val="0"/>
              </a:spcAft>
              <a:def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(c)  Reuse without online scoring</a:t>
            </a:r>
          </a:p>
        </p:txBody>
      </p:sp>
      <p:sp>
        <p:nvSpPr>
          <p:cNvPr id="60" name="sequence-label-0" descr="Editable text; source id sequence-label-0"/>
          <p:cNvSpPr txBox="1"/>
          <p:nvPr/>
        </p:nvSpPr>
        <p:spPr>
          <a:xfrm>
            <a:off x="233668" y="4535918"/>
            <a:ext cx="1024018" cy="3917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Candidate</a:t>
            </a:r>
          </a:p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segment</a:t>
            </a:r>
          </a:p>
        </p:txBody>
      </p:sp>
      <p:sp>
        <p:nvSpPr>
          <p:cNvPr id="61" name="sequence-label-1" descr="Editable text; source id sequence-label-1"/>
          <p:cNvSpPr txBox="1"/>
          <p:nvPr/>
        </p:nvSpPr>
        <p:spPr>
          <a:xfrm>
            <a:off x="1463864" y="4535918"/>
            <a:ext cx="1024018" cy="3917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Native</a:t>
            </a:r>
          </a:p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continuation</a:t>
            </a:r>
          </a:p>
        </p:txBody>
      </p:sp>
      <p:sp>
        <p:nvSpPr>
          <p:cNvPr id="62" name="sequence-label-2" descr="Editable text; source id sequence-label-2"/>
          <p:cNvSpPr txBox="1"/>
          <p:nvPr/>
        </p:nvSpPr>
        <p:spPr>
          <a:xfrm>
            <a:off x="2714678" y="4535918"/>
            <a:ext cx="1024018" cy="39173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Outcome</a:t>
            </a:r>
          </a:p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score</a:t>
            </a:r>
          </a:p>
        </p:txBody>
      </p:sp>
      <p:sp>
        <p:nvSpPr>
          <p:cNvPr id="63" name="feedback-label" descr="Editable text; source id feedback-label"/>
          <p:cNvSpPr txBox="1"/>
          <p:nvPr/>
        </p:nvSpPr>
        <p:spPr>
          <a:xfrm>
            <a:off x="1044635" y="5168198"/>
            <a:ext cx="1855603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Simulator feedback</a:t>
            </a:r>
          </a:p>
        </p:txBody>
      </p:sp>
      <p:sp>
        <p:nvSpPr>
          <p:cNvPr id="64" name="asbs" descr="Editable text; source id asbs"/>
          <p:cNvSpPr txBox="1"/>
          <p:nvPr/>
        </p:nvSpPr>
        <p:spPr>
          <a:xfrm>
            <a:off x="5553064" y="673515"/>
            <a:ext cx="1085871" cy="37112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defRPr sz="227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27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ASBS</a:t>
            </a:r>
          </a:p>
        </p:txBody>
      </p:sp>
      <p:sp>
        <p:nvSpPr>
          <p:cNvPr id="65" name="learning-chain" descr="Editable text; source id learning-chain"/>
          <p:cNvSpPr txBox="1"/>
          <p:nvPr/>
        </p:nvSpPr>
        <p:spPr>
          <a:xfrm>
            <a:off x="4377848" y="1058381"/>
            <a:ext cx="3470665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Scores  →  value surrogate  →  sampler training</a:t>
            </a:r>
          </a:p>
        </p:txBody>
      </p:sp>
      <p:sp>
        <p:nvSpPr>
          <p:cNvPr id="66" name="native-noise" descr="Editable text; source id native-noise"/>
          <p:cNvSpPr txBox="1"/>
          <p:nvPr/>
        </p:nvSpPr>
        <p:spPr>
          <a:xfrm>
            <a:off x="4343485" y="3786804"/>
            <a:ext cx="1367648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Native noise</a:t>
            </a:r>
          </a:p>
        </p:txBody>
      </p:sp>
      <p:sp>
        <p:nvSpPr>
          <p:cNvPr id="67" name="learned-proposals" descr="Editable text; source id learned-proposals"/>
          <p:cNvSpPr txBox="1"/>
          <p:nvPr/>
        </p:nvSpPr>
        <p:spPr>
          <a:xfrm>
            <a:off x="6583954" y="3848658"/>
            <a:ext cx="1450119" cy="26115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Learned proposals</a:t>
            </a:r>
          </a:p>
        </p:txBody>
      </p:sp>
      <p:sp>
        <p:nvSpPr>
          <p:cNvPr id="68" name="retained" descr="Editable text; source id retained"/>
          <p:cNvSpPr txBox="1"/>
          <p:nvPr/>
        </p:nvSpPr>
        <p:spPr>
          <a:xfrm>
            <a:off x="4329740" y="4529046"/>
            <a:ext cx="3594371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Store feedback in the proposer, not the VLA weights</a:t>
            </a:r>
          </a:p>
        </p:txBody>
      </p:sp>
      <p:sp>
        <p:nvSpPr>
          <p:cNvPr id="69" name="score-only" descr="Editable text; source id score-only"/>
          <p:cNvSpPr txBox="1"/>
          <p:nvPr/>
        </p:nvSpPr>
        <p:spPr>
          <a:xfrm>
            <a:off x="4996383" y="4948274"/>
            <a:ext cx="2199233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Score-only supervision</a:t>
            </a:r>
          </a:p>
        </p:txBody>
      </p:sp>
      <p:sp>
        <p:nvSpPr>
          <p:cNvPr id="70" name="proposer-title" descr="Editable text; source id proposer-title"/>
          <p:cNvSpPr txBox="1"/>
          <p:nvPr/>
        </p:nvSpPr>
        <p:spPr>
          <a:xfrm>
            <a:off x="8384577" y="1230196"/>
            <a:ext cx="1408883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Learned proposer</a:t>
            </a:r>
          </a:p>
        </p:txBody>
      </p:sp>
      <p:sp>
        <p:nvSpPr>
          <p:cNvPr id="71" name="stream-dots" descr="Editable text; source id stream-dots"/>
          <p:cNvSpPr txBox="1"/>
          <p:nvPr/>
        </p:nvSpPr>
        <p:spPr>
          <a:xfrm>
            <a:off x="11408522" y="1587571"/>
            <a:ext cx="254286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4"/>
              </a:lnSpc>
              <a:spcBef>
                <a:spcPts val="0"/>
              </a:spcBef>
              <a:spcAft>
                <a:spcPts val="0"/>
              </a:spcAft>
              <a:defRPr sz="1569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69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72" name="ten-chunks" descr="Editable text; source id ten-chunks"/>
          <p:cNvSpPr txBox="1"/>
          <p:nvPr/>
        </p:nvSpPr>
        <p:spPr>
          <a:xfrm>
            <a:off x="10446358" y="1120234"/>
            <a:ext cx="962164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10 chunks</a:t>
            </a:r>
          </a:p>
        </p:txBody>
      </p:sp>
      <p:sp>
        <p:nvSpPr>
          <p:cNvPr id="73" name="segment-draw" descr="Editable text; source id segment-draw"/>
          <p:cNvSpPr txBox="1"/>
          <p:nvPr/>
        </p:nvSpPr>
        <p:spPr>
          <a:xfrm>
            <a:off x="10288288" y="1869348"/>
            <a:ext cx="1546335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One segment draw</a:t>
            </a:r>
          </a:p>
        </p:txBody>
      </p:sp>
      <p:sp>
        <p:nvSpPr>
          <p:cNvPr id="74" name="resample-label" descr="Editable text; source id resample-label"/>
          <p:cNvSpPr txBox="1"/>
          <p:nvPr/>
        </p:nvSpPr>
        <p:spPr>
          <a:xfrm>
            <a:off x="9415467" y="618534"/>
            <a:ext cx="2570353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After 10 chunks, resample next segment</a:t>
            </a:r>
          </a:p>
        </p:txBody>
      </p:sp>
      <p:sp>
        <p:nvSpPr>
          <p:cNvPr id="75" name="boundary-label" descr="Editable text; source id boundary-label"/>
          <p:cNvSpPr txBox="1"/>
          <p:nvPr/>
        </p:nvSpPr>
        <p:spPr>
          <a:xfrm>
            <a:off x="8824423" y="2453519"/>
            <a:ext cx="1312667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At segment boundary</a:t>
            </a:r>
          </a:p>
        </p:txBody>
      </p:sp>
      <p:sp>
        <p:nvSpPr>
          <p:cNvPr id="76" name="observation-label" descr="Editable text; source id observation-label"/>
          <p:cNvSpPr txBox="1"/>
          <p:nvPr/>
        </p:nvSpPr>
        <p:spPr>
          <a:xfrm>
            <a:off x="8233379" y="2845258"/>
            <a:ext cx="114772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Fresh observation</a:t>
            </a:r>
          </a:p>
        </p:txBody>
      </p:sp>
      <p:sp>
        <p:nvSpPr>
          <p:cNvPr id="77" name="vla-title" descr="Editable text; source id vla-title"/>
          <p:cNvSpPr txBox="1"/>
          <p:nvPr/>
        </p:nvSpPr>
        <p:spPr>
          <a:xfrm>
            <a:off x="9525429" y="3223251"/>
            <a:ext cx="1030890" cy="28177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Frozen VLA</a:t>
            </a:r>
          </a:p>
        </p:txBody>
      </p:sp>
      <p:sp>
        <p:nvSpPr>
          <p:cNvPr id="78" name="prefix-title" descr="Editable text; source id prefix-title"/>
          <p:cNvSpPr txBox="1"/>
          <p:nvPr/>
        </p:nvSpPr>
        <p:spPr>
          <a:xfrm>
            <a:off x="11037402" y="2962092"/>
            <a:ext cx="1010272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79" name="chunk-loop-label" descr="Editable text; source id chunk-loop-label"/>
          <p:cNvSpPr txBox="1"/>
          <p:nvPr/>
        </p:nvSpPr>
        <p:spPr>
          <a:xfrm>
            <a:off x="9381104" y="4240396"/>
            <a:ext cx="1896838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Re-observe each chunk</a:t>
            </a:r>
          </a:p>
        </p:txBody>
      </p:sp>
      <p:sp>
        <p:nvSpPr>
          <p:cNvPr id="80" name="no-scorer" descr="Editable text; source id no-scorer"/>
          <p:cNvSpPr txBox="1"/>
          <p:nvPr/>
        </p:nvSpPr>
        <p:spPr>
          <a:xfrm>
            <a:off x="8721334" y="4934529"/>
            <a:ext cx="2962092" cy="2886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No online simulator or surrogate</a:t>
            </a:r>
          </a:p>
        </p:txBody>
      </p:sp>
      <p:sp>
        <p:nvSpPr>
          <p:cNvPr id="81" name="footer" descr="Editable text; source id footer"/>
          <p:cNvSpPr txBox="1"/>
          <p:nvPr/>
        </p:nvSpPr>
        <p:spPr>
          <a:xfrm>
            <a:off x="3333212" y="5649280"/>
            <a:ext cx="5944802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Proposed mechanism · conceptual scenes, not measured recovery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red" descr="Editable shape; source id shared"/>
          <p:cNvSpPr/>
          <p:nvPr/>
        </p:nvSpPr>
        <p:spPr>
          <a:xfrm>
            <a:off x="240541" y="343630"/>
            <a:ext cx="2398538" cy="1429501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ndidate" descr="Editable shape; source id candidate"/>
          <p:cNvSpPr/>
          <p:nvPr/>
        </p:nvSpPr>
        <p:spPr>
          <a:xfrm>
            <a:off x="2941474" y="343630"/>
            <a:ext cx="3381321" cy="1429501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tive" descr="Editable shape; source id native"/>
          <p:cNvSpPr/>
          <p:nvPr/>
        </p:nvSpPr>
        <p:spPr>
          <a:xfrm>
            <a:off x="6611445" y="343630"/>
            <a:ext cx="2577226" cy="1429501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cores" descr="Editable shape; source id scores"/>
          <p:cNvSpPr/>
          <p:nvPr/>
        </p:nvSpPr>
        <p:spPr>
          <a:xfrm>
            <a:off x="9484193" y="343630"/>
            <a:ext cx="2508500" cy="1429501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ndidate-vla" descr="Editable shape; source id candidate-vla"/>
          <p:cNvSpPr/>
          <p:nvPr/>
        </p:nvSpPr>
        <p:spPr>
          <a:xfrm>
            <a:off x="3127034" y="1312667"/>
            <a:ext cx="1484482" cy="350502"/>
          </a:xfrm>
          <a:prstGeom prst="rect">
            <a:avLst/>
          </a:prstGeom>
          <a:solidFill>
            <a:srgbClr val="EBF2F8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didate-lock-body" descr="Editable shape; source id candidate-lock-body"/>
          <p:cNvSpPr/>
          <p:nvPr/>
        </p:nvSpPr>
        <p:spPr>
          <a:xfrm>
            <a:off x="3291977" y="1451768"/>
            <a:ext cx="149547" cy="126181"/>
          </a:xfrm>
          <a:prstGeom prst="roundRect">
            <a:avLst>
              <a:gd name="adj" fmla="val 12000"/>
            </a:avLst>
          </a:prstGeom>
          <a:solidFill>
            <a:srgbClr val="09204B"/>
          </a:solidFill>
          <a:ln w="687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dger" descr="Editable shape; source id ledger"/>
          <p:cNvSpPr/>
          <p:nvPr/>
        </p:nvSpPr>
        <p:spPr>
          <a:xfrm>
            <a:off x="9642263" y="680387"/>
            <a:ext cx="1175215" cy="982782"/>
          </a:xfrm>
          <a:prstGeom prst="rect">
            <a:avLst/>
          </a:prstGeom>
          <a:solidFill>
            <a:srgbClr val="FEFFFF"/>
          </a:solidFill>
          <a:ln w="8934">
            <a:solidFill>
              <a:srgbClr val="C2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urrogate-panel" descr="Editable shape; source id surrogate-panel"/>
          <p:cNvSpPr/>
          <p:nvPr/>
        </p:nvSpPr>
        <p:spPr>
          <a:xfrm>
            <a:off x="219923" y="2350430"/>
            <a:ext cx="4714606" cy="1388266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ampler-panel" descr="Editable shape; source id sampler-panel"/>
          <p:cNvSpPr/>
          <p:nvPr/>
        </p:nvSpPr>
        <p:spPr>
          <a:xfrm>
            <a:off x="5876076" y="2274831"/>
            <a:ext cx="6130362" cy="1456992"/>
          </a:xfrm>
          <a:prstGeom prst="rect">
            <a:avLst/>
          </a:prstGeom>
          <a:solidFill>
            <a:srgbClr val="FFFEFB"/>
          </a:solidFill>
          <a:ln w="8934">
            <a:solidFill>
              <a:srgbClr val="D07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xt" descr="Editable shape; source id context"/>
          <p:cNvSpPr/>
          <p:nvPr/>
        </p:nvSpPr>
        <p:spPr>
          <a:xfrm>
            <a:off x="240541" y="4439702"/>
            <a:ext cx="2054908" cy="1085871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ctor" descr="Editable shape; source id actor"/>
          <p:cNvSpPr/>
          <p:nvPr/>
        </p:nvSpPr>
        <p:spPr>
          <a:xfrm>
            <a:off x="3120162" y="4501555"/>
            <a:ext cx="1560081" cy="927801"/>
          </a:xfrm>
          <a:prstGeom prst="rect">
            <a:avLst/>
          </a:prstGeom>
          <a:solidFill>
            <a:srgbClr val="FFFDFA"/>
          </a:solidFill>
          <a:ln w="8934">
            <a:solidFill>
              <a:srgbClr val="D07A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ream" descr="Editable shape; source id stream"/>
          <p:cNvSpPr/>
          <p:nvPr/>
        </p:nvSpPr>
        <p:spPr>
          <a:xfrm>
            <a:off x="4934529" y="4501555"/>
            <a:ext cx="2054908" cy="721623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ozen" descr="Editable shape; source id frozen"/>
          <p:cNvSpPr/>
          <p:nvPr/>
        </p:nvSpPr>
        <p:spPr>
          <a:xfrm>
            <a:off x="7346813" y="4494683"/>
            <a:ext cx="1807494" cy="920928"/>
          </a:xfrm>
          <a:prstGeom prst="rect">
            <a:avLst/>
          </a:prstGeom>
          <a:solidFill>
            <a:srgbClr val="FE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ozen-lock-body" descr="Editable shape; source id frozen-lock-body"/>
          <p:cNvSpPr/>
          <p:nvPr/>
        </p:nvSpPr>
        <p:spPr>
          <a:xfrm>
            <a:off x="7628590" y="4944151"/>
            <a:ext cx="175938" cy="148448"/>
          </a:xfrm>
          <a:prstGeom prst="roundRect">
            <a:avLst>
              <a:gd name="adj" fmla="val 12000"/>
            </a:avLst>
          </a:prstGeom>
          <a:solidFill>
            <a:srgbClr val="09204B"/>
          </a:solidFill>
          <a:ln w="687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efix" descr="Editable shape; source id prefix"/>
          <p:cNvSpPr/>
          <p:nvPr/>
        </p:nvSpPr>
        <p:spPr>
          <a:xfrm>
            <a:off x="9463575" y="4480937"/>
            <a:ext cx="2535990" cy="934674"/>
          </a:xfrm>
          <a:prstGeom prst="rect">
            <a:avLst/>
          </a:prstGeom>
          <a:solidFill>
            <a:srgbClr val="FFFFFF"/>
          </a:solidFill>
          <a:ln w="8934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didate-slice-0" descr="Editable shape; source id candidate-slice-0"/>
          <p:cNvSpPr/>
          <p:nvPr/>
        </p:nvSpPr>
        <p:spPr>
          <a:xfrm>
            <a:off x="3209506" y="666642"/>
            <a:ext cx="192432" cy="199305"/>
          </a:xfrm>
          <a:prstGeom prst="rect">
            <a:avLst/>
          </a:prstGeom>
          <a:solidFill>
            <a:srgbClr val="92CDE7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ndidate-slice-1" descr="Editable shape; source id candidate-slice-1"/>
          <p:cNvSpPr/>
          <p:nvPr/>
        </p:nvSpPr>
        <p:spPr>
          <a:xfrm>
            <a:off x="3470665" y="666642"/>
            <a:ext cx="192432" cy="199305"/>
          </a:xfrm>
          <a:prstGeom prst="rect">
            <a:avLst/>
          </a:prstGeom>
          <a:solidFill>
            <a:srgbClr val="77BEAD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didate-slice-2" descr="Editable shape; source id candidate-slice-2"/>
          <p:cNvSpPr/>
          <p:nvPr/>
        </p:nvSpPr>
        <p:spPr>
          <a:xfrm>
            <a:off x="3731824" y="666642"/>
            <a:ext cx="192432" cy="199305"/>
          </a:xfrm>
          <a:prstGeom prst="rect">
            <a:avLst/>
          </a:prstGeom>
          <a:solidFill>
            <a:srgbClr val="93C6A6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didate-slice-3" descr="Editable shape; source id candidate-slice-3"/>
          <p:cNvSpPr/>
          <p:nvPr/>
        </p:nvSpPr>
        <p:spPr>
          <a:xfrm>
            <a:off x="3992982" y="666642"/>
            <a:ext cx="192432" cy="199305"/>
          </a:xfrm>
          <a:prstGeom prst="rect">
            <a:avLst/>
          </a:prstGeom>
          <a:solidFill>
            <a:srgbClr val="D5CA8C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didate-slice-4" descr="Editable shape; source id candidate-slice-4"/>
          <p:cNvSpPr/>
          <p:nvPr/>
        </p:nvSpPr>
        <p:spPr>
          <a:xfrm>
            <a:off x="4254141" y="666642"/>
            <a:ext cx="192432" cy="199305"/>
          </a:xfrm>
          <a:prstGeom prst="rect">
            <a:avLst/>
          </a:prstGeom>
          <a:solidFill>
            <a:srgbClr val="E9BD74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didate-slice-5" descr="Editable shape; source id candidate-slice-5"/>
          <p:cNvSpPr/>
          <p:nvPr/>
        </p:nvSpPr>
        <p:spPr>
          <a:xfrm>
            <a:off x="4515300" y="666642"/>
            <a:ext cx="192432" cy="199305"/>
          </a:xfrm>
          <a:prstGeom prst="rect">
            <a:avLst/>
          </a:prstGeom>
          <a:solidFill>
            <a:srgbClr val="E49F81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didate-slice-6" descr="Editable shape; source id candidate-slice-6"/>
          <p:cNvSpPr/>
          <p:nvPr/>
        </p:nvSpPr>
        <p:spPr>
          <a:xfrm>
            <a:off x="4776459" y="666642"/>
            <a:ext cx="192432" cy="199305"/>
          </a:xfrm>
          <a:prstGeom prst="rect">
            <a:avLst/>
          </a:prstGeom>
          <a:solidFill>
            <a:srgbClr val="EAA4B4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didate-slice-7" descr="Editable shape; source id candidate-slice-7"/>
          <p:cNvSpPr/>
          <p:nvPr/>
        </p:nvSpPr>
        <p:spPr>
          <a:xfrm>
            <a:off x="5037618" y="666642"/>
            <a:ext cx="192432" cy="199305"/>
          </a:xfrm>
          <a:prstGeom prst="rect">
            <a:avLst/>
          </a:prstGeom>
          <a:solidFill>
            <a:srgbClr val="B492C8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ndidate-slice-8" descr="Editable shape; source id candidate-slice-8"/>
          <p:cNvSpPr/>
          <p:nvPr/>
        </p:nvSpPr>
        <p:spPr>
          <a:xfrm>
            <a:off x="5298777" y="666642"/>
            <a:ext cx="192432" cy="199305"/>
          </a:xfrm>
          <a:prstGeom prst="rect">
            <a:avLst/>
          </a:prstGeom>
          <a:solidFill>
            <a:srgbClr val="A58CCB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ndidate-slice-9" descr="Editable shape; source id candidate-slice-9"/>
          <p:cNvSpPr/>
          <p:nvPr/>
        </p:nvSpPr>
        <p:spPr>
          <a:xfrm>
            <a:off x="5559936" y="666642"/>
            <a:ext cx="192432" cy="199305"/>
          </a:xfrm>
          <a:prstGeom prst="rect">
            <a:avLst/>
          </a:prstGeom>
          <a:solidFill>
            <a:srgbClr val="9E8CC9"/>
          </a:solidFill>
          <a:ln w="5498">
            <a:solidFill>
              <a:srgbClr val="9CB0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ndidate-lock-loop" descr="Editable shape; source id candidate-lock-loop"/>
          <p:cNvSpPr/>
          <p:nvPr/>
        </p:nvSpPr>
        <p:spPr>
          <a:xfrm>
            <a:off x="3320017" y="1367648"/>
            <a:ext cx="93467" cy="116834"/>
          </a:xfrm>
          <a:prstGeom prst="ellipse">
            <a:avLst/>
          </a:prstGeom>
          <a:noFill/>
          <a:ln w="18693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didate-lock-hole" descr="Editable shape; source id candidate-lock-hole"/>
          <p:cNvSpPr/>
          <p:nvPr/>
        </p:nvSpPr>
        <p:spPr>
          <a:xfrm>
            <a:off x="3357404" y="1484482"/>
            <a:ext cx="18693" cy="3738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etwork-1" descr="Editable shape; source id network-1"/>
          <p:cNvSpPr/>
          <p:nvPr/>
        </p:nvSpPr>
        <p:spPr>
          <a:xfrm>
            <a:off x="1470737" y="2749041"/>
            <a:ext cx="240541" cy="584171"/>
          </a:xfrm>
          <a:prstGeom prst="roundRect">
            <a:avLst>
              <a:gd name="adj" fmla="val 12000"/>
            </a:avLst>
          </a:prstGeom>
          <a:solidFill>
            <a:srgbClr val="C8D5E0"/>
          </a:solidFill>
          <a:ln w="6872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etwork-2" descr="Editable shape; source id network-2"/>
          <p:cNvSpPr/>
          <p:nvPr/>
        </p:nvSpPr>
        <p:spPr>
          <a:xfrm>
            <a:off x="1862475" y="2749041"/>
            <a:ext cx="240541" cy="584171"/>
          </a:xfrm>
          <a:prstGeom prst="roundRect">
            <a:avLst>
              <a:gd name="adj" fmla="val 12000"/>
            </a:avLst>
          </a:prstGeom>
          <a:solidFill>
            <a:srgbClr val="C8D5E0"/>
          </a:solidFill>
          <a:ln w="6872">
            <a:solidFill>
              <a:srgbClr val="2762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lice-0" descr="Editable shape; source id slice-0"/>
          <p:cNvSpPr/>
          <p:nvPr/>
        </p:nvSpPr>
        <p:spPr>
          <a:xfrm>
            <a:off x="5051364" y="4865803"/>
            <a:ext cx="130579" cy="185560"/>
          </a:xfrm>
          <a:prstGeom prst="rect">
            <a:avLst/>
          </a:prstGeom>
          <a:solidFill>
            <a:srgbClr val="92CDE7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lice-1" descr="Editable shape; source id slice-1"/>
          <p:cNvSpPr/>
          <p:nvPr/>
        </p:nvSpPr>
        <p:spPr>
          <a:xfrm>
            <a:off x="5209433" y="4865803"/>
            <a:ext cx="130579" cy="185560"/>
          </a:xfrm>
          <a:prstGeom prst="rect">
            <a:avLst/>
          </a:prstGeom>
          <a:solidFill>
            <a:srgbClr val="77BEAD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lice-2" descr="Editable shape; source id slice-2"/>
          <p:cNvSpPr/>
          <p:nvPr/>
        </p:nvSpPr>
        <p:spPr>
          <a:xfrm>
            <a:off x="5367503" y="4865803"/>
            <a:ext cx="130579" cy="185560"/>
          </a:xfrm>
          <a:prstGeom prst="rect">
            <a:avLst/>
          </a:prstGeom>
          <a:solidFill>
            <a:srgbClr val="93C6A6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lice-3" descr="Editable shape; source id slice-3"/>
          <p:cNvSpPr/>
          <p:nvPr/>
        </p:nvSpPr>
        <p:spPr>
          <a:xfrm>
            <a:off x="5525573" y="4865803"/>
            <a:ext cx="130579" cy="185560"/>
          </a:xfrm>
          <a:prstGeom prst="rect">
            <a:avLst/>
          </a:prstGeom>
          <a:solidFill>
            <a:srgbClr val="D5CA8C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lice-4" descr="Editable shape; source id slice-4"/>
          <p:cNvSpPr/>
          <p:nvPr/>
        </p:nvSpPr>
        <p:spPr>
          <a:xfrm>
            <a:off x="5683643" y="4865803"/>
            <a:ext cx="130579" cy="185560"/>
          </a:xfrm>
          <a:prstGeom prst="rect">
            <a:avLst/>
          </a:prstGeom>
          <a:solidFill>
            <a:srgbClr val="E9BD74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lice-5" descr="Editable shape; source id slice-5"/>
          <p:cNvSpPr/>
          <p:nvPr/>
        </p:nvSpPr>
        <p:spPr>
          <a:xfrm>
            <a:off x="5841713" y="4865803"/>
            <a:ext cx="130579" cy="185560"/>
          </a:xfrm>
          <a:prstGeom prst="rect">
            <a:avLst/>
          </a:prstGeom>
          <a:solidFill>
            <a:srgbClr val="E49F81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lice-6" descr="Editable shape; source id slice-6"/>
          <p:cNvSpPr/>
          <p:nvPr/>
        </p:nvSpPr>
        <p:spPr>
          <a:xfrm>
            <a:off x="5999783" y="4865803"/>
            <a:ext cx="130579" cy="185560"/>
          </a:xfrm>
          <a:prstGeom prst="rect">
            <a:avLst/>
          </a:prstGeom>
          <a:solidFill>
            <a:srgbClr val="EAA4B4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lice-7" descr="Editable shape; source id slice-7"/>
          <p:cNvSpPr/>
          <p:nvPr/>
        </p:nvSpPr>
        <p:spPr>
          <a:xfrm>
            <a:off x="6157853" y="4865803"/>
            <a:ext cx="130579" cy="185560"/>
          </a:xfrm>
          <a:prstGeom prst="rect">
            <a:avLst/>
          </a:prstGeom>
          <a:solidFill>
            <a:srgbClr val="B492C8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lice-8" descr="Editable shape; source id slice-8"/>
          <p:cNvSpPr/>
          <p:nvPr/>
        </p:nvSpPr>
        <p:spPr>
          <a:xfrm>
            <a:off x="6315923" y="4865803"/>
            <a:ext cx="130579" cy="185560"/>
          </a:xfrm>
          <a:prstGeom prst="rect">
            <a:avLst/>
          </a:prstGeom>
          <a:solidFill>
            <a:srgbClr val="A58CCB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lice-9" descr="Editable shape; source id slice-9"/>
          <p:cNvSpPr/>
          <p:nvPr/>
        </p:nvSpPr>
        <p:spPr>
          <a:xfrm>
            <a:off x="6473993" y="4865803"/>
            <a:ext cx="130579" cy="185560"/>
          </a:xfrm>
          <a:prstGeom prst="rect">
            <a:avLst/>
          </a:prstGeom>
          <a:solidFill>
            <a:srgbClr val="9E8CC9"/>
          </a:solidFill>
          <a:ln w="5498">
            <a:solidFill>
              <a:srgbClr val="94A8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ozen-lock-loop" descr="Editable shape; source id frozen-lock-loop"/>
          <p:cNvSpPr/>
          <p:nvPr/>
        </p:nvSpPr>
        <p:spPr>
          <a:xfrm>
            <a:off x="7661579" y="4845185"/>
            <a:ext cx="109961" cy="137452"/>
          </a:xfrm>
          <a:prstGeom prst="ellipse">
            <a:avLst/>
          </a:prstGeom>
          <a:noFill/>
          <a:ln w="21992">
            <a:solidFill>
              <a:srgbClr val="0920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ozen-lock-hole" descr="Editable shape; source id frozen-lock-hole"/>
          <p:cNvSpPr/>
          <p:nvPr/>
        </p:nvSpPr>
        <p:spPr>
          <a:xfrm>
            <a:off x="7705563" y="4982637"/>
            <a:ext cx="21992" cy="439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shared-scen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57" y="659769"/>
            <a:ext cx="1030890" cy="886565"/>
          </a:xfrm>
          <a:prstGeom prst="rect">
            <a:avLst/>
          </a:prstGeom>
          <a:effectLst/>
        </p:spPr>
      </p:pic>
      <p:pic>
        <p:nvPicPr>
          <p:cNvPr id="44" name="candidate-scene-1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568" y="1182087"/>
            <a:ext cx="570426" cy="536063"/>
          </a:xfrm>
          <a:prstGeom prst="rect">
            <a:avLst/>
          </a:prstGeom>
          <a:effectLst/>
        </p:spPr>
      </p:pic>
      <p:pic>
        <p:nvPicPr>
          <p:cNvPr id="45" name="candidate-scene-2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54" y="1182087"/>
            <a:ext cx="570426" cy="536063"/>
          </a:xfrm>
          <a:prstGeom prst="rect">
            <a:avLst/>
          </a:prstGeom>
          <a:effectLst/>
        </p:spPr>
      </p:pic>
      <p:pic>
        <p:nvPicPr>
          <p:cNvPr id="46" name="native-frame-0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642" y="701005"/>
            <a:ext cx="549808" cy="714750"/>
          </a:xfrm>
          <a:prstGeom prst="rect">
            <a:avLst/>
          </a:prstGeom>
          <a:effectLst/>
        </p:spPr>
      </p:pic>
      <p:pic>
        <p:nvPicPr>
          <p:cNvPr id="47" name="native-frame-1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4265" y="701005"/>
            <a:ext cx="584171" cy="714750"/>
          </a:xfrm>
          <a:prstGeom prst="rect">
            <a:avLst/>
          </a:prstGeom>
          <a:effectLst/>
        </p:spPr>
      </p:pic>
      <p:pic>
        <p:nvPicPr>
          <p:cNvPr id="48" name="native-frame-2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5889" y="701005"/>
            <a:ext cx="570426" cy="714750"/>
          </a:xfrm>
          <a:prstGeom prst="rect">
            <a:avLst/>
          </a:prstGeom>
          <a:effectLst/>
        </p:spPr>
      </p:pic>
      <p:pic>
        <p:nvPicPr>
          <p:cNvPr id="49" name="target-formula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4137" y="2707806"/>
            <a:ext cx="2329812" cy="563553"/>
          </a:xfrm>
          <a:prstGeom prst="rect">
            <a:avLst/>
          </a:prstGeom>
          <a:effectLst/>
        </p:spPr>
      </p:pic>
      <p:pic>
        <p:nvPicPr>
          <p:cNvPr id="50" name="sampler-routes-and-endpoints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3490" y="2611589"/>
            <a:ext cx="5766114" cy="879693"/>
          </a:xfrm>
          <a:prstGeom prst="rect">
            <a:avLst/>
          </a:prstGeom>
          <a:effectLst/>
        </p:spPr>
      </p:pic>
      <p:pic>
        <p:nvPicPr>
          <p:cNvPr id="51" name="context-scen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884" y="4721479"/>
            <a:ext cx="872820" cy="639152"/>
          </a:xfrm>
          <a:prstGeom prst="rect">
            <a:avLst/>
          </a:prstGeom>
          <a:effectLst/>
        </p:spPr>
      </p:pic>
      <p:pic>
        <p:nvPicPr>
          <p:cNvPr id="52" name="actor-landscap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939" y="5058236"/>
            <a:ext cx="982782" cy="329884"/>
          </a:xfrm>
          <a:prstGeom prst="rect">
            <a:avLst/>
          </a:prstGeom>
          <a:effectLst/>
        </p:spPr>
      </p:pic>
      <p:pic>
        <p:nvPicPr>
          <p:cNvPr id="53" name="frozen-scen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7781" y="4783332"/>
            <a:ext cx="735368" cy="419228"/>
          </a:xfrm>
          <a:prstGeom prst="rect">
            <a:avLst/>
          </a:prstGeom>
          <a:effectLst/>
        </p:spPr>
      </p:pic>
      <p:pic>
        <p:nvPicPr>
          <p:cNvPr id="54" name="prefix-image-0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7282" y="4762714"/>
            <a:ext cx="364248" cy="419228"/>
          </a:xfrm>
          <a:prstGeom prst="rect">
            <a:avLst/>
          </a:prstGeom>
          <a:effectLst/>
        </p:spPr>
      </p:pic>
      <p:pic>
        <p:nvPicPr>
          <p:cNvPr id="55" name="prefix-image-1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13384" y="4762714"/>
            <a:ext cx="364248" cy="419228"/>
          </a:xfrm>
          <a:prstGeom prst="rect">
            <a:avLst/>
          </a:prstGeom>
          <a:effectLst/>
        </p:spPr>
      </p:pic>
      <p:pic>
        <p:nvPicPr>
          <p:cNvPr id="56" name="prefix-image-2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25740" y="4762714"/>
            <a:ext cx="364248" cy="419228"/>
          </a:xfrm>
          <a:prstGeom prst="rect">
            <a:avLst/>
          </a:prstGeom>
          <a:effectLst/>
        </p:spPr>
      </p:pic>
      <p:pic>
        <p:nvPicPr>
          <p:cNvPr id="57" name="prefix-image-3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44969" y="4762714"/>
            <a:ext cx="364248" cy="419228"/>
          </a:xfrm>
          <a:prstGeom prst="rect">
            <a:avLst/>
          </a:prstGeom>
          <a:effectLst/>
        </p:spPr>
      </p:pic>
      <p:pic>
        <p:nvPicPr>
          <p:cNvPr id="58" name="prefix-image-4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64198" y="4762714"/>
            <a:ext cx="364248" cy="419228"/>
          </a:xfrm>
          <a:prstGeom prst="rect">
            <a:avLst/>
          </a:prstGeom>
          <a:effectLst/>
        </p:spPr>
      </p:pic>
      <p:cxnSp>
        <p:nvCxnSpPr>
          <p:cNvPr id="59" name="heading-a-rule-0" descr="Editable line; source id heading-a-rule-0"/>
          <p:cNvCxnSpPr/>
          <p:nvPr/>
        </p:nvCxnSpPr>
        <p:spPr>
          <a:xfrm>
            <a:off x="3367576" y="171815"/>
            <a:ext cx="8638863" cy="0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heading-b-rule-0" descr="Editable line; source id heading-b-rule-0"/>
          <p:cNvCxnSpPr/>
          <p:nvPr/>
        </p:nvCxnSpPr>
        <p:spPr>
          <a:xfrm>
            <a:off x="3793677" y="2144252"/>
            <a:ext cx="8212762" cy="0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heading-c-rule-0" descr="Editable line; source id heading-c-rule-0"/>
          <p:cNvCxnSpPr/>
          <p:nvPr/>
        </p:nvCxnSpPr>
        <p:spPr>
          <a:xfrm>
            <a:off x="3505028" y="4199161"/>
            <a:ext cx="8501411" cy="0"/>
          </a:xfrm>
          <a:prstGeom prst="line">
            <a:avLst/>
          </a:prstGeom>
          <a:ln w="8247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eparator-a-0" descr="Editable line; source id separator-a-0"/>
          <p:cNvCxnSpPr/>
          <p:nvPr/>
        </p:nvCxnSpPr>
        <p:spPr>
          <a:xfrm>
            <a:off x="185560" y="1931201"/>
            <a:ext cx="11820879" cy="0"/>
          </a:xfrm>
          <a:prstGeom prst="line">
            <a:avLst/>
          </a:prstGeom>
          <a:ln w="7559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eparator-b-0" descr="Editable line; source id separator-b-0"/>
          <p:cNvCxnSpPr/>
          <p:nvPr/>
        </p:nvCxnSpPr>
        <p:spPr>
          <a:xfrm>
            <a:off x="185560" y="3972365"/>
            <a:ext cx="5779860" cy="0"/>
          </a:xfrm>
          <a:prstGeom prst="line">
            <a:avLst/>
          </a:prstGeom>
          <a:ln w="7559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eparator-c-0" descr="Editable line; source id separator-c-0"/>
          <p:cNvCxnSpPr/>
          <p:nvPr/>
        </p:nvCxnSpPr>
        <p:spPr>
          <a:xfrm>
            <a:off x="7697316" y="3972365"/>
            <a:ext cx="4309123" cy="0"/>
          </a:xfrm>
          <a:prstGeom prst="line">
            <a:avLst/>
          </a:prstGeom>
          <a:ln w="7559">
            <a:solidFill>
              <a:srgbClr val="1027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hared-divider-0" descr="Editable line; source id shared-divider-0"/>
          <p:cNvCxnSpPr/>
          <p:nvPr/>
        </p:nvCxnSpPr>
        <p:spPr>
          <a:xfrm>
            <a:off x="1477609" y="659769"/>
            <a:ext cx="0" cy="886566"/>
          </a:xfrm>
          <a:prstGeom prst="line">
            <a:avLst/>
          </a:prstGeom>
          <a:ln w="6872">
            <a:solidFill>
              <a:srgbClr val="8EA7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ndidate-to-vla-0" descr="Editable line; source id candidate-to-vla-0"/>
          <p:cNvSpPr/>
          <p:nvPr/>
        </p:nvSpPr>
        <p:spPr>
          <a:xfrm>
            <a:off x="3824604" y="1092744"/>
            <a:ext cx="75599" cy="192433"/>
          </a:xfrm>
          <a:custGeom>
            <a:avLst/>
            <a:gdLst/>
            <a:ahLst/>
            <a:cxnLst/>
            <a:rect l="l" t="t" r="r" b="b"/>
            <a:pathLst>
              <a:path w="11000" h="28000">
                <a:moveTo>
                  <a:pt x="6500" y="0"/>
                </a:moveTo>
                <a:lnTo>
                  <a:pt x="6500" y="17000"/>
                </a:lnTo>
                <a:lnTo>
                  <a:pt x="11000" y="17000"/>
                </a:lnTo>
                <a:lnTo>
                  <a:pt x="5500" y="28000"/>
                </a:lnTo>
                <a:lnTo>
                  <a:pt x="0" y="17000"/>
                </a:lnTo>
                <a:lnTo>
                  <a:pt x="4500" y="17000"/>
                </a:lnTo>
                <a:lnTo>
                  <a:pt x="4500" y="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andidate-decode-0" descr="Editable line; source id candidate-decode-0"/>
          <p:cNvSpPr/>
          <p:nvPr/>
        </p:nvSpPr>
        <p:spPr>
          <a:xfrm>
            <a:off x="4652753" y="1426065"/>
            <a:ext cx="130579" cy="75599"/>
          </a:xfrm>
          <a:custGeom>
            <a:avLst/>
            <a:gdLst/>
            <a:ahLst/>
            <a:cxnLst/>
            <a:rect l="l" t="t" r="r" b="b"/>
            <a:pathLst>
              <a:path w="19000" h="11000">
                <a:moveTo>
                  <a:pt x="0" y="4750"/>
                </a:moveTo>
                <a:lnTo>
                  <a:pt x="8000" y="4750"/>
                </a:lnTo>
                <a:lnTo>
                  <a:pt x="8000" y="0"/>
                </a:lnTo>
                <a:lnTo>
                  <a:pt x="19000" y="5500"/>
                </a:lnTo>
                <a:lnTo>
                  <a:pt x="8000" y="11000"/>
                </a:lnTo>
                <a:lnTo>
                  <a:pt x="8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andidate-execute-0" descr="Editable line; source id candidate-execute-0"/>
          <p:cNvSpPr/>
          <p:nvPr/>
        </p:nvSpPr>
        <p:spPr>
          <a:xfrm>
            <a:off x="5429357" y="1426065"/>
            <a:ext cx="116834" cy="75599"/>
          </a:xfrm>
          <a:custGeom>
            <a:avLst/>
            <a:gdLst/>
            <a:ahLst/>
            <a:cxnLst/>
            <a:rect l="l" t="t" r="r" b="b"/>
            <a:pathLst>
              <a:path w="17000" h="11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17000" y="5500"/>
                </a:lnTo>
                <a:lnTo>
                  <a:pt x="6000" y="11000"/>
                </a:lnTo>
                <a:lnTo>
                  <a:pt x="6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ative-1-0" descr="Editable line; source id native-1-0"/>
          <p:cNvSpPr/>
          <p:nvPr/>
        </p:nvSpPr>
        <p:spPr>
          <a:xfrm>
            <a:off x="7353686" y="1034327"/>
            <a:ext cx="96216" cy="75599"/>
          </a:xfrm>
          <a:custGeom>
            <a:avLst/>
            <a:gdLst/>
            <a:ahLst/>
            <a:cxnLst/>
            <a:rect l="l" t="t" r="r" b="b"/>
            <a:pathLst>
              <a:path w="14000" h="11000">
                <a:moveTo>
                  <a:pt x="0" y="4800"/>
                </a:moveTo>
                <a:lnTo>
                  <a:pt x="3000" y="4800"/>
                </a:lnTo>
                <a:lnTo>
                  <a:pt x="3000" y="0"/>
                </a:lnTo>
                <a:lnTo>
                  <a:pt x="14000" y="5500"/>
                </a:lnTo>
                <a:lnTo>
                  <a:pt x="3000" y="11000"/>
                </a:lnTo>
                <a:lnTo>
                  <a:pt x="3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ative-2-0" descr="Editable line; source id native-2-0"/>
          <p:cNvSpPr/>
          <p:nvPr/>
        </p:nvSpPr>
        <p:spPr>
          <a:xfrm>
            <a:off x="8095928" y="1034327"/>
            <a:ext cx="82471" cy="75599"/>
          </a:xfrm>
          <a:custGeom>
            <a:avLst/>
            <a:gdLst/>
            <a:ahLst/>
            <a:cxnLst/>
            <a:rect l="l" t="t" r="r" b="b"/>
            <a:pathLst>
              <a:path w="12000" h="11000">
                <a:moveTo>
                  <a:pt x="0" y="4800"/>
                </a:moveTo>
                <a:lnTo>
                  <a:pt x="1000" y="4800"/>
                </a:lnTo>
                <a:lnTo>
                  <a:pt x="1000" y="0"/>
                </a:lnTo>
                <a:lnTo>
                  <a:pt x="12000" y="5500"/>
                </a:lnTo>
                <a:lnTo>
                  <a:pt x="1000" y="11000"/>
                </a:lnTo>
                <a:lnTo>
                  <a:pt x="1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ledger-divider-0" descr="Editable line; source id ledger-divider-0"/>
          <p:cNvCxnSpPr/>
          <p:nvPr/>
        </p:nvCxnSpPr>
        <p:spPr>
          <a:xfrm>
            <a:off x="10920567" y="694133"/>
            <a:ext cx="0" cy="969037"/>
          </a:xfrm>
          <a:prstGeom prst="line">
            <a:avLst/>
          </a:prstGeom>
          <a:ln w="6872">
            <a:solidFill>
              <a:srgbClr val="90AC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cquire-0-0" descr="Editable line; source id acquire-0-0"/>
          <p:cNvSpPr/>
          <p:nvPr/>
        </p:nvSpPr>
        <p:spPr>
          <a:xfrm>
            <a:off x="2652825" y="986219"/>
            <a:ext cx="268032" cy="75599"/>
          </a:xfrm>
          <a:custGeom>
            <a:avLst/>
            <a:gdLst/>
            <a:ahLst/>
            <a:cxnLst/>
            <a:rect l="l" t="t" r="r" b="b"/>
            <a:pathLst>
              <a:path w="39000" h="11000">
                <a:moveTo>
                  <a:pt x="0" y="4300"/>
                </a:moveTo>
                <a:lnTo>
                  <a:pt x="28000" y="4300"/>
                </a:lnTo>
                <a:lnTo>
                  <a:pt x="28000" y="0"/>
                </a:lnTo>
                <a:lnTo>
                  <a:pt x="39000" y="5500"/>
                </a:lnTo>
                <a:lnTo>
                  <a:pt x="28000" y="11000"/>
                </a:lnTo>
                <a:lnTo>
                  <a:pt x="28000" y="6700"/>
                </a:lnTo>
                <a:lnTo>
                  <a:pt x="0" y="67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cquire-1-0" descr="Editable line; source id acquire-1-0"/>
          <p:cNvSpPr/>
          <p:nvPr/>
        </p:nvSpPr>
        <p:spPr>
          <a:xfrm>
            <a:off x="6336541" y="986219"/>
            <a:ext cx="254286" cy="75599"/>
          </a:xfrm>
          <a:custGeom>
            <a:avLst/>
            <a:gdLst/>
            <a:ahLst/>
            <a:cxnLst/>
            <a:rect l="l" t="t" r="r" b="b"/>
            <a:pathLst>
              <a:path w="37000" h="11000">
                <a:moveTo>
                  <a:pt x="0" y="4300"/>
                </a:moveTo>
                <a:lnTo>
                  <a:pt x="26000" y="4300"/>
                </a:lnTo>
                <a:lnTo>
                  <a:pt x="26000" y="0"/>
                </a:lnTo>
                <a:lnTo>
                  <a:pt x="37000" y="5500"/>
                </a:lnTo>
                <a:lnTo>
                  <a:pt x="26000" y="11000"/>
                </a:lnTo>
                <a:lnTo>
                  <a:pt x="26000" y="6700"/>
                </a:lnTo>
                <a:lnTo>
                  <a:pt x="0" y="67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cquire-2-0" descr="Editable line; source id acquire-2-0"/>
          <p:cNvSpPr/>
          <p:nvPr/>
        </p:nvSpPr>
        <p:spPr>
          <a:xfrm>
            <a:off x="9202417" y="986219"/>
            <a:ext cx="261159" cy="75599"/>
          </a:xfrm>
          <a:custGeom>
            <a:avLst/>
            <a:gdLst/>
            <a:ahLst/>
            <a:cxnLst/>
            <a:rect l="l" t="t" r="r" b="b"/>
            <a:pathLst>
              <a:path w="38000" h="11000">
                <a:moveTo>
                  <a:pt x="0" y="4300"/>
                </a:moveTo>
                <a:lnTo>
                  <a:pt x="27000" y="4300"/>
                </a:lnTo>
                <a:lnTo>
                  <a:pt x="27000" y="0"/>
                </a:lnTo>
                <a:lnTo>
                  <a:pt x="38000" y="5500"/>
                </a:lnTo>
                <a:lnTo>
                  <a:pt x="27000" y="11000"/>
                </a:lnTo>
                <a:lnTo>
                  <a:pt x="27000" y="6700"/>
                </a:lnTo>
                <a:lnTo>
                  <a:pt x="0" y="67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ledger-to-surrogate-0" descr="Editable line; source id ledger-to-surrogate-0"/>
          <p:cNvCxnSpPr/>
          <p:nvPr/>
        </p:nvCxnSpPr>
        <p:spPr>
          <a:xfrm>
            <a:off x="10171454" y="1793749"/>
            <a:ext cx="0" cy="137452"/>
          </a:xfrm>
          <a:prstGeom prst="line">
            <a:avLst/>
          </a:prstGeom>
          <a:ln w="13745">
            <a:solidFill>
              <a:srgbClr val="2762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edger-to-surrogate-1" descr="Editable line; source id ledger-to-surrogate-1"/>
          <p:cNvCxnSpPr/>
          <p:nvPr/>
        </p:nvCxnSpPr>
        <p:spPr>
          <a:xfrm flipH="1">
            <a:off x="103089" y="1931201"/>
            <a:ext cx="10068365" cy="0"/>
          </a:xfrm>
          <a:prstGeom prst="line">
            <a:avLst/>
          </a:prstGeom>
          <a:ln w="13745">
            <a:solidFill>
              <a:srgbClr val="2762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edger-to-surrogate-2" descr="Editable line; source id ledger-to-surrogate-2"/>
          <p:cNvCxnSpPr/>
          <p:nvPr/>
        </p:nvCxnSpPr>
        <p:spPr>
          <a:xfrm>
            <a:off x="103089" y="1931201"/>
            <a:ext cx="0" cy="1106490"/>
          </a:xfrm>
          <a:prstGeom prst="line">
            <a:avLst/>
          </a:prstGeom>
          <a:ln w="13745">
            <a:solidFill>
              <a:srgbClr val="2762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ledger-to-surrogate-3" descr="Editable line; source id ledger-to-surrogate-3"/>
          <p:cNvSpPr/>
          <p:nvPr/>
        </p:nvSpPr>
        <p:spPr>
          <a:xfrm>
            <a:off x="103089" y="2999892"/>
            <a:ext cx="96216" cy="75599"/>
          </a:xfrm>
          <a:custGeom>
            <a:avLst/>
            <a:gdLst/>
            <a:ahLst/>
            <a:cxnLst/>
            <a:rect l="l" t="t" r="r" b="b"/>
            <a:pathLst>
              <a:path w="14000" h="11000">
                <a:moveTo>
                  <a:pt x="0" y="4500"/>
                </a:moveTo>
                <a:lnTo>
                  <a:pt x="3000" y="4500"/>
                </a:lnTo>
                <a:lnTo>
                  <a:pt x="3000" y="0"/>
                </a:lnTo>
                <a:lnTo>
                  <a:pt x="14000" y="5500"/>
                </a:lnTo>
                <a:lnTo>
                  <a:pt x="3000" y="11000"/>
                </a:lnTo>
                <a:lnTo>
                  <a:pt x="3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input-network-0" descr="Editable line; source id input-network-0"/>
          <p:cNvSpPr/>
          <p:nvPr/>
        </p:nvSpPr>
        <p:spPr>
          <a:xfrm>
            <a:off x="1230196" y="3006764"/>
            <a:ext cx="199306" cy="75599"/>
          </a:xfrm>
          <a:custGeom>
            <a:avLst/>
            <a:gdLst/>
            <a:ahLst/>
            <a:cxnLst/>
            <a:rect l="l" t="t" r="r" b="b"/>
            <a:pathLst>
              <a:path w="29000" h="11000">
                <a:moveTo>
                  <a:pt x="0" y="4500"/>
                </a:moveTo>
                <a:lnTo>
                  <a:pt x="18000" y="4500"/>
                </a:lnTo>
                <a:lnTo>
                  <a:pt x="18000" y="0"/>
                </a:lnTo>
                <a:lnTo>
                  <a:pt x="29000" y="5500"/>
                </a:lnTo>
                <a:lnTo>
                  <a:pt x="18000" y="11000"/>
                </a:lnTo>
                <a:lnTo>
                  <a:pt x="18000" y="6500"/>
                </a:lnTo>
                <a:lnTo>
                  <a:pt x="0" y="65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etwork-flow-0" descr="Editable line; source id network-flow-0"/>
          <p:cNvSpPr/>
          <p:nvPr/>
        </p:nvSpPr>
        <p:spPr>
          <a:xfrm>
            <a:off x="1725024" y="3006764"/>
            <a:ext cx="116834" cy="75599"/>
          </a:xfrm>
          <a:custGeom>
            <a:avLst/>
            <a:gdLst/>
            <a:ahLst/>
            <a:cxnLst/>
            <a:rect l="l" t="t" r="r" b="b"/>
            <a:pathLst>
              <a:path w="17000" h="11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17000" y="5500"/>
                </a:lnTo>
                <a:lnTo>
                  <a:pt x="6000" y="11000"/>
                </a:lnTo>
                <a:lnTo>
                  <a:pt x="6000" y="6250"/>
                </a:lnTo>
                <a:lnTo>
                  <a:pt x="0" y="625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surrogate-divider-0" descr="Editable line; source id surrogate-divider-0"/>
          <p:cNvCxnSpPr/>
          <p:nvPr/>
        </p:nvCxnSpPr>
        <p:spPr>
          <a:xfrm>
            <a:off x="2295449" y="2742169"/>
            <a:ext cx="0" cy="872820"/>
          </a:xfrm>
          <a:prstGeom prst="line">
            <a:avLst/>
          </a:prstGeom>
          <a:ln w="6872">
            <a:solidFill>
              <a:srgbClr val="8EA8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target-rule-0" descr="Editable line; source id target-rule-0"/>
          <p:cNvCxnSpPr/>
          <p:nvPr/>
        </p:nvCxnSpPr>
        <p:spPr>
          <a:xfrm>
            <a:off x="2742169" y="3360703"/>
            <a:ext cx="1793749" cy="0"/>
          </a:xfrm>
          <a:prstGeom prst="line">
            <a:avLst/>
          </a:prstGeom>
          <a:ln w="6872">
            <a:solidFill>
              <a:srgbClr val="B8CA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dient-flow-0" descr="Editable line; source id gradient-flow-0"/>
          <p:cNvSpPr/>
          <p:nvPr/>
        </p:nvSpPr>
        <p:spPr>
          <a:xfrm>
            <a:off x="4955148" y="2999892"/>
            <a:ext cx="886566" cy="75599"/>
          </a:xfrm>
          <a:custGeom>
            <a:avLst/>
            <a:gdLst/>
            <a:ahLst/>
            <a:cxnLst/>
            <a:rect l="l" t="t" r="r" b="b"/>
            <a:pathLst>
              <a:path w="129000" h="11000">
                <a:moveTo>
                  <a:pt x="0" y="4200"/>
                </a:moveTo>
                <a:lnTo>
                  <a:pt x="118000" y="4200"/>
                </a:lnTo>
                <a:lnTo>
                  <a:pt x="118000" y="0"/>
                </a:lnTo>
                <a:lnTo>
                  <a:pt x="129000" y="5500"/>
                </a:lnTo>
                <a:lnTo>
                  <a:pt x="118000" y="11000"/>
                </a:lnTo>
                <a:lnTo>
                  <a:pt x="118000" y="6800"/>
                </a:lnTo>
                <a:lnTo>
                  <a:pt x="0" y="6800"/>
                </a:lnTo>
                <a:close/>
              </a:path>
            </a:pathLst>
          </a:custGeom>
          <a:solidFill>
            <a:srgbClr val="2762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reuse-0" descr="Editable line; source id reuse-0"/>
          <p:cNvCxnSpPr/>
          <p:nvPr/>
        </p:nvCxnSpPr>
        <p:spPr>
          <a:xfrm>
            <a:off x="6095999" y="3752441"/>
            <a:ext cx="0" cy="116835"/>
          </a:xfrm>
          <a:prstGeom prst="line">
            <a:avLst/>
          </a:prstGeom>
          <a:ln w="16494">
            <a:solidFill>
              <a:srgbClr val="D07A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euse-1" descr="Editable line; source id reuse-1"/>
          <p:cNvCxnSpPr/>
          <p:nvPr/>
        </p:nvCxnSpPr>
        <p:spPr>
          <a:xfrm flipH="1">
            <a:off x="3889893" y="3869276"/>
            <a:ext cx="2206106" cy="0"/>
          </a:xfrm>
          <a:prstGeom prst="line">
            <a:avLst/>
          </a:prstGeom>
          <a:ln w="16494">
            <a:solidFill>
              <a:srgbClr val="D07A0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use-2" descr="Editable line; source id reuse-2"/>
          <p:cNvSpPr/>
          <p:nvPr/>
        </p:nvSpPr>
        <p:spPr>
          <a:xfrm>
            <a:off x="3852095" y="3869276"/>
            <a:ext cx="75599" cy="597917"/>
          </a:xfrm>
          <a:custGeom>
            <a:avLst/>
            <a:gdLst/>
            <a:ahLst/>
            <a:cxnLst/>
            <a:rect l="l" t="t" r="r" b="b"/>
            <a:pathLst>
              <a:path w="11000" h="87000">
                <a:moveTo>
                  <a:pt x="6700" y="0"/>
                </a:moveTo>
                <a:lnTo>
                  <a:pt x="6700" y="76000"/>
                </a:lnTo>
                <a:lnTo>
                  <a:pt x="11000" y="76000"/>
                </a:lnTo>
                <a:lnTo>
                  <a:pt x="5500" y="87000"/>
                </a:lnTo>
                <a:lnTo>
                  <a:pt x="0" y="76000"/>
                </a:lnTo>
                <a:lnTo>
                  <a:pt x="4300" y="76000"/>
                </a:lnTo>
                <a:lnTo>
                  <a:pt x="4300" y="0"/>
                </a:lnTo>
                <a:close/>
              </a:path>
            </a:pathLst>
          </a:custGeom>
          <a:solidFill>
            <a:srgbClr val="D07A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text-divider-0" descr="Editable line; source id context-divider-0"/>
          <p:cNvCxnSpPr/>
          <p:nvPr/>
        </p:nvCxnSpPr>
        <p:spPr>
          <a:xfrm>
            <a:off x="1305794" y="4728351"/>
            <a:ext cx="0" cy="652898"/>
          </a:xfrm>
          <a:prstGeom prst="line">
            <a:avLst/>
          </a:prstGeom>
          <a:ln w="6872">
            <a:solidFill>
              <a:srgbClr val="90AB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ontext-proposer-0" descr="Editable line; source id context-proposer-0"/>
          <p:cNvSpPr/>
          <p:nvPr/>
        </p:nvSpPr>
        <p:spPr>
          <a:xfrm>
            <a:off x="2316068" y="4917348"/>
            <a:ext cx="762859" cy="75599"/>
          </a:xfrm>
          <a:custGeom>
            <a:avLst/>
            <a:gdLst/>
            <a:ahLst/>
            <a:cxnLst/>
            <a:rect l="l" t="t" r="r" b="b"/>
            <a:pathLst>
              <a:path w="111000" h="11000">
                <a:moveTo>
                  <a:pt x="0" y="4200"/>
                </a:moveTo>
                <a:lnTo>
                  <a:pt x="100000" y="4200"/>
                </a:lnTo>
                <a:lnTo>
                  <a:pt x="100000" y="0"/>
                </a:lnTo>
                <a:lnTo>
                  <a:pt x="111000" y="5500"/>
                </a:lnTo>
                <a:lnTo>
                  <a:pt x="100000" y="11000"/>
                </a:lnTo>
                <a:lnTo>
                  <a:pt x="100000" y="6800"/>
                </a:lnTo>
                <a:lnTo>
                  <a:pt x="0" y="680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actor-stream-0" descr="Editable line; source id actor-stream-0"/>
          <p:cNvSpPr/>
          <p:nvPr/>
        </p:nvSpPr>
        <p:spPr>
          <a:xfrm>
            <a:off x="4700861" y="4917348"/>
            <a:ext cx="199306" cy="75599"/>
          </a:xfrm>
          <a:custGeom>
            <a:avLst/>
            <a:gdLst/>
            <a:ahLst/>
            <a:cxnLst/>
            <a:rect l="l" t="t" r="r" b="b"/>
            <a:pathLst>
              <a:path w="29000" h="11000">
                <a:moveTo>
                  <a:pt x="0" y="4400"/>
                </a:moveTo>
                <a:lnTo>
                  <a:pt x="18000" y="4400"/>
                </a:lnTo>
                <a:lnTo>
                  <a:pt x="18000" y="0"/>
                </a:lnTo>
                <a:lnTo>
                  <a:pt x="29000" y="5500"/>
                </a:lnTo>
                <a:lnTo>
                  <a:pt x="18000" y="11000"/>
                </a:lnTo>
                <a:lnTo>
                  <a:pt x="18000" y="6600"/>
                </a:lnTo>
                <a:lnTo>
                  <a:pt x="0" y="660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tream-vla-0" descr="Editable line; source id stream-vla-0"/>
          <p:cNvSpPr/>
          <p:nvPr/>
        </p:nvSpPr>
        <p:spPr>
          <a:xfrm>
            <a:off x="7003184" y="4917348"/>
            <a:ext cx="323012" cy="75599"/>
          </a:xfrm>
          <a:custGeom>
            <a:avLst/>
            <a:gdLst/>
            <a:ahLst/>
            <a:cxnLst/>
            <a:rect l="l" t="t" r="r" b="b"/>
            <a:pathLst>
              <a:path w="47000" h="11000">
                <a:moveTo>
                  <a:pt x="0" y="4250"/>
                </a:moveTo>
                <a:lnTo>
                  <a:pt x="36000" y="4250"/>
                </a:lnTo>
                <a:lnTo>
                  <a:pt x="36000" y="0"/>
                </a:lnTo>
                <a:lnTo>
                  <a:pt x="47000" y="5500"/>
                </a:lnTo>
                <a:lnTo>
                  <a:pt x="36000" y="11000"/>
                </a:lnTo>
                <a:lnTo>
                  <a:pt x="36000" y="6750"/>
                </a:lnTo>
                <a:lnTo>
                  <a:pt x="0" y="675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la-prefix-0" descr="Editable line; source id vla-prefix-0"/>
          <p:cNvSpPr/>
          <p:nvPr/>
        </p:nvSpPr>
        <p:spPr>
          <a:xfrm>
            <a:off x="9174926" y="4917348"/>
            <a:ext cx="268032" cy="75599"/>
          </a:xfrm>
          <a:custGeom>
            <a:avLst/>
            <a:gdLst/>
            <a:ahLst/>
            <a:cxnLst/>
            <a:rect l="l" t="t" r="r" b="b"/>
            <a:pathLst>
              <a:path w="39000" h="11000">
                <a:moveTo>
                  <a:pt x="0" y="4250"/>
                </a:moveTo>
                <a:lnTo>
                  <a:pt x="28000" y="4250"/>
                </a:lnTo>
                <a:lnTo>
                  <a:pt x="28000" y="0"/>
                </a:lnTo>
                <a:lnTo>
                  <a:pt x="39000" y="5500"/>
                </a:lnTo>
                <a:lnTo>
                  <a:pt x="28000" y="11000"/>
                </a:lnTo>
                <a:lnTo>
                  <a:pt x="28000" y="6750"/>
                </a:lnTo>
                <a:lnTo>
                  <a:pt x="0" y="675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observation-0" descr="Editable line; source id observation-0"/>
          <p:cNvCxnSpPr/>
          <p:nvPr/>
        </p:nvCxnSpPr>
        <p:spPr>
          <a:xfrm flipV="1">
            <a:off x="1725023" y="4384721"/>
            <a:ext cx="0" cy="41236"/>
          </a:xfrm>
          <a:prstGeom prst="line">
            <a:avLst/>
          </a:prstGeom>
          <a:ln w="16494">
            <a:solidFill>
              <a:srgbClr val="117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observation-1" descr="Editable line; source id observation-1"/>
          <p:cNvCxnSpPr/>
          <p:nvPr/>
        </p:nvCxnSpPr>
        <p:spPr>
          <a:xfrm>
            <a:off x="1725023" y="4384721"/>
            <a:ext cx="6473993" cy="0"/>
          </a:xfrm>
          <a:prstGeom prst="line">
            <a:avLst/>
          </a:prstGeom>
          <a:ln w="16494">
            <a:solidFill>
              <a:srgbClr val="117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bservation-2" descr="Editable line; source id observation-2"/>
          <p:cNvSpPr/>
          <p:nvPr/>
        </p:nvSpPr>
        <p:spPr>
          <a:xfrm>
            <a:off x="8161217" y="4384721"/>
            <a:ext cx="75599" cy="82471"/>
          </a:xfrm>
          <a:custGeom>
            <a:avLst/>
            <a:gdLst/>
            <a:ahLst/>
            <a:cxnLst/>
            <a:rect l="l" t="t" r="r" b="b"/>
            <a:pathLst>
              <a:path w="11000" h="12000">
                <a:moveTo>
                  <a:pt x="6700" y="0"/>
                </a:moveTo>
                <a:lnTo>
                  <a:pt x="6700" y="1000"/>
                </a:lnTo>
                <a:lnTo>
                  <a:pt x="11000" y="1000"/>
                </a:lnTo>
                <a:lnTo>
                  <a:pt x="5500" y="12000"/>
                </a:lnTo>
                <a:lnTo>
                  <a:pt x="0" y="1000"/>
                </a:lnTo>
                <a:lnTo>
                  <a:pt x="4300" y="1000"/>
                </a:lnTo>
                <a:lnTo>
                  <a:pt x="4300" y="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hunk-return-0" descr="Editable line; source id chunk-return-0"/>
          <p:cNvCxnSpPr/>
          <p:nvPr/>
        </p:nvCxnSpPr>
        <p:spPr>
          <a:xfrm>
            <a:off x="10735007" y="5436229"/>
            <a:ext cx="0" cy="254287"/>
          </a:xfrm>
          <a:prstGeom prst="line">
            <a:avLst/>
          </a:prstGeom>
          <a:ln w="17181">
            <a:solidFill>
              <a:srgbClr val="117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hunk-return-1" descr="Editable line; source id chunk-return-1"/>
          <p:cNvCxnSpPr/>
          <p:nvPr/>
        </p:nvCxnSpPr>
        <p:spPr>
          <a:xfrm flipH="1">
            <a:off x="8226507" y="5690516"/>
            <a:ext cx="2508500" cy="0"/>
          </a:xfrm>
          <a:prstGeom prst="line">
            <a:avLst/>
          </a:prstGeom>
          <a:ln w="17181">
            <a:solidFill>
              <a:srgbClr val="117E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hunk-return-2" descr="Editable line; source id chunk-return-2"/>
          <p:cNvSpPr/>
          <p:nvPr/>
        </p:nvSpPr>
        <p:spPr>
          <a:xfrm>
            <a:off x="8188708" y="5443102"/>
            <a:ext cx="75599" cy="247414"/>
          </a:xfrm>
          <a:custGeom>
            <a:avLst/>
            <a:gdLst/>
            <a:ahLst/>
            <a:cxnLst/>
            <a:rect l="l" t="t" r="r" b="b"/>
            <a:pathLst>
              <a:path w="11000" h="36000">
                <a:moveTo>
                  <a:pt x="4250" y="36000"/>
                </a:moveTo>
                <a:lnTo>
                  <a:pt x="4250" y="11000"/>
                </a:lnTo>
                <a:lnTo>
                  <a:pt x="0" y="11000"/>
                </a:lnTo>
                <a:lnTo>
                  <a:pt x="5500" y="0"/>
                </a:lnTo>
                <a:lnTo>
                  <a:pt x="11000" y="11000"/>
                </a:lnTo>
                <a:lnTo>
                  <a:pt x="6750" y="11000"/>
                </a:lnTo>
                <a:lnTo>
                  <a:pt x="6750" y="36000"/>
                </a:lnTo>
                <a:close/>
              </a:path>
            </a:pathLst>
          </a:custGeom>
          <a:solidFill>
            <a:srgbClr val="117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heading-a" descr="Editable text; source id heading-a"/>
          <p:cNvSpPr txBox="1"/>
          <p:nvPr/>
        </p:nvSpPr>
        <p:spPr>
          <a:xfrm>
            <a:off x="199305" y="0"/>
            <a:ext cx="3161397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def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(a)  Acquire continuation scores</a:t>
            </a:r>
          </a:p>
        </p:txBody>
      </p:sp>
      <p:sp>
        <p:nvSpPr>
          <p:cNvPr id="99" name="heading-b" descr="Editable text; source id heading-b"/>
          <p:cNvSpPr txBox="1"/>
          <p:nvPr/>
        </p:nvSpPr>
        <p:spPr>
          <a:xfrm>
            <a:off x="199305" y="1965564"/>
            <a:ext cx="3580626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def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(b)  Fit a reusable proposal sampler</a:t>
            </a:r>
          </a:p>
        </p:txBody>
      </p:sp>
      <p:sp>
        <p:nvSpPr>
          <p:cNvPr id="100" name="heading-c" descr="Editable text; source id heading-c"/>
          <p:cNvSpPr txBox="1"/>
          <p:nvPr/>
        </p:nvSpPr>
        <p:spPr>
          <a:xfrm>
            <a:off x="199305" y="4013600"/>
            <a:ext cx="3230123" cy="34363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53"/>
              </a:lnSpc>
              <a:spcBef>
                <a:spcPts val="0"/>
              </a:spcBef>
              <a:spcAft>
                <a:spcPts val="0"/>
              </a:spcAft>
              <a:def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8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(c)  Deploy the same frozen VLA</a:t>
            </a:r>
          </a:p>
        </p:txBody>
      </p:sp>
      <p:sp>
        <p:nvSpPr>
          <p:cNvPr id="101" name="shared-title" descr="Editable text; source id shared-title"/>
          <p:cNvSpPr txBox="1"/>
          <p:nvPr/>
        </p:nvSpPr>
        <p:spPr>
          <a:xfrm>
            <a:off x="494827" y="357375"/>
            <a:ext cx="1993055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Shared snapshot  h</a:t>
            </a:r>
          </a:p>
        </p:txBody>
      </p:sp>
      <p:sp>
        <p:nvSpPr>
          <p:cNvPr id="102" name="candidate-title" descr="Editable text; source id candidate-title"/>
          <p:cNvSpPr txBox="1"/>
          <p:nvPr/>
        </p:nvSpPr>
        <p:spPr>
          <a:xfrm>
            <a:off x="3305722" y="357375"/>
            <a:ext cx="2625334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Candidate segment  z</a:t>
            </a:r>
          </a:p>
        </p:txBody>
      </p:sp>
      <p:sp>
        <p:nvSpPr>
          <p:cNvPr id="103" name="native-title" descr="Editable text; source id native-title"/>
          <p:cNvSpPr txBox="1"/>
          <p:nvPr/>
        </p:nvSpPr>
        <p:spPr>
          <a:xfrm>
            <a:off x="6872604" y="357375"/>
            <a:ext cx="2061781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Native continuation</a:t>
            </a:r>
          </a:p>
        </p:txBody>
      </p:sp>
      <p:sp>
        <p:nvSpPr>
          <p:cNvPr id="104" name="scores-title" descr="Editable text; source id scores-title"/>
          <p:cNvSpPr txBox="1"/>
          <p:nvPr/>
        </p:nvSpPr>
        <p:spPr>
          <a:xfrm>
            <a:off x="9820951" y="357375"/>
            <a:ext cx="1786877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Outcome score</a:t>
            </a:r>
          </a:p>
        </p:txBody>
      </p:sp>
      <p:sp>
        <p:nvSpPr>
          <p:cNvPr id="105" name="shared-h" descr="Editable text; source id shared-h"/>
          <p:cNvSpPr txBox="1"/>
          <p:nvPr/>
        </p:nvSpPr>
        <p:spPr>
          <a:xfrm>
            <a:off x="1003400" y="1546335"/>
            <a:ext cx="274904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h</a:t>
            </a:r>
          </a:p>
        </p:txBody>
      </p:sp>
      <p:sp>
        <p:nvSpPr>
          <p:cNvPr id="106" name="shared-desc" descr="Editable text; source id shared-desc"/>
          <p:cNvSpPr txBox="1"/>
          <p:nvPr/>
        </p:nvSpPr>
        <p:spPr>
          <a:xfrm>
            <a:off x="1635679" y="749113"/>
            <a:ext cx="982782" cy="4467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shared snapshot</a:t>
            </a:r>
          </a:p>
          <a:p>
            <a:pPr algn="l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7" name="candidate-dots" descr="Editable text; source id candidate-dots"/>
          <p:cNvSpPr txBox="1"/>
          <p:nvPr/>
        </p:nvSpPr>
        <p:spPr>
          <a:xfrm>
            <a:off x="5862331" y="666642"/>
            <a:ext cx="261158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08" name="candidate-length" descr="Editable text; source id candidate-length"/>
          <p:cNvSpPr txBox="1"/>
          <p:nvPr/>
        </p:nvSpPr>
        <p:spPr>
          <a:xfrm>
            <a:off x="3374448" y="907183"/>
            <a:ext cx="2604716" cy="1924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10 chunks · re-observe each chunk</a:t>
            </a:r>
          </a:p>
        </p:txBody>
      </p:sp>
      <p:sp>
        <p:nvSpPr>
          <p:cNvPr id="109" name="candidate-vla-text" descr="Editable text; source id candidate-vla-text"/>
          <p:cNvSpPr txBox="1"/>
          <p:nvPr/>
        </p:nvSpPr>
        <p:spPr>
          <a:xfrm>
            <a:off x="3553136" y="1353903"/>
            <a:ext cx="996527" cy="24054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Frozen VLA</a:t>
            </a:r>
          </a:p>
        </p:txBody>
      </p:sp>
      <p:sp>
        <p:nvSpPr>
          <p:cNvPr id="110" name="native-dots" descr="Editable text; source id native-dots"/>
          <p:cNvSpPr txBox="1"/>
          <p:nvPr/>
        </p:nvSpPr>
        <p:spPr>
          <a:xfrm>
            <a:off x="8803805" y="989654"/>
            <a:ext cx="268031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11" name="native-after" descr="Editable text; source id native-after"/>
          <p:cNvSpPr txBox="1"/>
          <p:nvPr/>
        </p:nvSpPr>
        <p:spPr>
          <a:xfrm>
            <a:off x="6810750" y="1484482"/>
            <a:ext cx="2206105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Native student thereafter</a:t>
            </a:r>
          </a:p>
        </p:txBody>
      </p:sp>
      <p:sp>
        <p:nvSpPr>
          <p:cNvPr id="112" name="ledger-0" descr="Editable text; source id ledger-0"/>
          <p:cNvSpPr txBox="1"/>
          <p:nvPr/>
        </p:nvSpPr>
        <p:spPr>
          <a:xfrm>
            <a:off x="9690371" y="728496"/>
            <a:ext cx="1072126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(h, z¹, score)</a:t>
            </a:r>
          </a:p>
        </p:txBody>
      </p:sp>
      <p:sp>
        <p:nvSpPr>
          <p:cNvPr id="113" name="ledger-1" descr="Editable text; source id ledger-1"/>
          <p:cNvSpPr txBox="1"/>
          <p:nvPr/>
        </p:nvSpPr>
        <p:spPr>
          <a:xfrm>
            <a:off x="9690371" y="955291"/>
            <a:ext cx="1072126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(h, z², score)</a:t>
            </a:r>
          </a:p>
        </p:txBody>
      </p:sp>
      <p:sp>
        <p:nvSpPr>
          <p:cNvPr id="114" name="ledger-2" descr="Editable text; source id ledger-2"/>
          <p:cNvSpPr txBox="1"/>
          <p:nvPr/>
        </p:nvSpPr>
        <p:spPr>
          <a:xfrm>
            <a:off x="9690371" y="1182087"/>
            <a:ext cx="1072126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(h, z³, score)</a:t>
            </a:r>
          </a:p>
        </p:txBody>
      </p:sp>
      <p:sp>
        <p:nvSpPr>
          <p:cNvPr id="115" name="ledger-3" descr="Editable text; source id ledger-3"/>
          <p:cNvSpPr txBox="1"/>
          <p:nvPr/>
        </p:nvSpPr>
        <p:spPr>
          <a:xfrm>
            <a:off x="9690371" y="1408883"/>
            <a:ext cx="1072126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16" name="simulator" descr="Editable text; source id simulator"/>
          <p:cNvSpPr txBox="1"/>
          <p:nvPr/>
        </p:nvSpPr>
        <p:spPr>
          <a:xfrm>
            <a:off x="10996166" y="879693"/>
            <a:ext cx="941546" cy="46046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Simulator</a:t>
            </a:r>
          </a:p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supervision</a:t>
            </a:r>
          </a:p>
        </p:txBody>
      </p:sp>
      <p:sp>
        <p:nvSpPr>
          <p:cNvPr id="117" name="surrogate-title" descr="Editable text; source id surrogate-title"/>
          <p:cNvSpPr txBox="1"/>
          <p:nvPr/>
        </p:nvSpPr>
        <p:spPr>
          <a:xfrm>
            <a:off x="1429501" y="2384793"/>
            <a:ext cx="2371048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4"/>
              </a:lnSpc>
              <a:spcBef>
                <a:spcPts val="0"/>
              </a:spcBef>
              <a:spcAft>
                <a:spcPts val="0"/>
              </a:spcAft>
              <a:defRPr sz="1569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69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Value surrogate</a:t>
            </a:r>
          </a:p>
        </p:txBody>
      </p:sp>
      <p:sp>
        <p:nvSpPr>
          <p:cNvPr id="118" name="score-input" descr="Editable text; source id score-input"/>
          <p:cNvSpPr txBox="1"/>
          <p:nvPr/>
        </p:nvSpPr>
        <p:spPr>
          <a:xfrm>
            <a:off x="302394" y="2893366"/>
            <a:ext cx="907183" cy="29552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(h, z, score)</a:t>
            </a:r>
          </a:p>
        </p:txBody>
      </p:sp>
      <p:sp>
        <p:nvSpPr>
          <p:cNvPr id="119" name="surrogate-symbol" descr="Editable text; source id surrogate-symbol"/>
          <p:cNvSpPr txBox="1"/>
          <p:nvPr/>
        </p:nvSpPr>
        <p:spPr>
          <a:xfrm>
            <a:off x="1353903" y="3367576"/>
            <a:ext cx="941546" cy="27490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4"/>
              </a:lnSpc>
              <a:spcBef>
                <a:spcPts val="0"/>
              </a:spcBef>
              <a:spcAft>
                <a:spcPts val="0"/>
              </a:spcAft>
              <a:defRPr sz="1569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69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Q̂(h, z)</a:t>
            </a:r>
          </a:p>
        </p:txBody>
      </p:sp>
      <p:sp>
        <p:nvSpPr>
          <p:cNvPr id="120" name="target-name" descr="Editable text; source id target-name"/>
          <p:cNvSpPr txBox="1"/>
          <p:nvPr/>
        </p:nvSpPr>
        <p:spPr>
          <a:xfrm>
            <a:off x="2687188" y="3388193"/>
            <a:ext cx="2096144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KL-regularized target</a:t>
            </a:r>
          </a:p>
        </p:txBody>
      </p:sp>
      <p:sp>
        <p:nvSpPr>
          <p:cNvPr id="121" name="gradients" descr="Editable text; source id gradients"/>
          <p:cNvSpPr txBox="1"/>
          <p:nvPr/>
        </p:nvSpPr>
        <p:spPr>
          <a:xfrm>
            <a:off x="5023873" y="2597844"/>
            <a:ext cx="707878" cy="44671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gradients</a:t>
            </a:r>
          </a:p>
        </p:txBody>
      </p:sp>
      <p:sp>
        <p:nvSpPr>
          <p:cNvPr id="122" name="sampler-title" descr="Editable text; source id sampler-title"/>
          <p:cNvSpPr txBox="1"/>
          <p:nvPr/>
        </p:nvSpPr>
        <p:spPr>
          <a:xfrm>
            <a:off x="7394922" y="2302322"/>
            <a:ext cx="3168270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04"/>
              </a:lnSpc>
              <a:spcBef>
                <a:spcPts val="0"/>
              </a:spcBef>
              <a:spcAft>
                <a:spcPts val="0"/>
              </a:spcAft>
              <a:defRPr sz="1569" b="1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69" b="1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rPr>
              <a:t>Conditional adjoint sampling</a:t>
            </a:r>
          </a:p>
        </p:txBody>
      </p:sp>
      <p:sp>
        <p:nvSpPr>
          <p:cNvPr id="123" name="reference-endpoint" descr="Editable text; source id reference-endpoint"/>
          <p:cNvSpPr txBox="1"/>
          <p:nvPr/>
        </p:nvSpPr>
        <p:spPr>
          <a:xfrm>
            <a:off x="5965420" y="3491282"/>
            <a:ext cx="228170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06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Uncontrolled endpoint: ρ₀ = N(0, I)</a:t>
            </a:r>
          </a:p>
        </p:txBody>
      </p:sp>
      <p:sp>
        <p:nvSpPr>
          <p:cNvPr id="124" name="learn-drift" descr="Editable text; source id learn-drift"/>
          <p:cNvSpPr txBox="1"/>
          <p:nvPr/>
        </p:nvSpPr>
        <p:spPr>
          <a:xfrm>
            <a:off x="8322723" y="3505028"/>
            <a:ext cx="2178615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Learn the drift offline</a:t>
            </a:r>
          </a:p>
        </p:txBody>
      </p:sp>
      <p:sp>
        <p:nvSpPr>
          <p:cNvPr id="125" name="reuse-label" descr="Editable text; source id reuse-label"/>
          <p:cNvSpPr txBox="1"/>
          <p:nvPr/>
        </p:nvSpPr>
        <p:spPr>
          <a:xfrm>
            <a:off x="6247197" y="3779932"/>
            <a:ext cx="1463864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rPr>
              <a:t>Reuse learned sampler</a:t>
            </a:r>
          </a:p>
        </p:txBody>
      </p:sp>
      <p:sp>
        <p:nvSpPr>
          <p:cNvPr id="126" name="context-title" descr="Editable text; source id context-title"/>
          <p:cNvSpPr txBox="1"/>
          <p:nvPr/>
        </p:nvSpPr>
        <p:spPr>
          <a:xfrm>
            <a:off x="687260" y="4453447"/>
            <a:ext cx="1120234" cy="26115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Context  h</a:t>
            </a:r>
          </a:p>
        </p:txBody>
      </p:sp>
      <p:sp>
        <p:nvSpPr>
          <p:cNvPr id="127" name="context-h" descr="Editable text; source id context-h"/>
          <p:cNvSpPr txBox="1"/>
          <p:nvPr/>
        </p:nvSpPr>
        <p:spPr>
          <a:xfrm>
            <a:off x="886565" y="5360631"/>
            <a:ext cx="281776" cy="18556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h</a:t>
            </a:r>
          </a:p>
        </p:txBody>
      </p:sp>
      <p:sp>
        <p:nvSpPr>
          <p:cNvPr id="128" name="context-desc" descr="Editable text; source id context-desc"/>
          <p:cNvSpPr txBox="1"/>
          <p:nvPr/>
        </p:nvSpPr>
        <p:spPr>
          <a:xfrm>
            <a:off x="1422629" y="4790205"/>
            <a:ext cx="804094" cy="5566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current state</a:t>
            </a:r>
          </a:p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task info</a:t>
            </a:r>
          </a:p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29" name="boundary" descr="Editable text; source id boundary"/>
          <p:cNvSpPr txBox="1"/>
          <p:nvPr/>
        </p:nvSpPr>
        <p:spPr>
          <a:xfrm>
            <a:off x="2357303" y="4556536"/>
            <a:ext cx="742241" cy="35737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Segment</a:t>
            </a:r>
          </a:p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boundary</a:t>
            </a:r>
          </a:p>
        </p:txBody>
      </p:sp>
      <p:sp>
        <p:nvSpPr>
          <p:cNvPr id="130" name="actor-title" descr="Editable text; source id actor-title"/>
          <p:cNvSpPr txBox="1"/>
          <p:nvPr/>
        </p:nvSpPr>
        <p:spPr>
          <a:xfrm>
            <a:off x="3230123" y="4522173"/>
            <a:ext cx="1367648" cy="28177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A95112"/>
                </a:solidFill>
                <a:latin typeface="Liberation Serif"/>
                <a:ea typeface="Liberation Serif"/>
                <a:cs typeface="Liberation Serif"/>
              </a:rPr>
              <a:t>ASBS proposer</a:t>
            </a:r>
          </a:p>
        </p:txBody>
      </p:sp>
      <p:sp>
        <p:nvSpPr>
          <p:cNvPr id="131" name="actor-law" descr="Editable text; source id actor-law"/>
          <p:cNvSpPr txBox="1"/>
          <p:nvPr/>
        </p:nvSpPr>
        <p:spPr>
          <a:xfrm>
            <a:off x="3594371" y="4803950"/>
            <a:ext cx="714750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qη(z | h)</a:t>
            </a:r>
          </a:p>
        </p:txBody>
      </p:sp>
      <p:sp>
        <p:nvSpPr>
          <p:cNvPr id="132" name="stream-title" descr="Editable text; source id stream-title"/>
          <p:cNvSpPr txBox="1"/>
          <p:nvPr/>
        </p:nvSpPr>
        <p:spPr>
          <a:xfrm>
            <a:off x="5099472" y="4529046"/>
            <a:ext cx="1766259" cy="2886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defRPr sz="1406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06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Segment stream  z₁:₁₀</a:t>
            </a:r>
          </a:p>
        </p:txBody>
      </p:sp>
      <p:sp>
        <p:nvSpPr>
          <p:cNvPr id="133" name="stream-dots" descr="Editable text; source id stream-dots"/>
          <p:cNvSpPr txBox="1"/>
          <p:nvPr/>
        </p:nvSpPr>
        <p:spPr>
          <a:xfrm>
            <a:off x="6680171" y="4838313"/>
            <a:ext cx="206178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34" name="stream-resample" descr="Editable text; source id stream-resample"/>
          <p:cNvSpPr txBox="1"/>
          <p:nvPr/>
        </p:nvSpPr>
        <p:spPr>
          <a:xfrm>
            <a:off x="5120090" y="5223179"/>
            <a:ext cx="1752514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Resample after 10 chunks</a:t>
            </a:r>
          </a:p>
        </p:txBody>
      </p:sp>
      <p:sp>
        <p:nvSpPr>
          <p:cNvPr id="135" name="slice-index" descr="Editable text; source id slice-index"/>
          <p:cNvSpPr txBox="1"/>
          <p:nvPr/>
        </p:nvSpPr>
        <p:spPr>
          <a:xfrm>
            <a:off x="7037546" y="4666498"/>
            <a:ext cx="281776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61"/>
              </a:lnSpc>
              <a:spcBef>
                <a:spcPts val="0"/>
              </a:spcBef>
              <a:spcAft>
                <a:spcPts val="0"/>
              </a:spcAft>
              <a:defRPr sz="1244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z</a:t>
            </a:r>
            <a:r>
              <a:rPr sz="1244" b="0" i="1" lang="zh-CN" dirty="0">
                <a:solidFill>
                  <a:srgbClr val="10274C"/>
                </a:solidFill>
                <a:latin typeface="DejaVu Sans"/>
                <a:ea typeface="DejaVu Sans"/>
                <a:cs typeface="DejaVu Sans"/>
              </a:rPr>
              <a:t>⁽</a:t>
            </a:r>
            <a:r>
              <a:rPr sz="1244" b="0" i="1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ʲ</a:t>
            </a:r>
            <a:r>
              <a:rPr sz="1244" b="0" i="1" lang="zh-CN" dirty="0">
                <a:solidFill>
                  <a:srgbClr val="10274C"/>
                </a:solidFill>
                <a:latin typeface="DejaVu Sans"/>
                <a:ea typeface="DejaVu Sans"/>
                <a:cs typeface="DejaVu Sans"/>
              </a:rPr>
              <a:t>⁾</a:t>
            </a:r>
          </a:p>
        </p:txBody>
      </p:sp>
      <p:sp>
        <p:nvSpPr>
          <p:cNvPr id="136" name="frozen-title" descr="Editable text; source id frozen-title"/>
          <p:cNvSpPr txBox="1"/>
          <p:nvPr/>
        </p:nvSpPr>
        <p:spPr>
          <a:xfrm>
            <a:off x="7717934" y="4515300"/>
            <a:ext cx="1209578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Frozen VLA</a:t>
            </a:r>
          </a:p>
        </p:txBody>
      </p:sp>
      <p:sp>
        <p:nvSpPr>
          <p:cNvPr id="137" name="frozen-weights" descr="Editable text; source id frozen-weights"/>
          <p:cNvSpPr txBox="1"/>
          <p:nvPr/>
        </p:nvSpPr>
        <p:spPr>
          <a:xfrm>
            <a:off x="7738552" y="5195688"/>
            <a:ext cx="1402011" cy="19243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(no weight updates)</a:t>
            </a:r>
          </a:p>
        </p:txBody>
      </p:sp>
      <p:sp>
        <p:nvSpPr>
          <p:cNvPr id="138" name="prefix-title" descr="Editable text; source id prefix-title"/>
          <p:cNvSpPr txBox="1"/>
          <p:nvPr/>
        </p:nvSpPr>
        <p:spPr>
          <a:xfrm>
            <a:off x="9951530" y="4494683"/>
            <a:ext cx="1683788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42"/>
              </a:lnSpc>
              <a:spcBef>
                <a:spcPts val="0"/>
              </a:spcBef>
              <a:spcAft>
                <a:spcPts val="0"/>
              </a:spcAft>
              <a:def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515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Execute prefix</a:t>
            </a:r>
          </a:p>
        </p:txBody>
      </p:sp>
      <p:sp>
        <p:nvSpPr>
          <p:cNvPr id="139" name="prefix-dots" descr="Editable text; source id prefix-dots"/>
          <p:cNvSpPr txBox="1"/>
          <p:nvPr/>
        </p:nvSpPr>
        <p:spPr>
          <a:xfrm>
            <a:off x="11683426" y="4845185"/>
            <a:ext cx="274904" cy="22679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461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···</a:t>
            </a:r>
          </a:p>
        </p:txBody>
      </p:sp>
      <p:sp>
        <p:nvSpPr>
          <p:cNvPr id="140" name="five-actions" descr="Editable text; source id five-actions"/>
          <p:cNvSpPr txBox="1"/>
          <p:nvPr/>
        </p:nvSpPr>
        <p:spPr>
          <a:xfrm>
            <a:off x="10047747" y="5175070"/>
            <a:ext cx="164942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5 actions per chunk</a:t>
            </a:r>
          </a:p>
        </p:txBody>
      </p:sp>
      <p:sp>
        <p:nvSpPr>
          <p:cNvPr id="141" name="observation-label" descr="Editable text; source id observation-label"/>
          <p:cNvSpPr txBox="1"/>
          <p:nvPr/>
        </p:nvSpPr>
        <p:spPr>
          <a:xfrm>
            <a:off x="4487810" y="4206033"/>
            <a:ext cx="1731896" cy="178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06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Current observation</a:t>
            </a:r>
          </a:p>
        </p:txBody>
      </p:sp>
      <p:sp>
        <p:nvSpPr>
          <p:cNvPr id="142" name="chunk-return-label" descr="Editable text; source id chunk-return-label"/>
          <p:cNvSpPr txBox="1"/>
          <p:nvPr/>
        </p:nvSpPr>
        <p:spPr>
          <a:xfrm>
            <a:off x="8522029" y="5436229"/>
            <a:ext cx="2123634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17E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17E9B"/>
                </a:solidFill>
                <a:latin typeface="Liberation Serif"/>
                <a:ea typeface="Liberation Serif"/>
                <a:cs typeface="Liberation Serif"/>
              </a:rPr>
              <a:t>Fresh observation at every chunk</a:t>
            </a:r>
          </a:p>
        </p:txBody>
      </p:sp>
      <p:sp>
        <p:nvSpPr>
          <p:cNvPr id="143" name="scope" descr="Editable text; source id scope"/>
          <p:cNvSpPr txBox="1"/>
          <p:nvPr/>
        </p:nvSpPr>
        <p:spPr>
          <a:xfrm>
            <a:off x="192432" y="5800477"/>
            <a:ext cx="4542791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Proposed segment protocol; robot gains unverified.</a:t>
            </a:r>
          </a:p>
        </p:txBody>
      </p:sp>
      <p:sp>
        <p:nvSpPr>
          <p:cNvPr id="144" name="cost" descr="Editable text; source id cost"/>
          <p:cNvSpPr txBox="1"/>
          <p:nvPr/>
        </p:nvSpPr>
        <p:spPr>
          <a:xfrm>
            <a:off x="9051219" y="5800477"/>
            <a:ext cx="2955219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r" fontAlgn="base">
              <a:lnSpc>
                <a:spcPts val="1306"/>
              </a:lnSpc>
              <a:spcBef>
                <a:spcPts val="0"/>
              </a:spcBef>
              <a:spcAft>
                <a:spcPts val="0"/>
              </a:spcAft>
              <a:def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36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Sampler integration and VLA decoding remain.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noiser" descr="Editable shape; source id denoiser"/>
          <p:cNvSpPr/>
          <p:nvPr/>
        </p:nvSpPr>
        <p:spPr>
          <a:xfrm>
            <a:off x="2164870" y="2639079"/>
            <a:ext cx="728496" cy="446719"/>
          </a:xfrm>
          <a:prstGeom prst="rect">
            <a:avLst/>
          </a:prstGeom>
          <a:solidFill>
            <a:srgbClr val="FFFFFF"/>
          </a:solidFill>
          <a:ln w="8934">
            <a:solidFill>
              <a:srgbClr val="102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arget-cloud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86" y="1381393"/>
            <a:ext cx="1147724" cy="728496"/>
          </a:xfrm>
          <a:prstGeom prst="rect">
            <a:avLst/>
          </a:prstGeom>
          <a:effectLst/>
        </p:spPr>
      </p:pic>
      <p:pic>
        <p:nvPicPr>
          <p:cNvPr id="4" name="noisy-cloud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347" y="1360775"/>
            <a:ext cx="1175215" cy="755986"/>
          </a:xfrm>
          <a:prstGeom prst="rect">
            <a:avLst/>
          </a:prstGeom>
          <a:effectLst/>
        </p:spPr>
      </p:pic>
      <p:pic>
        <p:nvPicPr>
          <p:cNvPr id="5" name="training-noise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44" y="2522245"/>
            <a:ext cx="680387" cy="707878"/>
          </a:xfrm>
          <a:prstGeom prst="rect">
            <a:avLst/>
          </a:prstGeom>
          <a:effectLst/>
        </p:spPr>
      </p:pic>
      <p:pic>
        <p:nvPicPr>
          <p:cNvPr id="6" name="training-target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51" y="2508500"/>
            <a:ext cx="907183" cy="714750"/>
          </a:xfrm>
          <a:prstGeom prst="rect">
            <a:avLst/>
          </a:prstGeom>
          <a:effectLst/>
        </p:spPr>
      </p:pic>
      <p:pic>
        <p:nvPicPr>
          <p:cNvPr id="7" name="diffusion-prior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8" y="3711206"/>
            <a:ext cx="707878" cy="646024"/>
          </a:xfrm>
          <a:prstGeom prst="rect">
            <a:avLst/>
          </a:prstGeom>
          <a:effectLst/>
        </p:spPr>
      </p:pic>
      <p:pic>
        <p:nvPicPr>
          <p:cNvPr id="8" name="diffusion-output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5760" y="3738696"/>
            <a:ext cx="934674" cy="639152"/>
          </a:xfrm>
          <a:prstGeom prst="rect">
            <a:avLst/>
          </a:prstGeom>
          <a:effectLst/>
        </p:spPr>
      </p:pic>
      <p:pic>
        <p:nvPicPr>
          <p:cNvPr id="9" name="flow-supervision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6383" y="1285176"/>
            <a:ext cx="2570353" cy="886565"/>
          </a:xfrm>
          <a:prstGeom prst="rect">
            <a:avLst/>
          </a:prstGeom>
          <a:effectLst/>
        </p:spPr>
      </p:pic>
      <p:pic>
        <p:nvPicPr>
          <p:cNvPr id="10" name="flow-training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2637" y="2481010"/>
            <a:ext cx="2590971" cy="776604"/>
          </a:xfrm>
          <a:prstGeom prst="rect">
            <a:avLst/>
          </a:prstGeom>
          <a:effectLst/>
        </p:spPr>
      </p:pic>
      <p:pic>
        <p:nvPicPr>
          <p:cNvPr id="11" name="flow-sampling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224" y="3724951"/>
            <a:ext cx="2879621" cy="755986"/>
          </a:xfrm>
          <a:prstGeom prst="rect">
            <a:avLst/>
          </a:prstGeom>
          <a:effectLst/>
        </p:spPr>
      </p:pic>
      <p:pic>
        <p:nvPicPr>
          <p:cNvPr id="12" name="score-ledger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7009" y="1388266"/>
            <a:ext cx="914056" cy="611661"/>
          </a:xfrm>
          <a:prstGeom prst="rect">
            <a:avLst/>
          </a:prstGeom>
          <a:effectLst/>
        </p:spPr>
      </p:pic>
      <p:pic>
        <p:nvPicPr>
          <p:cNvPr id="13" name="target-contours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52919" y="1264559"/>
            <a:ext cx="1773131" cy="790349"/>
          </a:xfrm>
          <a:prstGeom prst="rect">
            <a:avLst/>
          </a:prstGeom>
          <a:effectLst/>
        </p:spPr>
      </p:pic>
      <p:pic>
        <p:nvPicPr>
          <p:cNvPr id="14" name="adjoint-learning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8901" y="2556608"/>
            <a:ext cx="3195760" cy="652897"/>
          </a:xfrm>
          <a:prstGeom prst="rect">
            <a:avLst/>
          </a:prstGeom>
          <a:effectLst/>
        </p:spPr>
      </p:pic>
      <p:pic>
        <p:nvPicPr>
          <p:cNvPr id="15" name="adjoint-sampling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22029" y="3814295"/>
            <a:ext cx="3202633" cy="652897"/>
          </a:xfrm>
          <a:prstGeom prst="rect">
            <a:avLst/>
          </a:prstGeom>
          <a:effectLst/>
        </p:spPr>
      </p:pic>
      <p:pic>
        <p:nvPicPr>
          <p:cNvPr id="16" name="application-ledger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24329" y="4900166"/>
            <a:ext cx="1127107" cy="439846"/>
          </a:xfrm>
          <a:prstGeom prst="rect">
            <a:avLst/>
          </a:prstGeom>
          <a:effectLst/>
        </p:spPr>
      </p:pic>
      <p:pic>
        <p:nvPicPr>
          <p:cNvPr id="17" name="application-contours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25957" y="4858931"/>
            <a:ext cx="1360775" cy="494827"/>
          </a:xfrm>
          <a:prstGeom prst="rect">
            <a:avLst/>
          </a:prstGeom>
          <a:effectLst/>
        </p:spPr>
      </p:pic>
      <p:pic>
        <p:nvPicPr>
          <p:cNvPr id="18" name="application-proposals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2489" y="4858931"/>
            <a:ext cx="1133979" cy="501700"/>
          </a:xfrm>
          <a:prstGeom prst="rect">
            <a:avLst/>
          </a:prstGeom>
          <a:effectLst/>
        </p:spPr>
      </p:pic>
      <p:pic>
        <p:nvPicPr>
          <p:cNvPr id="19" name="application-lock" descr="Exact independent artwork region from generated v22-r2 conceptual figure; not experimental evidence.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68365" y="4900166"/>
            <a:ext cx="371120" cy="419228"/>
          </a:xfrm>
          <a:prstGeom prst="rect">
            <a:avLst/>
          </a:prstGeom>
          <a:effectLst/>
        </p:spPr>
      </p:pic>
      <p:cxnSp>
        <p:nvCxnSpPr>
          <p:cNvPr id="20" name="top-rule-0" descr="Editable line; source id top-rule-0"/>
          <p:cNvCxnSpPr/>
          <p:nvPr/>
        </p:nvCxnSpPr>
        <p:spPr>
          <a:xfrm>
            <a:off x="377993" y="446719"/>
            <a:ext cx="11436013" cy="0"/>
          </a:xfrm>
          <a:prstGeom prst="line">
            <a:avLst/>
          </a:prstGeom>
          <a:ln w="8247">
            <a:solidFill>
              <a:srgbClr val="8CA3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divider-0-0" descr="Editable line; source id divider-0-0"/>
          <p:cNvCxnSpPr/>
          <p:nvPr/>
        </p:nvCxnSpPr>
        <p:spPr>
          <a:xfrm>
            <a:off x="4384721" y="694133"/>
            <a:ext cx="0" cy="3896766"/>
          </a:xfrm>
          <a:prstGeom prst="line">
            <a:avLst/>
          </a:prstGeom>
          <a:ln w="8247">
            <a:solidFill>
              <a:srgbClr val="A9BB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ivider-1-0" descr="Editable line; source id divider-1-0"/>
          <p:cNvCxnSpPr/>
          <p:nvPr/>
        </p:nvCxnSpPr>
        <p:spPr>
          <a:xfrm>
            <a:off x="7937857" y="694133"/>
            <a:ext cx="0" cy="3896766"/>
          </a:xfrm>
          <a:prstGeom prst="line">
            <a:avLst/>
          </a:prstGeom>
          <a:ln w="8247">
            <a:solidFill>
              <a:srgbClr val="A9BB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noise-forward-0" descr="Editable line; source id noise-forward-0"/>
          <p:cNvSpPr/>
          <p:nvPr/>
        </p:nvSpPr>
        <p:spPr>
          <a:xfrm>
            <a:off x="2529118" y="1639116"/>
            <a:ext cx="268032" cy="75599"/>
          </a:xfrm>
          <a:custGeom>
            <a:avLst/>
            <a:gdLst/>
            <a:ahLst/>
            <a:cxnLst/>
            <a:rect l="l" t="t" r="r" b="b"/>
            <a:pathLst>
              <a:path w="39000" h="11000">
                <a:moveTo>
                  <a:pt x="0" y="4950"/>
                </a:moveTo>
                <a:lnTo>
                  <a:pt x="28000" y="4950"/>
                </a:lnTo>
                <a:lnTo>
                  <a:pt x="28000" y="0"/>
                </a:lnTo>
                <a:lnTo>
                  <a:pt x="39000" y="5500"/>
                </a:lnTo>
                <a:lnTo>
                  <a:pt x="28000" y="11000"/>
                </a:lnTo>
                <a:lnTo>
                  <a:pt x="28000" y="6050"/>
                </a:lnTo>
                <a:lnTo>
                  <a:pt x="0" y="605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enoise-in-0" descr="Editable line; source id denoise-in-0"/>
          <p:cNvSpPr/>
          <p:nvPr/>
        </p:nvSpPr>
        <p:spPr>
          <a:xfrm>
            <a:off x="1841858" y="2828077"/>
            <a:ext cx="281777" cy="75599"/>
          </a:xfrm>
          <a:custGeom>
            <a:avLst/>
            <a:gdLst/>
            <a:ahLst/>
            <a:cxnLst/>
            <a:rect l="l" t="t" r="r" b="b"/>
            <a:pathLst>
              <a:path w="41000" h="11000">
                <a:moveTo>
                  <a:pt x="0" y="4900"/>
                </a:moveTo>
                <a:lnTo>
                  <a:pt x="30000" y="4900"/>
                </a:lnTo>
                <a:lnTo>
                  <a:pt x="30000" y="0"/>
                </a:lnTo>
                <a:lnTo>
                  <a:pt x="41000" y="5500"/>
                </a:lnTo>
                <a:lnTo>
                  <a:pt x="30000" y="11000"/>
                </a:lnTo>
                <a:lnTo>
                  <a:pt x="30000" y="6100"/>
                </a:lnTo>
                <a:lnTo>
                  <a:pt x="0" y="610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enoise-out-0" descr="Editable line; source id denoise-out-0"/>
          <p:cNvSpPr/>
          <p:nvPr/>
        </p:nvSpPr>
        <p:spPr>
          <a:xfrm>
            <a:off x="2955220" y="2828077"/>
            <a:ext cx="213051" cy="75599"/>
          </a:xfrm>
          <a:custGeom>
            <a:avLst/>
            <a:gdLst/>
            <a:ahLst/>
            <a:cxnLst/>
            <a:rect l="l" t="t" r="r" b="b"/>
            <a:pathLst>
              <a:path w="31000" h="11000">
                <a:moveTo>
                  <a:pt x="0" y="4900"/>
                </a:moveTo>
                <a:lnTo>
                  <a:pt x="20000" y="4900"/>
                </a:lnTo>
                <a:lnTo>
                  <a:pt x="20000" y="0"/>
                </a:lnTo>
                <a:lnTo>
                  <a:pt x="31000" y="5500"/>
                </a:lnTo>
                <a:lnTo>
                  <a:pt x="20000" y="11000"/>
                </a:lnTo>
                <a:lnTo>
                  <a:pt x="20000" y="6100"/>
                </a:lnTo>
                <a:lnTo>
                  <a:pt x="0" y="610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ffusion-runtime-0" descr="Editable line; source id diffusion-runtime-0"/>
          <p:cNvSpPr/>
          <p:nvPr/>
        </p:nvSpPr>
        <p:spPr>
          <a:xfrm>
            <a:off x="1883094" y="3975801"/>
            <a:ext cx="1195833" cy="75599"/>
          </a:xfrm>
          <a:custGeom>
            <a:avLst/>
            <a:gdLst/>
            <a:ahLst/>
            <a:cxnLst/>
            <a:rect l="l" t="t" r="r" b="b"/>
            <a:pathLst>
              <a:path w="174000" h="11000">
                <a:moveTo>
                  <a:pt x="0" y="4900"/>
                </a:moveTo>
                <a:lnTo>
                  <a:pt x="163000" y="4900"/>
                </a:lnTo>
                <a:lnTo>
                  <a:pt x="163000" y="0"/>
                </a:lnTo>
                <a:lnTo>
                  <a:pt x="174000" y="5500"/>
                </a:lnTo>
                <a:lnTo>
                  <a:pt x="163000" y="11000"/>
                </a:lnTo>
                <a:lnTo>
                  <a:pt x="163000" y="6100"/>
                </a:lnTo>
                <a:lnTo>
                  <a:pt x="0" y="6100"/>
                </a:lnTo>
                <a:close/>
              </a:path>
            </a:pathLst>
          </a:custGeom>
          <a:solidFill>
            <a:srgbClr val="102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bottom-rule-0" descr="Editable line; source id bottom-rule-0"/>
          <p:cNvCxnSpPr/>
          <p:nvPr/>
        </p:nvCxnSpPr>
        <p:spPr>
          <a:xfrm>
            <a:off x="171815" y="4755842"/>
            <a:ext cx="11841496" cy="0"/>
          </a:xfrm>
          <a:prstGeom prst="line">
            <a:avLst/>
          </a:prstGeom>
          <a:ln w="8934">
            <a:solidFill>
              <a:srgbClr val="8DA5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pplication-flow-0-0" descr="Editable line; source id application-flow-0-0"/>
          <p:cNvSpPr/>
          <p:nvPr/>
        </p:nvSpPr>
        <p:spPr>
          <a:xfrm>
            <a:off x="3450047" y="5109781"/>
            <a:ext cx="611662" cy="75599"/>
          </a:xfrm>
          <a:custGeom>
            <a:avLst/>
            <a:gdLst/>
            <a:ahLst/>
            <a:cxnLst/>
            <a:rect l="l" t="t" r="r" b="b"/>
            <a:pathLst>
              <a:path w="89000" h="11000">
                <a:moveTo>
                  <a:pt x="0" y="4800"/>
                </a:moveTo>
                <a:lnTo>
                  <a:pt x="78000" y="4800"/>
                </a:lnTo>
                <a:lnTo>
                  <a:pt x="78000" y="0"/>
                </a:lnTo>
                <a:lnTo>
                  <a:pt x="89000" y="5500"/>
                </a:lnTo>
                <a:lnTo>
                  <a:pt x="78000" y="11000"/>
                </a:lnTo>
                <a:lnTo>
                  <a:pt x="78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45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pplication-flow-1-0" descr="Editable line; source id application-flow-1-0"/>
          <p:cNvSpPr/>
          <p:nvPr/>
        </p:nvSpPr>
        <p:spPr>
          <a:xfrm>
            <a:off x="6109745" y="5109781"/>
            <a:ext cx="625407" cy="75599"/>
          </a:xfrm>
          <a:custGeom>
            <a:avLst/>
            <a:gdLst/>
            <a:ahLst/>
            <a:cxnLst/>
            <a:rect l="l" t="t" r="r" b="b"/>
            <a:pathLst>
              <a:path w="91000" h="11000">
                <a:moveTo>
                  <a:pt x="0" y="4800"/>
                </a:moveTo>
                <a:lnTo>
                  <a:pt x="80000" y="4800"/>
                </a:lnTo>
                <a:lnTo>
                  <a:pt x="80000" y="0"/>
                </a:lnTo>
                <a:lnTo>
                  <a:pt x="91000" y="5500"/>
                </a:lnTo>
                <a:lnTo>
                  <a:pt x="80000" y="11000"/>
                </a:lnTo>
                <a:lnTo>
                  <a:pt x="80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45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pplication-flow-2-0" descr="Editable line; source id application-flow-2-0"/>
          <p:cNvSpPr/>
          <p:nvPr/>
        </p:nvSpPr>
        <p:spPr>
          <a:xfrm>
            <a:off x="9003111" y="5109781"/>
            <a:ext cx="405484" cy="75599"/>
          </a:xfrm>
          <a:custGeom>
            <a:avLst/>
            <a:gdLst/>
            <a:ahLst/>
            <a:cxnLst/>
            <a:rect l="l" t="t" r="r" b="b"/>
            <a:pathLst>
              <a:path w="59000" h="11000">
                <a:moveTo>
                  <a:pt x="0" y="4800"/>
                </a:moveTo>
                <a:lnTo>
                  <a:pt x="48000" y="4800"/>
                </a:lnTo>
                <a:lnTo>
                  <a:pt x="48000" y="0"/>
                </a:lnTo>
                <a:lnTo>
                  <a:pt x="59000" y="5500"/>
                </a:lnTo>
                <a:lnTo>
                  <a:pt x="48000" y="11000"/>
                </a:lnTo>
                <a:lnTo>
                  <a:pt x="48000" y="6200"/>
                </a:lnTo>
                <a:lnTo>
                  <a:pt x="0" y="6200"/>
                </a:lnTo>
                <a:close/>
              </a:path>
            </a:pathLst>
          </a:custGeom>
          <a:solidFill>
            <a:srgbClr val="456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itle" descr="Editable text; source id title"/>
          <p:cNvSpPr txBox="1"/>
          <p:nvPr/>
        </p:nvSpPr>
        <p:spPr>
          <a:xfrm>
            <a:off x="2955219" y="27490"/>
            <a:ext cx="6659553" cy="35050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302"/>
              </a:lnSpc>
              <a:spcBef>
                <a:spcPts val="0"/>
              </a:spcBef>
              <a:spcAft>
                <a:spcPts val="0"/>
              </a:spcAft>
              <a:def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2002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Different training signals, reusable samplers</a:t>
            </a:r>
          </a:p>
        </p:txBody>
      </p:sp>
      <p:sp>
        <p:nvSpPr>
          <p:cNvPr id="32" name="diffusion-title" descr="Editable text; source id diffusion-title"/>
          <p:cNvSpPr txBox="1"/>
          <p:nvPr/>
        </p:nvSpPr>
        <p:spPr>
          <a:xfrm>
            <a:off x="1292049" y="618534"/>
            <a:ext cx="2982710" cy="33675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1"/>
              </a:lnSpc>
              <a:spcBef>
                <a:spcPts val="0"/>
              </a:spcBef>
              <a:spcAft>
                <a:spcPts val="0"/>
              </a:spcAft>
              <a:def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(a) Sample-trained diffusion</a:t>
            </a:r>
          </a:p>
        </p:txBody>
      </p:sp>
      <p:sp>
        <p:nvSpPr>
          <p:cNvPr id="33" name="flow-title" descr="Editable text; source id flow-title"/>
          <p:cNvSpPr txBox="1"/>
          <p:nvPr/>
        </p:nvSpPr>
        <p:spPr>
          <a:xfrm>
            <a:off x="4687116" y="618534"/>
            <a:ext cx="3127034" cy="33675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1"/>
              </a:lnSpc>
              <a:spcBef>
                <a:spcPts val="0"/>
              </a:spcBef>
              <a:spcAft>
                <a:spcPts val="0"/>
              </a:spcAft>
              <a:def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(b) Standard flow matching</a:t>
            </a:r>
          </a:p>
        </p:txBody>
      </p:sp>
      <p:sp>
        <p:nvSpPr>
          <p:cNvPr id="34" name="asbs-title" descr="Editable text; source id asbs-title"/>
          <p:cNvSpPr txBox="1"/>
          <p:nvPr/>
        </p:nvSpPr>
        <p:spPr>
          <a:xfrm>
            <a:off x="8377704" y="618534"/>
            <a:ext cx="3649352" cy="33675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91"/>
              </a:lnSpc>
              <a:spcBef>
                <a:spcPts val="0"/>
              </a:spcBef>
              <a:spcAft>
                <a:spcPts val="0"/>
              </a:spcAft>
              <a:def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731" b="1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(c) Our adjoint-sampling route</a:t>
            </a:r>
          </a:p>
        </p:txBody>
      </p:sp>
      <p:sp>
        <p:nvSpPr>
          <p:cNvPr id="35" name="row-0" descr="Editable text; source id row-0"/>
          <p:cNvSpPr txBox="1"/>
          <p:nvPr/>
        </p:nvSpPr>
        <p:spPr>
          <a:xfrm>
            <a:off x="171815" y="1484482"/>
            <a:ext cx="831585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rPr>
              <a:t>Supervision</a:t>
            </a:r>
          </a:p>
        </p:txBody>
      </p:sp>
      <p:sp>
        <p:nvSpPr>
          <p:cNvPr id="36" name="row-1" descr="Editable text; source id row-1"/>
          <p:cNvSpPr txBox="1"/>
          <p:nvPr/>
        </p:nvSpPr>
        <p:spPr>
          <a:xfrm>
            <a:off x="171815" y="2728423"/>
            <a:ext cx="831585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rPr>
              <a:t>Learning</a:t>
            </a:r>
          </a:p>
        </p:txBody>
      </p:sp>
      <p:sp>
        <p:nvSpPr>
          <p:cNvPr id="37" name="row-2" descr="Editable text; source id row-2"/>
          <p:cNvSpPr txBox="1"/>
          <p:nvPr/>
        </p:nvSpPr>
        <p:spPr>
          <a:xfrm>
            <a:off x="171815" y="3855530"/>
            <a:ext cx="831585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516783"/>
                </a:solidFill>
                <a:latin typeface="Liberation Serif"/>
                <a:ea typeface="Liberation Serif"/>
                <a:cs typeface="Liberation Serif"/>
              </a:rPr>
              <a:t>Sampling</a:t>
            </a:r>
          </a:p>
        </p:txBody>
      </p:sp>
      <p:sp>
        <p:nvSpPr>
          <p:cNvPr id="38" name="target-samples" descr="Editable text; source id target-samples"/>
          <p:cNvSpPr txBox="1"/>
          <p:nvPr/>
        </p:nvSpPr>
        <p:spPr>
          <a:xfrm>
            <a:off x="1360775" y="1099616"/>
            <a:ext cx="1230196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Target samples</a:t>
            </a:r>
          </a:p>
        </p:txBody>
      </p:sp>
      <p:sp>
        <p:nvSpPr>
          <p:cNvPr id="39" name="perturb-samples" descr="Editable text; source id perturb-samples"/>
          <p:cNvSpPr txBox="1"/>
          <p:nvPr/>
        </p:nvSpPr>
        <p:spPr>
          <a:xfrm>
            <a:off x="2920856" y="1099616"/>
            <a:ext cx="1264559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Perturb samples</a:t>
            </a:r>
          </a:p>
        </p:txBody>
      </p:sp>
      <p:sp>
        <p:nvSpPr>
          <p:cNvPr id="40" name="denoiser-label" descr="Editable text; source id denoiser-label"/>
          <p:cNvSpPr txBox="1"/>
          <p:nvPr/>
        </p:nvSpPr>
        <p:spPr>
          <a:xfrm>
            <a:off x="2212978" y="2652825"/>
            <a:ext cx="625406" cy="40548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Fit</a:t>
            </a:r>
          </a:p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denoiser</a:t>
            </a:r>
          </a:p>
        </p:txBody>
      </p:sp>
      <p:sp>
        <p:nvSpPr>
          <p:cNvPr id="41" name="diffusion-generate" descr="Editable text; source id diffusion-generate"/>
          <p:cNvSpPr txBox="1"/>
          <p:nvPr/>
        </p:nvSpPr>
        <p:spPr>
          <a:xfrm>
            <a:off x="1518845" y="3477537"/>
            <a:ext cx="2687188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Generate with learned dynamics</a:t>
            </a:r>
          </a:p>
        </p:txBody>
      </p:sp>
      <p:sp>
        <p:nvSpPr>
          <p:cNvPr id="42" name="prior-label" descr="Editable text; source id prior-label"/>
          <p:cNvSpPr txBox="1"/>
          <p:nvPr/>
        </p:nvSpPr>
        <p:spPr>
          <a:xfrm>
            <a:off x="982782" y="4364103"/>
            <a:ext cx="1037763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Noise (prior)</a:t>
            </a:r>
          </a:p>
        </p:txBody>
      </p:sp>
      <p:sp>
        <p:nvSpPr>
          <p:cNvPr id="43" name="flow-source-target" descr="Editable text; source id flow-source-target"/>
          <p:cNvSpPr txBox="1"/>
          <p:nvPr/>
        </p:nvSpPr>
        <p:spPr>
          <a:xfrm>
            <a:off x="5223179" y="1017145"/>
            <a:ext cx="2212978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Source + target samples</a:t>
            </a:r>
          </a:p>
        </p:txBody>
      </p:sp>
      <p:sp>
        <p:nvSpPr>
          <p:cNvPr id="44" name="velocity-label" descr="Editable text; source id velocity-label"/>
          <p:cNvSpPr txBox="1"/>
          <p:nvPr/>
        </p:nvSpPr>
        <p:spPr>
          <a:xfrm>
            <a:off x="5539318" y="2261086"/>
            <a:ext cx="1862475" cy="24741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Fit velocity field</a:t>
            </a:r>
          </a:p>
        </p:txBody>
      </p:sp>
      <p:sp>
        <p:nvSpPr>
          <p:cNvPr id="45" name="flow-generate" descr="Editable text; source id flow-generate"/>
          <p:cNvSpPr txBox="1"/>
          <p:nvPr/>
        </p:nvSpPr>
        <p:spPr>
          <a:xfrm>
            <a:off x="5092599" y="3470665"/>
            <a:ext cx="2735296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Generate with learned dynamics</a:t>
            </a:r>
          </a:p>
        </p:txBody>
      </p:sp>
      <p:sp>
        <p:nvSpPr>
          <p:cNvPr id="46" name="value-target" descr="Editable text; source id value-target"/>
          <p:cNvSpPr txBox="1"/>
          <p:nvPr/>
        </p:nvSpPr>
        <p:spPr>
          <a:xfrm>
            <a:off x="9284888" y="1010272"/>
            <a:ext cx="1800622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Value-defined target</a:t>
            </a:r>
          </a:p>
        </p:txBody>
      </p:sp>
      <p:sp>
        <p:nvSpPr>
          <p:cNvPr id="47" name="score-label" descr="Editable text; source id score-label"/>
          <p:cNvSpPr txBox="1"/>
          <p:nvPr/>
        </p:nvSpPr>
        <p:spPr>
          <a:xfrm>
            <a:off x="8735079" y="1188960"/>
            <a:ext cx="687260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Scores</a:t>
            </a:r>
          </a:p>
        </p:txBody>
      </p:sp>
      <p:sp>
        <p:nvSpPr>
          <p:cNvPr id="48" name="no-target-samples" descr="Editable text; source id no-target-samples"/>
          <p:cNvSpPr txBox="1"/>
          <p:nvPr/>
        </p:nvSpPr>
        <p:spPr>
          <a:xfrm>
            <a:off x="8900022" y="2054908"/>
            <a:ext cx="2563481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31"/>
              </a:lnSpc>
              <a:spcBef>
                <a:spcPts val="0"/>
              </a:spcBef>
              <a:spcAft>
                <a:spcPts val="0"/>
              </a:spcAft>
              <a:def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44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No precomputed target samples</a:t>
            </a:r>
          </a:p>
        </p:txBody>
      </p:sp>
      <p:sp>
        <p:nvSpPr>
          <p:cNvPr id="49" name="adjoint-label" descr="Editable text; source id adjoint-label"/>
          <p:cNvSpPr txBox="1"/>
          <p:nvPr/>
        </p:nvSpPr>
        <p:spPr>
          <a:xfrm>
            <a:off x="9346741" y="2316067"/>
            <a:ext cx="1628807" cy="233668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Adjoint matching</a:t>
            </a:r>
          </a:p>
        </p:txBody>
      </p:sp>
      <p:sp>
        <p:nvSpPr>
          <p:cNvPr id="50" name="drift-label" descr="Editable text; source id drift-label"/>
          <p:cNvSpPr txBox="1"/>
          <p:nvPr/>
        </p:nvSpPr>
        <p:spPr>
          <a:xfrm>
            <a:off x="9332996" y="3216378"/>
            <a:ext cx="1938074" cy="219923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Fit conditional drift</a:t>
            </a:r>
          </a:p>
        </p:txBody>
      </p:sp>
      <p:sp>
        <p:nvSpPr>
          <p:cNvPr id="51" name="sample-no-score" descr="Editable text; source id sample-no-score"/>
          <p:cNvSpPr txBox="1"/>
          <p:nvPr/>
        </p:nvSpPr>
        <p:spPr>
          <a:xfrm>
            <a:off x="8934385" y="3553136"/>
            <a:ext cx="2652825" cy="254286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493"/>
              </a:lnSpc>
              <a:spcBef>
                <a:spcPts val="0"/>
              </a:spcBef>
              <a:spcAft>
                <a:spcPts val="0"/>
              </a:spcAft>
              <a:def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98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Sample without online scoring</a:t>
            </a:r>
          </a:p>
        </p:txBody>
      </p:sp>
      <p:sp>
        <p:nvSpPr>
          <p:cNvPr id="52" name="application-label" descr="Editable text; source id application-label"/>
          <p:cNvSpPr txBox="1"/>
          <p:nvPr/>
        </p:nvSpPr>
        <p:spPr>
          <a:xfrm>
            <a:off x="350502" y="4858931"/>
            <a:ext cx="1182087" cy="30239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866"/>
              </a:lnSpc>
              <a:spcBef>
                <a:spcPts val="0"/>
              </a:spcBef>
              <a:spcAft>
                <a:spcPts val="0"/>
              </a:spcAft>
              <a:defRPr sz="1623" b="0" i="0" lang="zh-CN" dirty="0">
                <a:solidFill>
                  <a:srgbClr val="536984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623" b="0" i="0" lang="zh-CN" dirty="0">
                <a:solidFill>
                  <a:srgbClr val="536984"/>
                </a:solidFill>
                <a:latin typeface="Liberation Serif"/>
                <a:ea typeface="Liberation Serif"/>
                <a:cs typeface="Liberation Serif"/>
              </a:rPr>
              <a:t>Application:</a:t>
            </a:r>
          </a:p>
        </p:txBody>
      </p:sp>
      <p:sp>
        <p:nvSpPr>
          <p:cNvPr id="53" name="application-scores" descr="Editable text; source id application-scores"/>
          <p:cNvSpPr txBox="1"/>
          <p:nvPr/>
        </p:nvSpPr>
        <p:spPr>
          <a:xfrm>
            <a:off x="1704405" y="5353758"/>
            <a:ext cx="1511972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Continuation scores</a:t>
            </a:r>
          </a:p>
        </p:txBody>
      </p:sp>
      <p:sp>
        <p:nvSpPr>
          <p:cNvPr id="54" name="application-surrogate" descr="Editable text; source id application-surrogate"/>
          <p:cNvSpPr txBox="1"/>
          <p:nvPr/>
        </p:nvSpPr>
        <p:spPr>
          <a:xfrm>
            <a:off x="4329740" y="5353758"/>
            <a:ext cx="1566953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Value surrogate</a:t>
            </a:r>
          </a:p>
        </p:txBody>
      </p:sp>
      <p:sp>
        <p:nvSpPr>
          <p:cNvPr id="55" name="application-proposer" descr="Editable text; source id application-proposer"/>
          <p:cNvSpPr txBox="1"/>
          <p:nvPr/>
        </p:nvSpPr>
        <p:spPr>
          <a:xfrm>
            <a:off x="7174998" y="5353758"/>
            <a:ext cx="1594444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ASBS proposer</a:t>
            </a:r>
          </a:p>
        </p:txBody>
      </p:sp>
      <p:sp>
        <p:nvSpPr>
          <p:cNvPr id="56" name="application-vla" descr="Editable text; source id application-vla"/>
          <p:cNvSpPr txBox="1"/>
          <p:nvPr/>
        </p:nvSpPr>
        <p:spPr>
          <a:xfrm>
            <a:off x="9752225" y="5353758"/>
            <a:ext cx="1305794" cy="268031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55"/>
              </a:lnSpc>
              <a:spcBef>
                <a:spcPts val="0"/>
              </a:spcBef>
              <a:spcAft>
                <a:spcPts val="0"/>
              </a:spcAft>
              <a:def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352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Frozen VLA</a:t>
            </a:r>
          </a:p>
        </p:txBody>
      </p:sp>
      <p:sp>
        <p:nvSpPr>
          <p:cNvPr id="57" name="qualification" descr="Editable text; source id qualification"/>
          <p:cNvSpPr txBox="1"/>
          <p:nvPr/>
        </p:nvSpPr>
        <p:spPr>
          <a:xfrm>
            <a:off x="3484410" y="5628662"/>
            <a:ext cx="6783260" cy="21305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ASBS is a diffusion sampler; energy-based diffusion and flow alternatives also exist.</a:t>
            </a:r>
          </a:p>
        </p:txBody>
      </p:sp>
      <p:sp>
        <p:nvSpPr>
          <p:cNvPr id="58" name="scope" descr="Editable text; source id scope"/>
          <p:cNvSpPr txBox="1"/>
          <p:nvPr/>
        </p:nvSpPr>
        <p:spPr>
          <a:xfrm>
            <a:off x="4295377" y="5834840"/>
            <a:ext cx="5037618" cy="199305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69"/>
              </a:lnSpc>
              <a:spcBef>
                <a:spcPts val="0"/>
              </a:spcBef>
              <a:spcAft>
                <a:spcPts val="0"/>
              </a:spcAft>
              <a:def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190" b="0" i="0" lang="zh-CN" dirty="0">
                <a:solidFill>
                  <a:srgbClr val="10274C"/>
                </a:solidFill>
                <a:latin typeface="Liberation Serif"/>
                <a:ea typeface="Liberation Serif"/>
                <a:cs typeface="Liberation Serif"/>
              </a:rPr>
              <a:t>Supervision comparison, not a measured performance ranking.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ASBS figure archive</cp:lastModifiedBy>
  <cp:revision>1</cp:revision>
  <dcterms:created xsi:type="dcterms:W3CDTF">2013-01-27T09:14:16Z</dcterms:created>
  <dcterms:modified xsi:type="dcterms:W3CDTF">2013-01-27T09:15:58Z</dcterms:modified>
  <cp:category/>
</cp:coreProperties>
</file>