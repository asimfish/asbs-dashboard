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07895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schematic, not measured results. All labels, action tokens, decoder and wires are native editable objects. Six text-free illustration crops retain robot and smooth transport artwork. No guarantee of safety or skill preservation. Candidate scores share observation and fixed continuation.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_a" descr="Editable text; source id heading_a"/>
          <p:cNvSpPr txBox="1"/>
          <p:nvPr/>
        </p:nvSpPr>
        <p:spPr>
          <a:xfrm>
            <a:off x="100449" y="31390"/>
            <a:ext cx="2730957" cy="2950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defRPr sz="1483" b="1" i="0" lang="zh-CN" dirty="0">
                <a:solidFill>
                  <a:srgbClr val="2333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83" b="1" i="0" lang="zh-CN" dirty="0">
                <a:solidFill>
                  <a:srgbClr val="23333C"/>
                </a:solidFill>
                <a:latin typeface="Liberation Sans"/>
                <a:ea typeface="Liberation Sans"/>
                <a:cs typeface="Liberation Sans"/>
              </a:rPr>
              <a:t>(a) Existing skill, new context</a:t>
            </a:r>
          </a:p>
        </p:txBody>
      </p:sp>
      <p:sp>
        <p:nvSpPr>
          <p:cNvPr id="3" name="heading_b" descr="Editable text; source id heading_b"/>
          <p:cNvSpPr txBox="1"/>
          <p:nvPr/>
        </p:nvSpPr>
        <p:spPr>
          <a:xfrm>
            <a:off x="3170422" y="31390"/>
            <a:ext cx="5443081" cy="2950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19"/>
              </a:lnSpc>
              <a:spcBef>
                <a:spcPts val="0"/>
              </a:spcBef>
              <a:spcAft>
                <a:spcPts val="0"/>
              </a:spcAft>
              <a:defRPr sz="1581" b="1" i="0" lang="zh-CN" dirty="0">
                <a:solidFill>
                  <a:srgbClr val="2333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81" b="1" i="0" lang="zh-CN" dirty="0">
                <a:solidFill>
                  <a:srgbClr val="23333C"/>
                </a:solidFill>
                <a:latin typeface="Liberation Sans"/>
                <a:ea typeface="Liberation Sans"/>
                <a:cs typeface="Liberation Sans"/>
              </a:rPr>
              <a:t>(b) ASBS: adapt the proposal law</a:t>
            </a:r>
          </a:p>
        </p:txBody>
      </p:sp>
      <p:sp>
        <p:nvSpPr>
          <p:cNvPr id="4" name="heading_c" descr="Editable text; source id heading_c"/>
          <p:cNvSpPr txBox="1"/>
          <p:nvPr/>
        </p:nvSpPr>
        <p:spPr>
          <a:xfrm>
            <a:off x="8996465" y="31390"/>
            <a:ext cx="3120197" cy="2950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defRPr sz="1483" b="1" i="0" lang="zh-CN" dirty="0">
                <a:solidFill>
                  <a:srgbClr val="2333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83" b="1" i="0" lang="zh-CN" dirty="0">
                <a:solidFill>
                  <a:srgbClr val="23333C"/>
                </a:solidFill>
                <a:latin typeface="Liberation Sans"/>
                <a:ea typeface="Liberation Sans"/>
                <a:cs typeface="Liberation Sans"/>
              </a:rPr>
              <a:t>(c) Decode, execute, observe</a:t>
            </a:r>
          </a:p>
        </p:txBody>
      </p:sp>
      <p:cxnSp>
        <p:nvCxnSpPr>
          <p:cNvPr id="5" name="divider_ab" descr="Editable line; source id divider_ab"/>
          <p:cNvCxnSpPr/>
          <p:nvPr/>
        </p:nvCxnSpPr>
        <p:spPr>
          <a:xfrm>
            <a:off x="2931855" y="62780"/>
            <a:ext cx="0" cy="4382089"/>
          </a:xfrm>
          <a:prstGeom prst="line">
            <a:avLst/>
          </a:prstGeom>
          <a:ln w="9417">
            <a:solidFill>
              <a:srgbClr val="C8CD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ivider_bc" descr="Editable line; source id divider_bc"/>
          <p:cNvCxnSpPr/>
          <p:nvPr/>
        </p:nvCxnSpPr>
        <p:spPr>
          <a:xfrm>
            <a:off x="8833235" y="62780"/>
            <a:ext cx="0" cy="4382089"/>
          </a:xfrm>
          <a:prstGeom prst="line">
            <a:avLst/>
          </a:prstGeom>
          <a:ln w="9417">
            <a:solidFill>
              <a:srgbClr val="C8CD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context" descr="Current observation, existing VLA and native action candidates. Robot artwork is raster; labels and chunks are editable."/>
          <p:cNvGrpSpPr/>
          <p:nvPr/>
        </p:nvGrpSpPr>
        <p:grpSpPr>
          <a:xfrm>
            <a:off x="100449" y="420630"/>
            <a:ext cx="2680732" cy="3835896"/>
            <a:chOff x="100449" y="420630"/>
            <a:chExt cx="2680732" cy="3835896"/>
          </a:xfrm>
        </p:grpSpPr>
        <p:pic>
          <p:nvPicPr>
            <p:cNvPr id="7" name="context_art" descr="Text-free artwork crop from generated v13 source; source bounds (16, 67, 442, 426).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49" y="420630"/>
              <a:ext cx="2674455" cy="2253824"/>
            </a:xfrm>
            <a:prstGeom prst="rect">
              <a:avLst/>
            </a:prstGeom>
            <a:effectLst/>
          </p:spPr>
        </p:pic>
        <p:sp>
          <p:nvSpPr>
            <p:cNvPr id="8" name="frozen_context" descr="Editable text; source id frozen_context"/>
            <p:cNvSpPr txBox="1"/>
            <p:nvPr/>
          </p:nvSpPr>
          <p:spPr>
            <a:xfrm>
              <a:off x="138117" y="2756069"/>
              <a:ext cx="2643064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78"/>
                </a:lnSpc>
                <a:spcBef>
                  <a:spcPts val="0"/>
                </a:spcBef>
                <a:spcAft>
                  <a:spcPts val="0"/>
                </a:spcAft>
                <a:defRPr sz="128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28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Frozen VLA + current observation</a:t>
              </a:r>
            </a:p>
          </p:txBody>
        </p:sp>
        <p:sp>
          <p:nvSpPr>
            <p:cNvPr id="9" name="native_a_0" descr="Editable shape; source id native_a_0"/>
            <p:cNvSpPr/>
            <p:nvPr/>
          </p:nvSpPr>
          <p:spPr>
            <a:xfrm>
              <a:off x="495967" y="3157866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native_a_1" descr="Editable shape; source id native_a_1"/>
            <p:cNvSpPr/>
            <p:nvPr/>
          </p:nvSpPr>
          <p:spPr>
            <a:xfrm>
              <a:off x="678030" y="3157866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native_a_2" descr="Editable shape; source id native_a_2"/>
            <p:cNvSpPr/>
            <p:nvPr/>
          </p:nvSpPr>
          <p:spPr>
            <a:xfrm>
              <a:off x="860094" y="3157866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native_a_3" descr="Editable shape; source id native_a_3"/>
            <p:cNvSpPr/>
            <p:nvPr/>
          </p:nvSpPr>
          <p:spPr>
            <a:xfrm>
              <a:off x="1042158" y="315786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ative_a_4" descr="Editable shape; source id native_a_4"/>
            <p:cNvSpPr/>
            <p:nvPr/>
          </p:nvSpPr>
          <p:spPr>
            <a:xfrm>
              <a:off x="1224222" y="315786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ative_a_5" descr="Editable shape; source id native_a_5"/>
            <p:cNvSpPr/>
            <p:nvPr/>
          </p:nvSpPr>
          <p:spPr>
            <a:xfrm>
              <a:off x="1406286" y="315786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ative_a_6" descr="Editable shape; source id native_a_6"/>
            <p:cNvSpPr/>
            <p:nvPr/>
          </p:nvSpPr>
          <p:spPr>
            <a:xfrm>
              <a:off x="1588350" y="315786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ative_a_7" descr="Editable shape; source id native_a_7"/>
            <p:cNvSpPr/>
            <p:nvPr/>
          </p:nvSpPr>
          <p:spPr>
            <a:xfrm>
              <a:off x="1770413" y="315786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ative_b_0" descr="Editable shape; source id native_b_0"/>
            <p:cNvSpPr/>
            <p:nvPr/>
          </p:nvSpPr>
          <p:spPr>
            <a:xfrm>
              <a:off x="495967" y="344665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ative_b_1" descr="Editable shape; source id native_b_1"/>
            <p:cNvSpPr/>
            <p:nvPr/>
          </p:nvSpPr>
          <p:spPr>
            <a:xfrm>
              <a:off x="678030" y="344665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native_b_2" descr="Editable shape; source id native_b_2"/>
            <p:cNvSpPr/>
            <p:nvPr/>
          </p:nvSpPr>
          <p:spPr>
            <a:xfrm>
              <a:off x="860094" y="3446656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ative_b_3" descr="Editable shape; source id native_b_3"/>
            <p:cNvSpPr/>
            <p:nvPr/>
          </p:nvSpPr>
          <p:spPr>
            <a:xfrm>
              <a:off x="1042158" y="3446656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ative_b_4" descr="Editable shape; source id native_b_4"/>
            <p:cNvSpPr/>
            <p:nvPr/>
          </p:nvSpPr>
          <p:spPr>
            <a:xfrm>
              <a:off x="1224222" y="3446656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ative_b_5" descr="Editable shape; source id native_b_5"/>
            <p:cNvSpPr/>
            <p:nvPr/>
          </p:nvSpPr>
          <p:spPr>
            <a:xfrm>
              <a:off x="1406286" y="344665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ative_b_6" descr="Editable shape; source id native_b_6"/>
            <p:cNvSpPr/>
            <p:nvPr/>
          </p:nvSpPr>
          <p:spPr>
            <a:xfrm>
              <a:off x="1588350" y="344665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ative_b_7" descr="Editable shape; source id native_b_7"/>
            <p:cNvSpPr/>
            <p:nvPr/>
          </p:nvSpPr>
          <p:spPr>
            <a:xfrm>
              <a:off x="1770413" y="3446656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ative_c_0" descr="Editable shape; source id native_c_0"/>
            <p:cNvSpPr/>
            <p:nvPr/>
          </p:nvSpPr>
          <p:spPr>
            <a:xfrm>
              <a:off x="495967" y="3735447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ative_c_1" descr="Editable shape; source id native_c_1"/>
            <p:cNvSpPr/>
            <p:nvPr/>
          </p:nvSpPr>
          <p:spPr>
            <a:xfrm>
              <a:off x="678030" y="3735447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ative_c_2" descr="Editable shape; source id native_c_2"/>
            <p:cNvSpPr/>
            <p:nvPr/>
          </p:nvSpPr>
          <p:spPr>
            <a:xfrm>
              <a:off x="860094" y="3735447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ative_c_3" descr="Editable shape; source id native_c_3"/>
            <p:cNvSpPr/>
            <p:nvPr/>
          </p:nvSpPr>
          <p:spPr>
            <a:xfrm>
              <a:off x="1042158" y="3735447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ative_c_4" descr="Editable shape; source id native_c_4"/>
            <p:cNvSpPr/>
            <p:nvPr/>
          </p:nvSpPr>
          <p:spPr>
            <a:xfrm>
              <a:off x="1224222" y="3735447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ative_c_5" descr="Editable shape; source id native_c_5"/>
            <p:cNvSpPr/>
            <p:nvPr/>
          </p:nvSpPr>
          <p:spPr>
            <a:xfrm>
              <a:off x="1406286" y="3735447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ative_c_6" descr="Editable shape; source id native_c_6"/>
            <p:cNvSpPr/>
            <p:nvPr/>
          </p:nvSpPr>
          <p:spPr>
            <a:xfrm>
              <a:off x="1588350" y="3735447"/>
              <a:ext cx="175785" cy="175785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ative_c_7" descr="Editable shape; source id native_c_7"/>
            <p:cNvSpPr/>
            <p:nvPr/>
          </p:nvSpPr>
          <p:spPr>
            <a:xfrm>
              <a:off x="1770413" y="3735447"/>
              <a:ext cx="175785" cy="175785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ative_caption" descr="Editable text; source id native_caption"/>
            <p:cNvSpPr txBox="1"/>
            <p:nvPr/>
          </p:nvSpPr>
          <p:spPr>
            <a:xfrm>
              <a:off x="156951" y="3992848"/>
              <a:ext cx="2523781" cy="263678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591"/>
                </a:lnSpc>
                <a:spcBef>
                  <a:spcPts val="0"/>
                </a:spcBef>
                <a:spcAft>
                  <a:spcPts val="0"/>
                </a:spcAft>
                <a:defRPr sz="138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38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Native action candidates</a:t>
              </a:r>
            </a:p>
          </p:txBody>
        </p:sp>
      </p:grpSp>
      <p:grpSp>
        <p:nvGrpSpPr>
          <p:cNvPr id="105" name="feedback" descr="Evidence scores share observation and fixed continuation; dot colors are illustrative, not measured values."/>
          <p:cNvGrpSpPr/>
          <p:nvPr/>
        </p:nvGrpSpPr>
        <p:grpSpPr>
          <a:xfrm>
            <a:off x="3170422" y="426908"/>
            <a:ext cx="5399134" cy="1086105"/>
            <a:chOff x="3170422" y="426908"/>
            <a:chExt cx="5399134" cy="1086105"/>
          </a:xfrm>
        </p:grpSpPr>
        <p:sp>
          <p:nvSpPr>
            <p:cNvPr id="34" name="evidence_band" descr="Editable shape; source id evidence_band"/>
            <p:cNvSpPr/>
            <p:nvPr/>
          </p:nvSpPr>
          <p:spPr>
            <a:xfrm>
              <a:off x="3170422" y="426908"/>
              <a:ext cx="5399134" cy="558747"/>
            </a:xfrm>
            <a:prstGeom prst="roundRect">
              <a:avLst>
                <a:gd name="adj" fmla="val 6741"/>
              </a:avLst>
            </a:prstGeom>
            <a:solidFill>
              <a:srgbClr val="F8FAFA"/>
            </a:solidFill>
            <a:ln w="7533">
              <a:solidFill>
                <a:srgbClr val="C8CD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evidence_0_0" descr="Editable shape; source id evidence_0_0"/>
            <p:cNvSpPr/>
            <p:nvPr/>
          </p:nvSpPr>
          <p:spPr>
            <a:xfrm>
              <a:off x="3346207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evidence_0_1" descr="Editable shape; source id evidence_0_1"/>
            <p:cNvSpPr/>
            <p:nvPr/>
          </p:nvSpPr>
          <p:spPr>
            <a:xfrm>
              <a:off x="3462352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evidence_0_2" descr="Editable shape; source id evidence_0_2"/>
            <p:cNvSpPr/>
            <p:nvPr/>
          </p:nvSpPr>
          <p:spPr>
            <a:xfrm>
              <a:off x="3578496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evidence_0_3" descr="Editable shape; source id evidence_0_3"/>
            <p:cNvSpPr/>
            <p:nvPr/>
          </p:nvSpPr>
          <p:spPr>
            <a:xfrm>
              <a:off x="3694640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evidence_0_4" descr="Editable shape; source id evidence_0_4"/>
            <p:cNvSpPr/>
            <p:nvPr/>
          </p:nvSpPr>
          <p:spPr>
            <a:xfrm>
              <a:off x="3810784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evidence_0_5" descr="Editable shape; source id evidence_0_5"/>
            <p:cNvSpPr/>
            <p:nvPr/>
          </p:nvSpPr>
          <p:spPr>
            <a:xfrm>
              <a:off x="3926928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evidence_0_6" descr="Editable shape; source id evidence_0_6"/>
            <p:cNvSpPr/>
            <p:nvPr/>
          </p:nvSpPr>
          <p:spPr>
            <a:xfrm>
              <a:off x="4043073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evidence_0_7" descr="Editable shape; source id evidence_0_7"/>
            <p:cNvSpPr/>
            <p:nvPr/>
          </p:nvSpPr>
          <p:spPr>
            <a:xfrm>
              <a:off x="4159217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eedback_dot_0" descr="Editable shape; source id feedback_dot_0"/>
            <p:cNvSpPr/>
            <p:nvPr/>
          </p:nvSpPr>
          <p:spPr>
            <a:xfrm>
              <a:off x="4338142" y="646640"/>
              <a:ext cx="144395" cy="144395"/>
            </a:xfrm>
            <a:prstGeom prst="ellipse">
              <a:avLst/>
            </a:prstGeom>
            <a:solidFill>
              <a:srgbClr val="A6AF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evidence_rule_0" descr="Editable line; source id evidence_rule_0"/>
            <p:cNvCxnSpPr/>
            <p:nvPr/>
          </p:nvCxnSpPr>
          <p:spPr>
            <a:xfrm>
              <a:off x="4614376" y="558747"/>
              <a:ext cx="0" cy="301347"/>
            </a:xfrm>
            <a:prstGeom prst="line">
              <a:avLst/>
            </a:prstGeom>
            <a:ln w="6278">
              <a:solidFill>
                <a:srgbClr val="C8CDD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evidence_1_0" descr="Editable shape; source id evidence_1_0"/>
            <p:cNvSpPr/>
            <p:nvPr/>
          </p:nvSpPr>
          <p:spPr>
            <a:xfrm>
              <a:off x="4808996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evidence_1_1" descr="Editable shape; source id evidence_1_1"/>
            <p:cNvSpPr/>
            <p:nvPr/>
          </p:nvSpPr>
          <p:spPr>
            <a:xfrm>
              <a:off x="4925140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evidence_1_2" descr="Editable shape; source id evidence_1_2"/>
            <p:cNvSpPr/>
            <p:nvPr/>
          </p:nvSpPr>
          <p:spPr>
            <a:xfrm>
              <a:off x="5041285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evidence_1_3" descr="Editable shape; source id evidence_1_3"/>
            <p:cNvSpPr/>
            <p:nvPr/>
          </p:nvSpPr>
          <p:spPr>
            <a:xfrm>
              <a:off x="5157429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evidence_1_4" descr="Editable shape; source id evidence_1_4"/>
            <p:cNvSpPr/>
            <p:nvPr/>
          </p:nvSpPr>
          <p:spPr>
            <a:xfrm>
              <a:off x="5273573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evidence_1_5" descr="Editable shape; source id evidence_1_5"/>
            <p:cNvSpPr/>
            <p:nvPr/>
          </p:nvSpPr>
          <p:spPr>
            <a:xfrm>
              <a:off x="5389717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evidence_1_6" descr="Editable shape; source id evidence_1_6"/>
            <p:cNvSpPr/>
            <p:nvPr/>
          </p:nvSpPr>
          <p:spPr>
            <a:xfrm>
              <a:off x="5505861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evidence_1_7" descr="Editable shape; source id evidence_1_7"/>
            <p:cNvSpPr/>
            <p:nvPr/>
          </p:nvSpPr>
          <p:spPr>
            <a:xfrm>
              <a:off x="5622006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eedback_dot_1" descr="Editable shape; source id feedback_dot_1"/>
            <p:cNvSpPr/>
            <p:nvPr/>
          </p:nvSpPr>
          <p:spPr>
            <a:xfrm>
              <a:off x="5800930" y="646640"/>
              <a:ext cx="144395" cy="144395"/>
            </a:xfrm>
            <a:prstGeom prst="ellipse">
              <a:avLst/>
            </a:prstGeom>
            <a:solidFill>
              <a:srgbClr val="D77C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evidence_rule_1" descr="Editable line; source id evidence_rule_1"/>
            <p:cNvCxnSpPr/>
            <p:nvPr/>
          </p:nvCxnSpPr>
          <p:spPr>
            <a:xfrm>
              <a:off x="6089721" y="558747"/>
              <a:ext cx="0" cy="301347"/>
            </a:xfrm>
            <a:prstGeom prst="line">
              <a:avLst/>
            </a:prstGeom>
            <a:ln w="6278">
              <a:solidFill>
                <a:srgbClr val="C8CDD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evidence_2_0" descr="Editable shape; source id evidence_2_0"/>
            <p:cNvSpPr/>
            <p:nvPr/>
          </p:nvSpPr>
          <p:spPr>
            <a:xfrm>
              <a:off x="6271785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evidence_2_1" descr="Editable shape; source id evidence_2_1"/>
            <p:cNvSpPr/>
            <p:nvPr/>
          </p:nvSpPr>
          <p:spPr>
            <a:xfrm>
              <a:off x="6387929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evidence_2_2" descr="Editable shape; source id evidence_2_2"/>
            <p:cNvSpPr/>
            <p:nvPr/>
          </p:nvSpPr>
          <p:spPr>
            <a:xfrm>
              <a:off x="6504073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evidence_2_3" descr="Editable shape; source id evidence_2_3"/>
            <p:cNvSpPr/>
            <p:nvPr/>
          </p:nvSpPr>
          <p:spPr>
            <a:xfrm>
              <a:off x="6620218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evidence_2_4" descr="Editable shape; source id evidence_2_4"/>
            <p:cNvSpPr/>
            <p:nvPr/>
          </p:nvSpPr>
          <p:spPr>
            <a:xfrm>
              <a:off x="6736362" y="646640"/>
              <a:ext cx="109866" cy="150673"/>
            </a:xfrm>
            <a:prstGeom prst="rect">
              <a:avLst/>
            </a:prstGeom>
            <a:solidFill>
              <a:srgbClr val="388D91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evidence_2_5" descr="Editable shape; source id evidence_2_5"/>
            <p:cNvSpPr/>
            <p:nvPr/>
          </p:nvSpPr>
          <p:spPr>
            <a:xfrm>
              <a:off x="6852506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evidence_2_6" descr="Editable shape; source id evidence_2_6"/>
            <p:cNvSpPr/>
            <p:nvPr/>
          </p:nvSpPr>
          <p:spPr>
            <a:xfrm>
              <a:off x="6968650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evidence_2_7" descr="Editable shape; source id evidence_2_7"/>
            <p:cNvSpPr/>
            <p:nvPr/>
          </p:nvSpPr>
          <p:spPr>
            <a:xfrm>
              <a:off x="7084794" y="646640"/>
              <a:ext cx="109866" cy="150673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eedback_dot_2" descr="Editable shape; source id feedback_dot_2"/>
            <p:cNvSpPr/>
            <p:nvPr/>
          </p:nvSpPr>
          <p:spPr>
            <a:xfrm>
              <a:off x="7263719" y="646640"/>
              <a:ext cx="144395" cy="144395"/>
            </a:xfrm>
            <a:prstGeom prst="ellipse">
              <a:avLst/>
            </a:prstGeom>
            <a:solidFill>
              <a:srgbClr val="388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evidence_label" descr="Editable text; source id evidence_label"/>
            <p:cNvSpPr txBox="1"/>
            <p:nvPr/>
          </p:nvSpPr>
          <p:spPr>
            <a:xfrm>
              <a:off x="7452061" y="502245"/>
              <a:ext cx="1104939" cy="408074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534"/>
                </a:lnSpc>
                <a:spcBef>
                  <a:spcPts val="0"/>
                </a:spcBef>
                <a:spcAft>
                  <a:spcPts val="0"/>
                </a:spcAft>
                <a:defRPr sz="133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33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Consequence</a:t>
              </a:r>
            </a:p>
            <a:p>
              <a:pPr algn="l" fontAlgn="base">
                <a:lnSpc>
                  <a:spcPts val="1534"/>
                </a:lnSpc>
                <a:spcBef>
                  <a:spcPts val="0"/>
                </a:spcBef>
                <a:spcAft>
                  <a:spcPts val="0"/>
                </a:spcAft>
                <a:defRPr sz="133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33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feedback</a:t>
              </a:r>
            </a:p>
          </p:txBody>
        </p:sp>
        <p:sp>
          <p:nvSpPr>
            <p:cNvPr id="65" name="same_continuation" descr="Editable text; source id same_continuation"/>
            <p:cNvSpPr txBox="1"/>
            <p:nvPr/>
          </p:nvSpPr>
          <p:spPr>
            <a:xfrm>
              <a:off x="3879843" y="1004490"/>
              <a:ext cx="3992848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534"/>
                </a:lnSpc>
                <a:spcBef>
                  <a:spcPts val="0"/>
                </a:spcBef>
                <a:spcAft>
                  <a:spcPts val="0"/>
                </a:spcAft>
                <a:defRPr sz="133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334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Same observation · fixed continuation</a:t>
              </a:r>
            </a:p>
          </p:txBody>
        </p:sp>
        <p:cxnSp>
          <p:nvCxnSpPr>
            <p:cNvPr id="66" name="feedback_down" descr="Editable line; source id feedback_down"/>
            <p:cNvCxnSpPr/>
            <p:nvPr/>
          </p:nvCxnSpPr>
          <p:spPr>
            <a:xfrm>
              <a:off x="5869989" y="1287003"/>
              <a:ext cx="0" cy="226010"/>
            </a:xfrm>
            <a:prstGeom prst="line">
              <a:avLst/>
            </a:prstGeom>
            <a:ln w="15695">
              <a:solidFill>
                <a:srgbClr val="D77C58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transport" descr="Illustrative ASBS transport; smooth density and path artwork is raster. Labels and arrow remain editable."/>
          <p:cNvGrpSpPr/>
          <p:nvPr/>
        </p:nvGrpSpPr>
        <p:grpSpPr>
          <a:xfrm>
            <a:off x="3088807" y="1569515"/>
            <a:ext cx="5625145" cy="2693289"/>
            <a:chOff x="3088807" y="1569515"/>
            <a:chExt cx="5625145" cy="2693289"/>
          </a:xfrm>
        </p:grpSpPr>
        <p:sp>
          <p:nvSpPr>
            <p:cNvPr id="67" name="transport_label" descr="Editable text; source id transport_label"/>
            <p:cNvSpPr txBox="1"/>
            <p:nvPr/>
          </p:nvSpPr>
          <p:spPr>
            <a:xfrm>
              <a:off x="4319307" y="1575793"/>
              <a:ext cx="3421544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  <a:def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Feedback-conditioned transport</a:t>
              </a:r>
            </a:p>
          </p:txBody>
        </p:sp>
        <p:pic>
          <p:nvPicPr>
            <p:cNvPr id="68" name="native_density" descr="Text-free artwork crop from generated v13 source; source bounds (516, 250, 655, 579)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9480" y="1569515"/>
              <a:ext cx="872650" cy="2065482"/>
            </a:xfrm>
            <a:prstGeom prst="rect">
              <a:avLst/>
            </a:prstGeom>
            <a:effectLst/>
          </p:spPr>
        </p:pic>
        <p:pic>
          <p:nvPicPr>
            <p:cNvPr id="69" name="transport_paths" descr="Text-free artwork crop from generated v13 source; source bounds (655, 294, 1276, 566).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2131" y="1845750"/>
              <a:ext cx="3898677" cy="1707633"/>
            </a:xfrm>
            <a:prstGeom prst="rect">
              <a:avLst/>
            </a:prstGeom>
            <a:effectLst/>
          </p:spPr>
        </p:pic>
        <p:pic>
          <p:nvPicPr>
            <p:cNvPr id="70" name="adapted_density" descr="Text-free artwork crop from generated v13 source; source bounds (1276, 250, 1363, 579)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0809" y="1569515"/>
              <a:ext cx="546191" cy="2065482"/>
            </a:xfrm>
            <a:prstGeom prst="rect">
              <a:avLst/>
            </a:prstGeom>
            <a:effectLst/>
          </p:spPr>
        </p:pic>
        <p:sp>
          <p:nvSpPr>
            <p:cNvPr id="71" name="native_noise" descr="Editable text; source id native_noise"/>
            <p:cNvSpPr txBox="1"/>
            <p:nvPr/>
          </p:nvSpPr>
          <p:spPr>
            <a:xfrm>
              <a:off x="3088807" y="3666389"/>
              <a:ext cx="1387452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  <a:def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Native noise</a:t>
              </a:r>
            </a:p>
          </p:txBody>
        </p:sp>
        <p:sp>
          <p:nvSpPr>
            <p:cNvPr id="72" name="adapted_noise" descr="Editable text; source id adapted_noise"/>
            <p:cNvSpPr txBox="1"/>
            <p:nvPr/>
          </p:nvSpPr>
          <p:spPr>
            <a:xfrm>
              <a:off x="7332778" y="3666389"/>
              <a:ext cx="1381174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  <a:def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Adapted noise</a:t>
              </a:r>
            </a:p>
          </p:txBody>
        </p:sp>
        <p:cxnSp>
          <p:nvCxnSpPr>
            <p:cNvPr id="73" name="transport_direction" descr="Editable line; source id transport_direction"/>
            <p:cNvCxnSpPr/>
            <p:nvPr/>
          </p:nvCxnSpPr>
          <p:spPr>
            <a:xfrm>
              <a:off x="4884333" y="3766838"/>
              <a:ext cx="1958756" cy="0"/>
            </a:xfrm>
            <a:prstGeom prst="line">
              <a:avLst/>
            </a:prstGeom>
            <a:ln w="9417">
              <a:solidFill>
                <a:srgbClr val="23333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main_takeaway" descr="Editable text; source id main_takeaway"/>
            <p:cNvSpPr txBox="1"/>
            <p:nvPr/>
          </p:nvSpPr>
          <p:spPr>
            <a:xfrm>
              <a:off x="3892399" y="3999126"/>
              <a:ext cx="4275361" cy="263678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  <a:def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Change the sampler, not the backbone</a:t>
              </a:r>
            </a:p>
          </p:txBody>
        </p:sp>
      </p:grpSp>
      <p:grpSp>
        <p:nvGrpSpPr>
          <p:cNvPr id="107" name="execution" descr="The adapted noise is decoded by the same frozen VLA before prefix execution. Robot illustration is raster."/>
          <p:cNvGrpSpPr/>
          <p:nvPr/>
        </p:nvGrpSpPr>
        <p:grpSpPr>
          <a:xfrm>
            <a:off x="8908572" y="495967"/>
            <a:ext cx="3277149" cy="3861008"/>
            <a:chOff x="8908572" y="495967"/>
            <a:chExt cx="3277149" cy="3861008"/>
          </a:xfrm>
        </p:grpSpPr>
        <p:pic>
          <p:nvPicPr>
            <p:cNvPr id="75" name="adapted_noise_icon" descr="Text-free artwork crop from generated v13 source; source bounds (1427, 79, 1518, 293)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8796" y="495967"/>
              <a:ext cx="571303" cy="1343505"/>
            </a:xfrm>
            <a:prstGeom prst="rect">
              <a:avLst/>
            </a:prstGeom>
            <a:effectLst/>
          </p:spPr>
        </p:pic>
        <p:sp>
          <p:nvSpPr>
            <p:cNvPr id="76" name="decoder_noise_caption" descr="Editable text; source id decoder_noise_caption"/>
            <p:cNvSpPr txBox="1"/>
            <p:nvPr/>
          </p:nvSpPr>
          <p:spPr>
            <a:xfrm>
              <a:off x="8908572" y="1877141"/>
              <a:ext cx="1079826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21"/>
                </a:lnSpc>
                <a:spcBef>
                  <a:spcPts val="0"/>
                </a:spcBef>
                <a:spcAft>
                  <a:spcPts val="0"/>
                </a:spcAft>
                <a:defRPr sz="123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23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Adapted noise</a:t>
              </a:r>
            </a:p>
          </p:txBody>
        </p:sp>
        <p:cxnSp>
          <p:nvCxnSpPr>
            <p:cNvPr id="77" name="noise_to_decoder" descr="Editable line; source id noise_to_decoder"/>
            <p:cNvCxnSpPr/>
            <p:nvPr/>
          </p:nvCxnSpPr>
          <p:spPr>
            <a:xfrm>
              <a:off x="9680774" y="1035880"/>
              <a:ext cx="376684" cy="0"/>
            </a:xfrm>
            <a:prstGeom prst="line">
              <a:avLst/>
            </a:prstGeom>
            <a:ln w="12556">
              <a:solidFill>
                <a:srgbClr val="23333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decoder_box" descr="Editable shape; source id decoder_box"/>
            <p:cNvSpPr/>
            <p:nvPr/>
          </p:nvSpPr>
          <p:spPr>
            <a:xfrm>
              <a:off x="10151628" y="822426"/>
              <a:ext cx="1393730" cy="433186"/>
            </a:xfrm>
            <a:prstGeom prst="roundRect">
              <a:avLst>
                <a:gd name="adj" fmla="val 10144"/>
              </a:avLst>
            </a:prstGeom>
            <a:solidFill>
              <a:srgbClr val="E5F2F1"/>
            </a:solidFill>
            <a:ln w="9417">
              <a:solidFill>
                <a:srgbClr val="388D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ecoder_label" descr="Editable text; source id decoder_label"/>
            <p:cNvSpPr txBox="1"/>
            <p:nvPr/>
          </p:nvSpPr>
          <p:spPr>
            <a:xfrm>
              <a:off x="10189297" y="897763"/>
              <a:ext cx="1318393" cy="28251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21"/>
                </a:lnSpc>
                <a:spcBef>
                  <a:spcPts val="0"/>
                </a:spcBef>
                <a:spcAft>
                  <a:spcPts val="0"/>
                </a:spcAft>
                <a:defRPr sz="123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23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Same frozen VLA</a:t>
              </a:r>
            </a:p>
          </p:txBody>
        </p:sp>
        <p:cxnSp>
          <p:nvCxnSpPr>
            <p:cNvPr id="80" name="decoder_to_chunk" descr="Editable line; source id decoder_to_chunk"/>
            <p:cNvCxnSpPr/>
            <p:nvPr/>
          </p:nvCxnSpPr>
          <p:spPr>
            <a:xfrm>
              <a:off x="10835937" y="1337227"/>
              <a:ext cx="0" cy="200898"/>
            </a:xfrm>
            <a:prstGeom prst="line">
              <a:avLst/>
            </a:prstGeom>
            <a:ln w="12556">
              <a:solidFill>
                <a:srgbClr val="23333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ction_chunk_0" descr="Editable shape; source id action_chunk_0"/>
            <p:cNvSpPr/>
            <p:nvPr/>
          </p:nvSpPr>
          <p:spPr>
            <a:xfrm>
              <a:off x="10113960" y="1676243"/>
              <a:ext cx="150673" cy="188341"/>
            </a:xfrm>
            <a:prstGeom prst="rect">
              <a:avLst/>
            </a:prstGeom>
            <a:solidFill>
              <a:srgbClr val="D77C58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action_chunk_1" descr="Editable shape; source id action_chunk_1"/>
            <p:cNvSpPr/>
            <p:nvPr/>
          </p:nvSpPr>
          <p:spPr>
            <a:xfrm>
              <a:off x="10270912" y="1676243"/>
              <a:ext cx="150673" cy="188341"/>
            </a:xfrm>
            <a:prstGeom prst="rect">
              <a:avLst/>
            </a:prstGeom>
            <a:solidFill>
              <a:srgbClr val="D77C58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ction_chunk_2" descr="Editable shape; source id action_chunk_2"/>
            <p:cNvSpPr/>
            <p:nvPr/>
          </p:nvSpPr>
          <p:spPr>
            <a:xfrm>
              <a:off x="10427863" y="1676243"/>
              <a:ext cx="150673" cy="188341"/>
            </a:xfrm>
            <a:prstGeom prst="rect">
              <a:avLst/>
            </a:prstGeom>
            <a:solidFill>
              <a:srgbClr val="D77C58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action_chunk_3" descr="Editable shape; source id action_chunk_3"/>
            <p:cNvSpPr/>
            <p:nvPr/>
          </p:nvSpPr>
          <p:spPr>
            <a:xfrm>
              <a:off x="10584815" y="1676243"/>
              <a:ext cx="150673" cy="188341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action_chunk_4" descr="Editable shape; source id action_chunk_4"/>
            <p:cNvSpPr/>
            <p:nvPr/>
          </p:nvSpPr>
          <p:spPr>
            <a:xfrm>
              <a:off x="10741766" y="1676243"/>
              <a:ext cx="150673" cy="188341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action_chunk_5" descr="Editable shape; source id action_chunk_5"/>
            <p:cNvSpPr/>
            <p:nvPr/>
          </p:nvSpPr>
          <p:spPr>
            <a:xfrm>
              <a:off x="10898718" y="1676243"/>
              <a:ext cx="150673" cy="188341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action_chunk_6" descr="Editable shape; source id action_chunk_6"/>
            <p:cNvSpPr/>
            <p:nvPr/>
          </p:nvSpPr>
          <p:spPr>
            <a:xfrm>
              <a:off x="11055670" y="1676243"/>
              <a:ext cx="150673" cy="188341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action_chunk_7" descr="Editable shape; source id action_chunk_7"/>
            <p:cNvSpPr/>
            <p:nvPr/>
          </p:nvSpPr>
          <p:spPr>
            <a:xfrm>
              <a:off x="11212621" y="1676243"/>
              <a:ext cx="150673" cy="188341"/>
            </a:xfrm>
            <a:prstGeom prst="rect">
              <a:avLst/>
            </a:prstGeom>
            <a:solidFill>
              <a:srgbClr val="E8EBED"/>
            </a:solidFill>
            <a:ln w="4080">
              <a:solidFill>
                <a:srgbClr val="233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action_label" descr="Editable text; source id action_label"/>
            <p:cNvSpPr txBox="1"/>
            <p:nvPr/>
          </p:nvSpPr>
          <p:spPr>
            <a:xfrm>
              <a:off x="11382129" y="1644852"/>
              <a:ext cx="803592" cy="251122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  <a:defRPr sz="1087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087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Action chunk</a:t>
              </a:r>
            </a:p>
          </p:txBody>
        </p:sp>
        <p:cxnSp>
          <p:nvCxnSpPr>
            <p:cNvPr id="90" name="prefix_bracket_h" descr="Editable line; source id prefix_bracket_h"/>
            <p:cNvCxnSpPr/>
            <p:nvPr/>
          </p:nvCxnSpPr>
          <p:spPr>
            <a:xfrm>
              <a:off x="10120238" y="1946199"/>
              <a:ext cx="458299" cy="0"/>
            </a:xfrm>
            <a:prstGeom prst="line">
              <a:avLst/>
            </a:prstGeom>
            <a:ln w="9417">
              <a:solidFill>
                <a:srgbClr val="23333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prefix_bracket_l" descr="Editable line; source id prefix_bracket_l"/>
            <p:cNvCxnSpPr/>
            <p:nvPr/>
          </p:nvCxnSpPr>
          <p:spPr>
            <a:xfrm flipV="1">
              <a:off x="10120238" y="1902253"/>
              <a:ext cx="0" cy="43946"/>
            </a:xfrm>
            <a:prstGeom prst="line">
              <a:avLst/>
            </a:prstGeom>
            <a:ln w="9417">
              <a:solidFill>
                <a:srgbClr val="23333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prefix_bracket_r" descr="Editable line; source id prefix_bracket_r"/>
            <p:cNvCxnSpPr/>
            <p:nvPr/>
          </p:nvCxnSpPr>
          <p:spPr>
            <a:xfrm flipV="1">
              <a:off x="10578537" y="1902253"/>
              <a:ext cx="0" cy="43946"/>
            </a:xfrm>
            <a:prstGeom prst="line">
              <a:avLst/>
            </a:prstGeom>
            <a:ln w="9417">
              <a:solidFill>
                <a:srgbClr val="23333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prefix_caption" descr="Editable text; source id prefix_caption"/>
            <p:cNvSpPr txBox="1"/>
            <p:nvPr/>
          </p:nvSpPr>
          <p:spPr>
            <a:xfrm>
              <a:off x="9844003" y="2002702"/>
              <a:ext cx="1305837" cy="263678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78"/>
                </a:lnSpc>
                <a:spcBef>
                  <a:spcPts val="0"/>
                </a:spcBef>
                <a:spcAft>
                  <a:spcPts val="0"/>
                </a:spcAft>
                <a:defRPr sz="128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285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Execute prefix</a:t>
              </a:r>
            </a:p>
          </p:txBody>
        </p:sp>
        <p:cxnSp>
          <p:nvCxnSpPr>
            <p:cNvPr id="94" name="execute_down" descr="Editable line; source id execute_down"/>
            <p:cNvCxnSpPr/>
            <p:nvPr/>
          </p:nvCxnSpPr>
          <p:spPr>
            <a:xfrm>
              <a:off x="10835937" y="2316605"/>
              <a:ext cx="0" cy="238566"/>
            </a:xfrm>
            <a:prstGeom prst="line">
              <a:avLst/>
            </a:prstGeom>
            <a:ln w="12556">
              <a:solidFill>
                <a:srgbClr val="23333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execution_art" descr="Text-free artwork crop from generated v13 source; source bounds (1589, 420, 1899, 646).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75843" y="2636786"/>
              <a:ext cx="1946199" cy="1418842"/>
            </a:xfrm>
            <a:prstGeom prst="rect">
              <a:avLst/>
            </a:prstGeom>
            <a:effectLst/>
          </p:spPr>
        </p:pic>
        <p:sp>
          <p:nvSpPr>
            <p:cNvPr id="96" name="observe_label" descr="Editable text; source id observe_label"/>
            <p:cNvSpPr txBox="1"/>
            <p:nvPr/>
          </p:nvSpPr>
          <p:spPr>
            <a:xfrm>
              <a:off x="9944452" y="4087019"/>
              <a:ext cx="1946199" cy="269956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48"/>
                </a:lnSpc>
                <a:spcBef>
                  <a:spcPts val="0"/>
                </a:spcBef>
                <a:spcAft>
                  <a:spcPts val="0"/>
                </a:spcAft>
                <a:def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433" b="0" i="0" lang="zh-CN" dirty="0">
                  <a:solidFill>
                    <a:srgbClr val="23333C"/>
                  </a:solidFill>
                  <a:latin typeface="Liberation Sans"/>
                  <a:ea typeface="Liberation Sans"/>
                  <a:cs typeface="Liberation Sans"/>
                </a:rPr>
                <a:t>Re-observe</a:t>
              </a:r>
            </a:p>
          </p:txBody>
        </p:sp>
      </p:grpSp>
      <p:cxnSp>
        <p:nvCxnSpPr>
          <p:cNvPr id="97" name="candidates_out" descr="Editable line; source id candidates_out"/>
          <p:cNvCxnSpPr/>
          <p:nvPr/>
        </p:nvCxnSpPr>
        <p:spPr>
          <a:xfrm>
            <a:off x="2103151" y="3540827"/>
            <a:ext cx="734533" cy="0"/>
          </a:xfrm>
          <a:prstGeom prst="line">
            <a:avLst/>
          </a:prstGeom>
          <a:ln w="12556">
            <a:solidFill>
              <a:srgbClr val="7B85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andidate_wire_up" descr="Editable line; source id candidate_wire_up"/>
          <p:cNvCxnSpPr/>
          <p:nvPr/>
        </p:nvCxnSpPr>
        <p:spPr>
          <a:xfrm flipV="1">
            <a:off x="2837684" y="696865"/>
            <a:ext cx="0" cy="2843962"/>
          </a:xfrm>
          <a:prstGeom prst="line">
            <a:avLst/>
          </a:prstGeom>
          <a:ln w="12556">
            <a:solidFill>
              <a:srgbClr val="7B85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andidates_to_feedback" descr="Editable line; source id candidates_to_feedback"/>
          <p:cNvCxnSpPr/>
          <p:nvPr/>
        </p:nvCxnSpPr>
        <p:spPr>
          <a:xfrm>
            <a:off x="2837684" y="696865"/>
            <a:ext cx="288791" cy="0"/>
          </a:xfrm>
          <a:prstGeom prst="line">
            <a:avLst/>
          </a:prstGeom>
          <a:ln w="12556">
            <a:solidFill>
              <a:srgbClr val="7B85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feedback_loop_down" descr="Editable line; source id feedback_loop_down"/>
          <p:cNvCxnSpPr/>
          <p:nvPr/>
        </p:nvCxnSpPr>
        <p:spPr>
          <a:xfrm>
            <a:off x="10892440" y="4413478"/>
            <a:ext cx="0" cy="320182"/>
          </a:xfrm>
          <a:prstGeom prst="line">
            <a:avLst/>
          </a:prstGeom>
          <a:ln w="12556">
            <a:solidFill>
              <a:srgbClr val="9AA2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feedback_loop_back" descr="Editable line; source id feedback_loop_back"/>
          <p:cNvCxnSpPr/>
          <p:nvPr/>
        </p:nvCxnSpPr>
        <p:spPr>
          <a:xfrm flipH="1">
            <a:off x="1180275" y="4733660"/>
            <a:ext cx="9712165" cy="0"/>
          </a:xfrm>
          <a:prstGeom prst="line">
            <a:avLst/>
          </a:prstGeom>
          <a:ln w="12556">
            <a:solidFill>
              <a:srgbClr val="9AA2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feedback_loop_up" descr="Editable line; source id feedback_loop_up"/>
          <p:cNvCxnSpPr/>
          <p:nvPr/>
        </p:nvCxnSpPr>
        <p:spPr>
          <a:xfrm flipV="1">
            <a:off x="1180275" y="4369532"/>
            <a:ext cx="0" cy="364128"/>
          </a:xfrm>
          <a:prstGeom prst="line">
            <a:avLst/>
          </a:prstGeom>
          <a:ln w="12556">
            <a:solidFill>
              <a:srgbClr val="9AA2A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oop_caption" descr="Editable text; source id loop_caption"/>
          <p:cNvSpPr txBox="1"/>
          <p:nvPr/>
        </p:nvSpPr>
        <p:spPr>
          <a:xfrm>
            <a:off x="4124687" y="4796440"/>
            <a:ext cx="3892399" cy="257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4"/>
              </a:lnSpc>
              <a:spcBef>
                <a:spcPts val="0"/>
              </a:spcBef>
              <a:spcAft>
                <a:spcPts val="0"/>
              </a:spcAft>
              <a:defRPr sz="1334" b="0" i="0" lang="zh-CN" dirty="0">
                <a:solidFill>
                  <a:srgbClr val="5363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34" b="0" i="0" lang="zh-CN" dirty="0">
                <a:solidFill>
                  <a:srgbClr val="53636D"/>
                </a:solidFill>
                <a:latin typeface="Liberation Sans"/>
                <a:ea typeface="Liberation Sans"/>
                <a:cs typeface="Liberation Sans"/>
              </a:rPr>
              <a:t>Re-observe and update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