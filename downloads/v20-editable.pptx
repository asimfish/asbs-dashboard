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999" cy="6095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v20 source-faithful reconstruction. Text and simple geometry are editable. Complex artwork and marked formula assets remain independently movable images. Connectors have fixed endpoints. Generated robot illustrations are conceptual, not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v20 source-faithful reconstruction. Text and simple geometry are editable. Complex artwork and marked formula assets remain independently movable images. Connectors have fixed endpoints. Generated robot illustrations are conceptual, not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v20 source-faithful reconstruction. Text and simple geometry are editable. Complex artwork and marked formula assets remain independently movable images. Connectors have fixed endpoints. Generated robot illustrations are conceptual, not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Relationship Id="rId12" Type="http://schemas.openxmlformats.org/officeDocument/2006/relationships/image" Target="../media/image16.png"/><Relationship Id="rId13" Type="http://schemas.openxmlformats.org/officeDocument/2006/relationships/image" Target="../media/image17.png"/><Relationship Id="rId14" Type="http://schemas.openxmlformats.org/officeDocument/2006/relationships/image" Target="../media/image18.png"/><Relationship Id="rId15" Type="http://schemas.openxmlformats.org/officeDocument/2006/relationships/image" Target="../media/image19.png"/><Relationship Id="rId16" Type="http://schemas.openxmlformats.org/officeDocument/2006/relationships/image" Target="../media/image20.png"/><Relationship Id="rId17" Type="http://schemas.openxmlformats.org/officeDocument/2006/relationships/image" Target="../media/image21.png"/><Relationship Id="rId18" Type="http://schemas.openxmlformats.org/officeDocument/2006/relationships/image" Target="../media/image22.png"/><Relationship Id="rId19" Type="http://schemas.openxmlformats.org/officeDocument/2006/relationships/image" Target="../media/image23.png"/><Relationship Id="rId20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oposal-0-frame" descr="Editable shape; source id proposal-0-frame"/>
          <p:cNvSpPr/>
          <p:nvPr/>
        </p:nvSpPr>
        <p:spPr>
          <a:xfrm>
            <a:off x="2109889" y="1133979"/>
            <a:ext cx="1415756" cy="343630"/>
          </a:xfrm>
          <a:prstGeom prst="roundRect">
            <a:avLst>
              <a:gd name="adj" fmla="val 12000"/>
            </a:avLst>
          </a:prstGeom>
          <a:solidFill>
            <a:srgbClr val="FCFDFE"/>
          </a:solidFill>
          <a:ln w="8247">
            <a:solidFill>
              <a:srgbClr val="8A9C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roposal-1-frame" descr="Editable shape; source id proposal-1-frame"/>
          <p:cNvSpPr/>
          <p:nvPr/>
        </p:nvSpPr>
        <p:spPr>
          <a:xfrm>
            <a:off x="2109889" y="1518845"/>
            <a:ext cx="1415756" cy="343630"/>
          </a:xfrm>
          <a:prstGeom prst="roundRect">
            <a:avLst>
              <a:gd name="adj" fmla="val 12000"/>
            </a:avLst>
          </a:prstGeom>
          <a:solidFill>
            <a:srgbClr val="FCFDFE"/>
          </a:solidFill>
          <a:ln w="8247">
            <a:solidFill>
              <a:srgbClr val="8A9C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roposal-2-frame" descr="Editable shape; source id proposal-2-frame"/>
          <p:cNvSpPr/>
          <p:nvPr/>
        </p:nvSpPr>
        <p:spPr>
          <a:xfrm>
            <a:off x="2109889" y="1924329"/>
            <a:ext cx="1415756" cy="343630"/>
          </a:xfrm>
          <a:prstGeom prst="roundRect">
            <a:avLst>
              <a:gd name="adj" fmla="val 12000"/>
            </a:avLst>
          </a:prstGeom>
          <a:solidFill>
            <a:srgbClr val="FCFDFE"/>
          </a:solidFill>
          <a:ln w="8247">
            <a:solidFill>
              <a:srgbClr val="8A9C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cquire-prefix-frame" descr="Editable shape; source id acquire-prefix-frame"/>
          <p:cNvSpPr/>
          <p:nvPr/>
        </p:nvSpPr>
        <p:spPr>
          <a:xfrm>
            <a:off x="2199233" y="3113289"/>
            <a:ext cx="1333285" cy="563553"/>
          </a:xfrm>
          <a:prstGeom prst="roundRect">
            <a:avLst>
              <a:gd name="adj" fmla="val 12000"/>
            </a:avLst>
          </a:prstGeom>
          <a:solidFill>
            <a:srgbClr val="FCFDFE"/>
          </a:solidFill>
          <a:ln w="8247">
            <a:solidFill>
              <a:srgbClr val="8A9C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ord-panel" descr="Editable shape; source id record-panel"/>
          <p:cNvSpPr/>
          <p:nvPr/>
        </p:nvSpPr>
        <p:spPr>
          <a:xfrm>
            <a:off x="1999927" y="3876148"/>
            <a:ext cx="1566953" cy="1209578"/>
          </a:xfrm>
          <a:prstGeom prst="roundRect">
            <a:avLst>
              <a:gd name="adj" fmla="val 11999"/>
            </a:avLst>
          </a:prstGeom>
          <a:solidFill>
            <a:srgbClr val="F4F6F9"/>
          </a:solidFill>
          <a:ln w="6872">
            <a:solidFill>
              <a:srgbClr val="C4CD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value-panel" descr="Editable shape; source id value-panel"/>
          <p:cNvSpPr/>
          <p:nvPr/>
        </p:nvSpPr>
        <p:spPr>
          <a:xfrm>
            <a:off x="3999855" y="536063"/>
            <a:ext cx="4164798" cy="1271431"/>
          </a:xfrm>
          <a:prstGeom prst="roundRect">
            <a:avLst>
              <a:gd name="adj" fmla="val 12000"/>
            </a:avLst>
          </a:prstGeom>
          <a:solidFill>
            <a:srgbClr val="EEF7FF"/>
          </a:solidFill>
          <a:ln w="6872">
            <a:solidFill>
              <a:srgbClr val="C6E5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value-tokens-0-frame" descr="Editable shape; source id value-tokens-0-frame"/>
          <p:cNvSpPr/>
          <p:nvPr/>
        </p:nvSpPr>
        <p:spPr>
          <a:xfrm>
            <a:off x="4151052" y="1133979"/>
            <a:ext cx="1072126" cy="371120"/>
          </a:xfrm>
          <a:prstGeom prst="roundRect">
            <a:avLst>
              <a:gd name="adj" fmla="val 12000"/>
            </a:avLst>
          </a:prstGeom>
          <a:solidFill>
            <a:srgbClr val="FCFDFE"/>
          </a:solidFill>
          <a:ln w="8247">
            <a:solidFill>
              <a:srgbClr val="8A9C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value-tokens-1-frame" descr="Editable shape; source id value-tokens-1-frame"/>
          <p:cNvSpPr/>
          <p:nvPr/>
        </p:nvSpPr>
        <p:spPr>
          <a:xfrm>
            <a:off x="5573681" y="1133979"/>
            <a:ext cx="1072126" cy="371120"/>
          </a:xfrm>
          <a:prstGeom prst="roundRect">
            <a:avLst>
              <a:gd name="adj" fmla="val 12000"/>
            </a:avLst>
          </a:prstGeom>
          <a:solidFill>
            <a:srgbClr val="FCFDFE"/>
          </a:solidFill>
          <a:ln w="8247">
            <a:solidFill>
              <a:srgbClr val="8A9C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value-tokens-2-frame" descr="Editable shape; source id value-tokens-2-frame"/>
          <p:cNvSpPr/>
          <p:nvPr/>
        </p:nvSpPr>
        <p:spPr>
          <a:xfrm>
            <a:off x="6968820" y="1133979"/>
            <a:ext cx="1072126" cy="371120"/>
          </a:xfrm>
          <a:prstGeom prst="roundRect">
            <a:avLst>
              <a:gd name="adj" fmla="val 12000"/>
            </a:avLst>
          </a:prstGeom>
          <a:solidFill>
            <a:srgbClr val="FCFDFE"/>
          </a:solidFill>
          <a:ln w="8247">
            <a:solidFill>
              <a:srgbClr val="8A9C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sbs-panel" descr="Editable shape; source id asbs-panel"/>
          <p:cNvSpPr/>
          <p:nvPr/>
        </p:nvSpPr>
        <p:spPr>
          <a:xfrm>
            <a:off x="4027346" y="2233596"/>
            <a:ext cx="4116689" cy="3030818"/>
          </a:xfrm>
          <a:prstGeom prst="roundRect">
            <a:avLst>
              <a:gd name="adj" fmla="val 11999"/>
            </a:avLst>
          </a:prstGeom>
          <a:solidFill>
            <a:srgbClr val="FFF8EC"/>
          </a:solidFill>
          <a:ln w="6872">
            <a:solidFill>
              <a:srgbClr val="E9C5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roposer-panel" descr="Editable shape; source id proposer-panel"/>
          <p:cNvSpPr/>
          <p:nvPr/>
        </p:nvSpPr>
        <p:spPr>
          <a:xfrm>
            <a:off x="8838168" y="920928"/>
            <a:ext cx="1828112" cy="975909"/>
          </a:xfrm>
          <a:prstGeom prst="roundRect">
            <a:avLst>
              <a:gd name="adj" fmla="val 12000"/>
            </a:avLst>
          </a:prstGeom>
          <a:solidFill>
            <a:srgbClr val="FFF8EC"/>
          </a:solidFill>
          <a:ln w="8247">
            <a:solidFill>
              <a:srgbClr val="D987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eployed-proposal-frame" descr="Editable shape; source id deployed-proposal-frame"/>
          <p:cNvSpPr/>
          <p:nvPr/>
        </p:nvSpPr>
        <p:spPr>
          <a:xfrm>
            <a:off x="9051219" y="1257686"/>
            <a:ext cx="1395138" cy="336757"/>
          </a:xfrm>
          <a:prstGeom prst="roundRect">
            <a:avLst>
              <a:gd name="adj" fmla="val 12000"/>
            </a:avLst>
          </a:prstGeom>
          <a:solidFill>
            <a:srgbClr val="FCFDFE"/>
          </a:solidFill>
          <a:ln w="8247">
            <a:solidFill>
              <a:srgbClr val="8A9C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untime-vla" descr="Editable shape; source id runtime-vla"/>
          <p:cNvSpPr/>
          <p:nvPr/>
        </p:nvSpPr>
        <p:spPr>
          <a:xfrm>
            <a:off x="8625118" y="2343558"/>
            <a:ext cx="2790277" cy="1546335"/>
          </a:xfrm>
          <a:prstGeom prst="roundRect">
            <a:avLst>
              <a:gd name="adj" fmla="val 12000"/>
            </a:avLst>
          </a:prstGeom>
          <a:solidFill>
            <a:srgbClr val="EDF7FF"/>
          </a:solidFill>
          <a:ln w="9621">
            <a:solidFill>
              <a:srgbClr val="A0CD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vla-lock-body" descr="Editable shape; source id vla-lock-body"/>
          <p:cNvSpPr/>
          <p:nvPr/>
        </p:nvSpPr>
        <p:spPr>
          <a:xfrm>
            <a:off x="11099255" y="2533241"/>
            <a:ext cx="153946" cy="129892"/>
          </a:xfrm>
          <a:prstGeom prst="roundRect">
            <a:avLst>
              <a:gd name="adj" fmla="val 12000"/>
            </a:avLst>
          </a:prstGeom>
          <a:solidFill>
            <a:srgbClr val="09204B"/>
          </a:solidFill>
          <a:ln w="6872">
            <a:solidFill>
              <a:srgbClr val="0920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ctions-frame" descr="Editable shape; source id actions-frame"/>
          <p:cNvSpPr/>
          <p:nvPr/>
        </p:nvSpPr>
        <p:spPr>
          <a:xfrm>
            <a:off x="10247052" y="3106417"/>
            <a:ext cx="1099616" cy="364248"/>
          </a:xfrm>
          <a:prstGeom prst="roundRect">
            <a:avLst>
              <a:gd name="adj" fmla="val 12000"/>
            </a:avLst>
          </a:prstGeom>
          <a:solidFill>
            <a:srgbClr val="FCFDFE"/>
          </a:solidFill>
          <a:ln w="8247">
            <a:solidFill>
              <a:srgbClr val="8A9C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eploy-execution" descr="Editable shape; source id deploy-execution"/>
          <p:cNvSpPr/>
          <p:nvPr/>
        </p:nvSpPr>
        <p:spPr>
          <a:xfrm>
            <a:off x="9064964" y="4240396"/>
            <a:ext cx="2096144" cy="728496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8247">
            <a:solidFill>
              <a:srgbClr val="94A5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xecution-frame" descr="Editable shape; source id execution-frame"/>
          <p:cNvSpPr/>
          <p:nvPr/>
        </p:nvSpPr>
        <p:spPr>
          <a:xfrm>
            <a:off x="9264270" y="4577154"/>
            <a:ext cx="1697533" cy="329884"/>
          </a:xfrm>
          <a:prstGeom prst="roundRect">
            <a:avLst>
              <a:gd name="adj" fmla="val 12000"/>
            </a:avLst>
          </a:prstGeom>
          <a:solidFill>
            <a:srgbClr val="FCFDFE"/>
          </a:solidFill>
          <a:ln w="8247">
            <a:solidFill>
              <a:srgbClr val="8A9C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roposal-0-token-0" descr="Editable shape; source id proposal-0-token-0"/>
          <p:cNvSpPr/>
          <p:nvPr/>
        </p:nvSpPr>
        <p:spPr>
          <a:xfrm>
            <a:off x="2219851" y="1237068"/>
            <a:ext cx="137452" cy="137452"/>
          </a:xfrm>
          <a:prstGeom prst="roundRect">
            <a:avLst>
              <a:gd name="adj" fmla="val 12000"/>
            </a:avLst>
          </a:prstGeom>
          <a:solidFill>
            <a:srgbClr val="B7C0CA"/>
          </a:solidFill>
          <a:ln w="6185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roposal-0-token-1" descr="Editable shape; source id proposal-0-token-1"/>
          <p:cNvSpPr/>
          <p:nvPr/>
        </p:nvSpPr>
        <p:spPr>
          <a:xfrm>
            <a:off x="2432901" y="1237068"/>
            <a:ext cx="137452" cy="137452"/>
          </a:xfrm>
          <a:prstGeom prst="roundRect">
            <a:avLst>
              <a:gd name="adj" fmla="val 12000"/>
            </a:avLst>
          </a:prstGeom>
          <a:solidFill>
            <a:srgbClr val="B7C0CA"/>
          </a:solidFill>
          <a:ln w="6185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roposal-0-token-2" descr="Editable shape; source id proposal-0-token-2"/>
          <p:cNvSpPr/>
          <p:nvPr/>
        </p:nvSpPr>
        <p:spPr>
          <a:xfrm>
            <a:off x="2645952" y="1237068"/>
            <a:ext cx="137452" cy="137452"/>
          </a:xfrm>
          <a:prstGeom prst="roundRect">
            <a:avLst>
              <a:gd name="adj" fmla="val 12000"/>
            </a:avLst>
          </a:prstGeom>
          <a:solidFill>
            <a:srgbClr val="B7C0CA"/>
          </a:solidFill>
          <a:ln w="6185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roposal-end-0" descr="Editable shape; source id proposal-end-0"/>
          <p:cNvSpPr/>
          <p:nvPr/>
        </p:nvSpPr>
        <p:spPr>
          <a:xfrm>
            <a:off x="3243869" y="1230196"/>
            <a:ext cx="158069" cy="158069"/>
          </a:xfrm>
          <a:prstGeom prst="roundRect">
            <a:avLst>
              <a:gd name="adj" fmla="val 12000"/>
            </a:avLst>
          </a:prstGeom>
          <a:solidFill>
            <a:srgbClr val="536271"/>
          </a:solidFill>
          <a:ln w="6872">
            <a:solidFill>
              <a:srgbClr val="294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roposal-1-token-0" descr="Editable shape; source id proposal-1-token-0"/>
          <p:cNvSpPr/>
          <p:nvPr/>
        </p:nvSpPr>
        <p:spPr>
          <a:xfrm>
            <a:off x="2219851" y="1621934"/>
            <a:ext cx="137452" cy="137452"/>
          </a:xfrm>
          <a:prstGeom prst="roundRect">
            <a:avLst>
              <a:gd name="adj" fmla="val 12000"/>
            </a:avLst>
          </a:prstGeom>
          <a:solidFill>
            <a:srgbClr val="FFC25A"/>
          </a:solidFill>
          <a:ln w="6185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roposal-1-token-1" descr="Editable shape; source id proposal-1-token-1"/>
          <p:cNvSpPr/>
          <p:nvPr/>
        </p:nvSpPr>
        <p:spPr>
          <a:xfrm>
            <a:off x="2432901" y="1621934"/>
            <a:ext cx="137452" cy="137452"/>
          </a:xfrm>
          <a:prstGeom prst="roundRect">
            <a:avLst>
              <a:gd name="adj" fmla="val 12000"/>
            </a:avLst>
          </a:prstGeom>
          <a:solidFill>
            <a:srgbClr val="FFC25A"/>
          </a:solidFill>
          <a:ln w="6185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roposal-1-token-2" descr="Editable shape; source id proposal-1-token-2"/>
          <p:cNvSpPr/>
          <p:nvPr/>
        </p:nvSpPr>
        <p:spPr>
          <a:xfrm>
            <a:off x="2645952" y="1621934"/>
            <a:ext cx="137452" cy="137452"/>
          </a:xfrm>
          <a:prstGeom prst="roundRect">
            <a:avLst>
              <a:gd name="adj" fmla="val 12000"/>
            </a:avLst>
          </a:prstGeom>
          <a:solidFill>
            <a:srgbClr val="FFC25A"/>
          </a:solidFill>
          <a:ln w="6185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roposal-end-1" descr="Editable shape; source id proposal-end-1"/>
          <p:cNvSpPr/>
          <p:nvPr/>
        </p:nvSpPr>
        <p:spPr>
          <a:xfrm>
            <a:off x="3243869" y="1615061"/>
            <a:ext cx="158069" cy="158069"/>
          </a:xfrm>
          <a:prstGeom prst="roundRect">
            <a:avLst>
              <a:gd name="adj" fmla="val 12000"/>
            </a:avLst>
          </a:prstGeom>
          <a:solidFill>
            <a:srgbClr val="536271"/>
          </a:solidFill>
          <a:ln w="6872">
            <a:solidFill>
              <a:srgbClr val="294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roposal-2-token-0" descr="Editable shape; source id proposal-2-token-0"/>
          <p:cNvSpPr/>
          <p:nvPr/>
        </p:nvSpPr>
        <p:spPr>
          <a:xfrm>
            <a:off x="2219851" y="2027418"/>
            <a:ext cx="137452" cy="137452"/>
          </a:xfrm>
          <a:prstGeom prst="roundRect">
            <a:avLst>
              <a:gd name="adj" fmla="val 12000"/>
            </a:avLst>
          </a:prstGeom>
          <a:solidFill>
            <a:srgbClr val="B7C0CA"/>
          </a:solidFill>
          <a:ln w="6185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proposal-2-token-1" descr="Editable shape; source id proposal-2-token-1"/>
          <p:cNvSpPr/>
          <p:nvPr/>
        </p:nvSpPr>
        <p:spPr>
          <a:xfrm>
            <a:off x="2432901" y="2027418"/>
            <a:ext cx="137452" cy="137452"/>
          </a:xfrm>
          <a:prstGeom prst="roundRect">
            <a:avLst>
              <a:gd name="adj" fmla="val 12000"/>
            </a:avLst>
          </a:prstGeom>
          <a:solidFill>
            <a:srgbClr val="B7C0CA"/>
          </a:solidFill>
          <a:ln w="6185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proposal-2-token-2" descr="Editable shape; source id proposal-2-token-2"/>
          <p:cNvSpPr/>
          <p:nvPr/>
        </p:nvSpPr>
        <p:spPr>
          <a:xfrm>
            <a:off x="2645952" y="2027418"/>
            <a:ext cx="137452" cy="137452"/>
          </a:xfrm>
          <a:prstGeom prst="roundRect">
            <a:avLst>
              <a:gd name="adj" fmla="val 12000"/>
            </a:avLst>
          </a:prstGeom>
          <a:solidFill>
            <a:srgbClr val="B7C0CA"/>
          </a:solidFill>
          <a:ln w="6185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proposal-end-2" descr="Editable shape; source id proposal-end-2"/>
          <p:cNvSpPr/>
          <p:nvPr/>
        </p:nvSpPr>
        <p:spPr>
          <a:xfrm>
            <a:off x="3243869" y="2020545"/>
            <a:ext cx="158069" cy="158069"/>
          </a:xfrm>
          <a:prstGeom prst="roundRect">
            <a:avLst>
              <a:gd name="adj" fmla="val 12000"/>
            </a:avLst>
          </a:prstGeom>
          <a:solidFill>
            <a:srgbClr val="536271"/>
          </a:solidFill>
          <a:ln w="6872">
            <a:solidFill>
              <a:srgbClr val="294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acquire-prefix-token-0" descr="Editable shape; source id acquire-prefix-token-0"/>
          <p:cNvSpPr/>
          <p:nvPr/>
        </p:nvSpPr>
        <p:spPr>
          <a:xfrm>
            <a:off x="2288577" y="3202633"/>
            <a:ext cx="137452" cy="137452"/>
          </a:xfrm>
          <a:prstGeom prst="roundRect">
            <a:avLst>
              <a:gd name="adj" fmla="val 12000"/>
            </a:avLst>
          </a:prstGeom>
          <a:solidFill>
            <a:srgbClr val="FFC04C"/>
          </a:solidFill>
          <a:ln w="6185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acquire-prefix-token-1" descr="Editable shape; source id acquire-prefix-token-1"/>
          <p:cNvSpPr/>
          <p:nvPr/>
        </p:nvSpPr>
        <p:spPr>
          <a:xfrm>
            <a:off x="2501627" y="3202633"/>
            <a:ext cx="137452" cy="137452"/>
          </a:xfrm>
          <a:prstGeom prst="roundRect">
            <a:avLst>
              <a:gd name="adj" fmla="val 12000"/>
            </a:avLst>
          </a:prstGeom>
          <a:solidFill>
            <a:srgbClr val="FFC04C"/>
          </a:solidFill>
          <a:ln w="6185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acquire-prefix-token-2" descr="Editable shape; source id acquire-prefix-token-2"/>
          <p:cNvSpPr/>
          <p:nvPr/>
        </p:nvSpPr>
        <p:spPr>
          <a:xfrm>
            <a:off x="2714678" y="3202633"/>
            <a:ext cx="137452" cy="137452"/>
          </a:xfrm>
          <a:prstGeom prst="roundRect">
            <a:avLst>
              <a:gd name="adj" fmla="val 12000"/>
            </a:avLst>
          </a:prstGeom>
          <a:solidFill>
            <a:srgbClr val="EEF1F4"/>
          </a:solidFill>
          <a:ln w="6185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value-tokens-0-token-0" descr="Editable shape; source id value-tokens-0-token-0"/>
          <p:cNvSpPr/>
          <p:nvPr/>
        </p:nvSpPr>
        <p:spPr>
          <a:xfrm>
            <a:off x="4267887" y="1264559"/>
            <a:ext cx="137452" cy="137452"/>
          </a:xfrm>
          <a:prstGeom prst="roundRect">
            <a:avLst>
              <a:gd name="adj" fmla="val 12000"/>
            </a:avLst>
          </a:prstGeom>
          <a:solidFill>
            <a:srgbClr val="C2CBD5"/>
          </a:solidFill>
          <a:ln w="6185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value-tokens-0-token-1" descr="Editable shape; source id value-tokens-0-token-1"/>
          <p:cNvSpPr/>
          <p:nvPr/>
        </p:nvSpPr>
        <p:spPr>
          <a:xfrm>
            <a:off x="4474065" y="1264559"/>
            <a:ext cx="137452" cy="137452"/>
          </a:xfrm>
          <a:prstGeom prst="roundRect">
            <a:avLst>
              <a:gd name="adj" fmla="val 12000"/>
            </a:avLst>
          </a:prstGeom>
          <a:solidFill>
            <a:srgbClr val="C2CBD5"/>
          </a:solidFill>
          <a:ln w="6185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value-tokens-0-token-2" descr="Editable shape; source id value-tokens-0-token-2"/>
          <p:cNvSpPr/>
          <p:nvPr/>
        </p:nvSpPr>
        <p:spPr>
          <a:xfrm>
            <a:off x="4680243" y="1264559"/>
            <a:ext cx="137452" cy="137452"/>
          </a:xfrm>
          <a:prstGeom prst="roundRect">
            <a:avLst>
              <a:gd name="adj" fmla="val 12000"/>
            </a:avLst>
          </a:prstGeom>
          <a:solidFill>
            <a:srgbClr val="C2CBD5"/>
          </a:solidFill>
          <a:ln w="6185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value-tokens-1-token-0" descr="Editable shape; source id value-tokens-1-token-0"/>
          <p:cNvSpPr/>
          <p:nvPr/>
        </p:nvSpPr>
        <p:spPr>
          <a:xfrm>
            <a:off x="5690516" y="1264559"/>
            <a:ext cx="137452" cy="137452"/>
          </a:xfrm>
          <a:prstGeom prst="roundRect">
            <a:avLst>
              <a:gd name="adj" fmla="val 12000"/>
            </a:avLst>
          </a:prstGeom>
          <a:solidFill>
            <a:srgbClr val="FFD487"/>
          </a:solidFill>
          <a:ln w="6185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value-tokens-1-token-1" descr="Editable shape; source id value-tokens-1-token-1"/>
          <p:cNvSpPr/>
          <p:nvPr/>
        </p:nvSpPr>
        <p:spPr>
          <a:xfrm>
            <a:off x="5896694" y="1264559"/>
            <a:ext cx="137452" cy="137452"/>
          </a:xfrm>
          <a:prstGeom prst="roundRect">
            <a:avLst>
              <a:gd name="adj" fmla="val 12000"/>
            </a:avLst>
          </a:prstGeom>
          <a:solidFill>
            <a:srgbClr val="FFD487"/>
          </a:solidFill>
          <a:ln w="6185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value-tokens-1-token-2" descr="Editable shape; source id value-tokens-1-token-2"/>
          <p:cNvSpPr/>
          <p:nvPr/>
        </p:nvSpPr>
        <p:spPr>
          <a:xfrm>
            <a:off x="6102872" y="1264559"/>
            <a:ext cx="137452" cy="137452"/>
          </a:xfrm>
          <a:prstGeom prst="roundRect">
            <a:avLst>
              <a:gd name="adj" fmla="val 12000"/>
            </a:avLst>
          </a:prstGeom>
          <a:solidFill>
            <a:srgbClr val="FFD487"/>
          </a:solidFill>
          <a:ln w="6185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value-tokens-2-token-0" descr="Editable shape; source id value-tokens-2-token-0"/>
          <p:cNvSpPr/>
          <p:nvPr/>
        </p:nvSpPr>
        <p:spPr>
          <a:xfrm>
            <a:off x="7085654" y="1264559"/>
            <a:ext cx="137452" cy="137452"/>
          </a:xfrm>
          <a:prstGeom prst="roundRect">
            <a:avLst>
              <a:gd name="adj" fmla="val 12000"/>
            </a:avLst>
          </a:prstGeom>
          <a:solidFill>
            <a:srgbClr val="C2CBD5"/>
          </a:solidFill>
          <a:ln w="6185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value-tokens-2-token-1" descr="Editable shape; source id value-tokens-2-token-1"/>
          <p:cNvSpPr/>
          <p:nvPr/>
        </p:nvSpPr>
        <p:spPr>
          <a:xfrm>
            <a:off x="7291832" y="1264559"/>
            <a:ext cx="137452" cy="137452"/>
          </a:xfrm>
          <a:prstGeom prst="roundRect">
            <a:avLst>
              <a:gd name="adj" fmla="val 12000"/>
            </a:avLst>
          </a:prstGeom>
          <a:solidFill>
            <a:srgbClr val="C2CBD5"/>
          </a:solidFill>
          <a:ln w="6185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value-tokens-2-token-2" descr="Editable shape; source id value-tokens-2-token-2"/>
          <p:cNvSpPr/>
          <p:nvPr/>
        </p:nvSpPr>
        <p:spPr>
          <a:xfrm>
            <a:off x="7498011" y="1264559"/>
            <a:ext cx="137452" cy="137452"/>
          </a:xfrm>
          <a:prstGeom prst="roundRect">
            <a:avLst>
              <a:gd name="adj" fmla="val 12000"/>
            </a:avLst>
          </a:prstGeom>
          <a:solidFill>
            <a:srgbClr val="C2CBD5"/>
          </a:solidFill>
          <a:ln w="6185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eployed-proposal-token-0" descr="Editable shape; source id deployed-proposal-token-0"/>
          <p:cNvSpPr/>
          <p:nvPr/>
        </p:nvSpPr>
        <p:spPr>
          <a:xfrm>
            <a:off x="9174926" y="1353903"/>
            <a:ext cx="137452" cy="137452"/>
          </a:xfrm>
          <a:prstGeom prst="roundRect">
            <a:avLst>
              <a:gd name="adj" fmla="val 12000"/>
            </a:avLst>
          </a:prstGeom>
          <a:solidFill>
            <a:srgbClr val="FFD28A"/>
          </a:solidFill>
          <a:ln w="6185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eployed-proposal-token-1" descr="Editable shape; source id deployed-proposal-token-1"/>
          <p:cNvSpPr/>
          <p:nvPr/>
        </p:nvSpPr>
        <p:spPr>
          <a:xfrm>
            <a:off x="9449830" y="1353903"/>
            <a:ext cx="137452" cy="137452"/>
          </a:xfrm>
          <a:prstGeom prst="roundRect">
            <a:avLst>
              <a:gd name="adj" fmla="val 12000"/>
            </a:avLst>
          </a:prstGeom>
          <a:solidFill>
            <a:srgbClr val="FFD28A"/>
          </a:solidFill>
          <a:ln w="6185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eployed-end" descr="Editable shape; source id deployed-end"/>
          <p:cNvSpPr/>
          <p:nvPr/>
        </p:nvSpPr>
        <p:spPr>
          <a:xfrm>
            <a:off x="10130218" y="1347030"/>
            <a:ext cx="151197" cy="158069"/>
          </a:xfrm>
          <a:prstGeom prst="roundRect">
            <a:avLst>
              <a:gd name="adj" fmla="val 11999"/>
            </a:avLst>
          </a:prstGeom>
          <a:solidFill>
            <a:srgbClr val="576675"/>
          </a:solidFill>
          <a:ln w="6872">
            <a:solidFill>
              <a:srgbClr val="2E46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vla-lock-loop" descr="Editable shape; source id vla-lock-loop"/>
          <p:cNvSpPr/>
          <p:nvPr/>
        </p:nvSpPr>
        <p:spPr>
          <a:xfrm>
            <a:off x="11128120" y="2446647"/>
            <a:ext cx="96216" cy="120270"/>
          </a:xfrm>
          <a:prstGeom prst="ellipse">
            <a:avLst/>
          </a:prstGeom>
          <a:noFill/>
          <a:ln w="19243">
            <a:solidFill>
              <a:srgbClr val="0920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vla-lock-hole" descr="Editable shape; source id vla-lock-hole"/>
          <p:cNvSpPr/>
          <p:nvPr/>
        </p:nvSpPr>
        <p:spPr>
          <a:xfrm>
            <a:off x="11166607" y="2566917"/>
            <a:ext cx="19243" cy="3848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bs-token-0" descr="Editable shape; source id obs-token-0"/>
          <p:cNvSpPr/>
          <p:nvPr/>
        </p:nvSpPr>
        <p:spPr>
          <a:xfrm>
            <a:off x="8858786" y="3037691"/>
            <a:ext cx="123706" cy="123706"/>
          </a:xfrm>
          <a:prstGeom prst="roundRect">
            <a:avLst>
              <a:gd name="adj" fmla="val 12000"/>
            </a:avLst>
          </a:prstGeom>
          <a:solidFill>
            <a:srgbClr val="A9D2E7"/>
          </a:solidFill>
          <a:ln w="6185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bs-token-1" descr="Editable shape; source id obs-token-1"/>
          <p:cNvSpPr/>
          <p:nvPr/>
        </p:nvSpPr>
        <p:spPr>
          <a:xfrm>
            <a:off x="9064964" y="3037691"/>
            <a:ext cx="123706" cy="123706"/>
          </a:xfrm>
          <a:prstGeom prst="roundRect">
            <a:avLst>
              <a:gd name="adj" fmla="val 12000"/>
            </a:avLst>
          </a:prstGeom>
          <a:solidFill>
            <a:srgbClr val="A9D2E7"/>
          </a:solidFill>
          <a:ln w="6185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bs-token-2" descr="Editable shape; source id obs-token-2"/>
          <p:cNvSpPr/>
          <p:nvPr/>
        </p:nvSpPr>
        <p:spPr>
          <a:xfrm>
            <a:off x="9271142" y="3037691"/>
            <a:ext cx="123706" cy="123706"/>
          </a:xfrm>
          <a:prstGeom prst="roundRect">
            <a:avLst>
              <a:gd name="adj" fmla="val 12000"/>
            </a:avLst>
          </a:prstGeom>
          <a:solidFill>
            <a:srgbClr val="A9D2E7"/>
          </a:solidFill>
          <a:ln w="6185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language-token-0" descr="Editable shape; source id language-token-0"/>
          <p:cNvSpPr/>
          <p:nvPr/>
        </p:nvSpPr>
        <p:spPr>
          <a:xfrm>
            <a:off x="8858786" y="3560008"/>
            <a:ext cx="123706" cy="123706"/>
          </a:xfrm>
          <a:prstGeom prst="roundRect">
            <a:avLst>
              <a:gd name="adj" fmla="val 12000"/>
            </a:avLst>
          </a:prstGeom>
          <a:solidFill>
            <a:srgbClr val="B0D4C0"/>
          </a:solidFill>
          <a:ln w="6185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language-token-1" descr="Editable shape; source id language-token-1"/>
          <p:cNvSpPr/>
          <p:nvPr/>
        </p:nvSpPr>
        <p:spPr>
          <a:xfrm>
            <a:off x="9064964" y="3560008"/>
            <a:ext cx="123706" cy="123706"/>
          </a:xfrm>
          <a:prstGeom prst="roundRect">
            <a:avLst>
              <a:gd name="adj" fmla="val 12000"/>
            </a:avLst>
          </a:prstGeom>
          <a:solidFill>
            <a:srgbClr val="B0D4C0"/>
          </a:solidFill>
          <a:ln w="6185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language-token-2" descr="Editable shape; source id language-token-2"/>
          <p:cNvSpPr/>
          <p:nvPr/>
        </p:nvSpPr>
        <p:spPr>
          <a:xfrm>
            <a:off x="9271142" y="3560008"/>
            <a:ext cx="123706" cy="123706"/>
          </a:xfrm>
          <a:prstGeom prst="roundRect">
            <a:avLst>
              <a:gd name="adj" fmla="val 12000"/>
            </a:avLst>
          </a:prstGeom>
          <a:solidFill>
            <a:srgbClr val="B0D4C0"/>
          </a:solidFill>
          <a:ln w="6185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actions-token-0" descr="Editable shape; source id actions-token-0"/>
          <p:cNvSpPr/>
          <p:nvPr/>
        </p:nvSpPr>
        <p:spPr>
          <a:xfrm>
            <a:off x="10295160" y="3236996"/>
            <a:ext cx="123706" cy="123706"/>
          </a:xfrm>
          <a:prstGeom prst="roundRect">
            <a:avLst>
              <a:gd name="adj" fmla="val 12000"/>
            </a:avLst>
          </a:prstGeom>
          <a:solidFill>
            <a:srgbClr val="FFD280"/>
          </a:solidFill>
          <a:ln w="6185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actions-token-1" descr="Editable shape; source id actions-token-1"/>
          <p:cNvSpPr/>
          <p:nvPr/>
        </p:nvSpPr>
        <p:spPr>
          <a:xfrm>
            <a:off x="10466976" y="3236996"/>
            <a:ext cx="123706" cy="123706"/>
          </a:xfrm>
          <a:prstGeom prst="roundRect">
            <a:avLst>
              <a:gd name="adj" fmla="val 12000"/>
            </a:avLst>
          </a:prstGeom>
          <a:solidFill>
            <a:srgbClr val="FFD280"/>
          </a:solidFill>
          <a:ln w="6185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actions-token-2" descr="Editable shape; source id actions-token-2"/>
          <p:cNvSpPr/>
          <p:nvPr/>
        </p:nvSpPr>
        <p:spPr>
          <a:xfrm>
            <a:off x="10638791" y="3236996"/>
            <a:ext cx="123706" cy="123706"/>
          </a:xfrm>
          <a:prstGeom prst="roundRect">
            <a:avLst>
              <a:gd name="adj" fmla="val 12000"/>
            </a:avLst>
          </a:prstGeom>
          <a:solidFill>
            <a:srgbClr val="EEF1F4"/>
          </a:solidFill>
          <a:ln w="6185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actions-token-3" descr="Editable shape; source id actions-token-3"/>
          <p:cNvSpPr/>
          <p:nvPr/>
        </p:nvSpPr>
        <p:spPr>
          <a:xfrm>
            <a:off x="10810606" y="3236996"/>
            <a:ext cx="123706" cy="123706"/>
          </a:xfrm>
          <a:prstGeom prst="roundRect">
            <a:avLst>
              <a:gd name="adj" fmla="val 12000"/>
            </a:avLst>
          </a:prstGeom>
          <a:solidFill>
            <a:srgbClr val="EEF1F4"/>
          </a:solidFill>
          <a:ln w="6185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xecution-token-0" descr="Editable shape; source id execution-token-0"/>
          <p:cNvSpPr/>
          <p:nvPr/>
        </p:nvSpPr>
        <p:spPr>
          <a:xfrm>
            <a:off x="9394849" y="4673370"/>
            <a:ext cx="144324" cy="144324"/>
          </a:xfrm>
          <a:prstGeom prst="roundRect">
            <a:avLst>
              <a:gd name="adj" fmla="val 12000"/>
            </a:avLst>
          </a:prstGeom>
          <a:solidFill>
            <a:srgbClr val="FFD17C"/>
          </a:solidFill>
          <a:ln w="6185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xecution-token-1" descr="Editable shape; source id execution-token-1"/>
          <p:cNvSpPr/>
          <p:nvPr/>
        </p:nvSpPr>
        <p:spPr>
          <a:xfrm>
            <a:off x="9607900" y="4673370"/>
            <a:ext cx="144324" cy="144324"/>
          </a:xfrm>
          <a:prstGeom prst="roundRect">
            <a:avLst>
              <a:gd name="adj" fmla="val 12000"/>
            </a:avLst>
          </a:prstGeom>
          <a:solidFill>
            <a:srgbClr val="FFD17C"/>
          </a:solidFill>
          <a:ln w="6185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xecution-token-2" descr="Editable shape; source id execution-token-2"/>
          <p:cNvSpPr/>
          <p:nvPr/>
        </p:nvSpPr>
        <p:spPr>
          <a:xfrm>
            <a:off x="9820951" y="4673370"/>
            <a:ext cx="144324" cy="144324"/>
          </a:xfrm>
          <a:prstGeom prst="roundRect">
            <a:avLst>
              <a:gd name="adj" fmla="val 12000"/>
            </a:avLst>
          </a:prstGeom>
          <a:solidFill>
            <a:srgbClr val="EEF1F4"/>
          </a:solidFill>
          <a:ln w="6185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xecution-last" descr="Editable shape; source id execution-last"/>
          <p:cNvSpPr/>
          <p:nvPr/>
        </p:nvSpPr>
        <p:spPr>
          <a:xfrm>
            <a:off x="10741880" y="4673370"/>
            <a:ext cx="151197" cy="151197"/>
          </a:xfrm>
          <a:prstGeom prst="roundRect">
            <a:avLst>
              <a:gd name="adj" fmla="val 11999"/>
            </a:avLst>
          </a:prstGeom>
          <a:solidFill>
            <a:srgbClr val="657585"/>
          </a:solidFill>
          <a:ln w="6872">
            <a:solidFill>
              <a:srgbClr val="2944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robot-illustration" descr="Exact independent region from the author-selected v20 generated schematic; not experimental photography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2" y="797222"/>
            <a:ext cx="2054908" cy="3876148"/>
          </a:xfrm>
          <a:prstGeom prst="rect">
            <a:avLst/>
          </a:prstGeom>
          <a:effectLst/>
        </p:spPr>
      </p:pic>
      <p:pic>
        <p:nvPicPr>
          <p:cNvPr id="63" name="transition-frames" descr="Exact independent region from the author-selected v20 generated schematic; not experimental photography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9889" y="4199161"/>
            <a:ext cx="1078998" cy="639152"/>
          </a:xfrm>
          <a:prstGeom prst="rect">
            <a:avLst/>
          </a:prstGeom>
          <a:effectLst/>
        </p:spPr>
      </p:pic>
      <p:pic>
        <p:nvPicPr>
          <p:cNvPr id="64" name="bridge-artwork" descr="Exact independent region from the author-selected v20 generated schematic; not experimental photography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8581" y="2749041"/>
            <a:ext cx="4034218" cy="1711278"/>
          </a:xfrm>
          <a:prstGeom prst="rect">
            <a:avLst/>
          </a:prstGeom>
          <a:effectLst/>
        </p:spPr>
      </p:pic>
      <p:cxnSp>
        <p:nvCxnSpPr>
          <p:cNvPr id="65" name="divider-0-0" descr="Editable line; source id divider-0-0"/>
          <p:cNvCxnSpPr/>
          <p:nvPr/>
        </p:nvCxnSpPr>
        <p:spPr>
          <a:xfrm>
            <a:off x="3821167" y="158069"/>
            <a:ext cx="0" cy="5291906"/>
          </a:xfrm>
          <a:prstGeom prst="line">
            <a:avLst/>
          </a:prstGeom>
          <a:ln w="9621">
            <a:solidFill>
              <a:srgbClr val="B3C5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divider-1-0" descr="Editable line; source id divider-1-0"/>
          <p:cNvCxnSpPr/>
          <p:nvPr/>
        </p:nvCxnSpPr>
        <p:spPr>
          <a:xfrm>
            <a:off x="8260870" y="158069"/>
            <a:ext cx="0" cy="5291906"/>
          </a:xfrm>
          <a:prstGeom prst="line">
            <a:avLst/>
          </a:prstGeom>
          <a:ln w="9621">
            <a:solidFill>
              <a:srgbClr val="B3C5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selection-0" descr="Editable line; source id selection-0"/>
          <p:cNvSpPr/>
          <p:nvPr/>
        </p:nvSpPr>
        <p:spPr>
          <a:xfrm>
            <a:off x="2374485" y="2316068"/>
            <a:ext cx="75599" cy="508573"/>
          </a:xfrm>
          <a:custGeom>
            <a:avLst/>
            <a:gdLst/>
            <a:ahLst/>
            <a:cxnLst/>
            <a:rect l="l" t="t" r="r" b="b"/>
            <a:pathLst>
              <a:path w="11000" h="74000">
                <a:moveTo>
                  <a:pt x="6500" y="0"/>
                </a:moveTo>
                <a:lnTo>
                  <a:pt x="6500" y="63000"/>
                </a:lnTo>
                <a:lnTo>
                  <a:pt x="11000" y="63000"/>
                </a:lnTo>
                <a:lnTo>
                  <a:pt x="5500" y="74000"/>
                </a:lnTo>
                <a:lnTo>
                  <a:pt x="0" y="63000"/>
                </a:lnTo>
                <a:lnTo>
                  <a:pt x="4500" y="63000"/>
                </a:lnTo>
                <a:lnTo>
                  <a:pt x="4500" y="0"/>
                </a:lnTo>
                <a:close/>
              </a:path>
            </a:pathLst>
          </a:custGeom>
          <a:solidFill>
            <a:srgbClr val="087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refix-to-records-0" descr="Editable line; source id prefix-to-records-0"/>
          <p:cNvSpPr/>
          <p:nvPr/>
        </p:nvSpPr>
        <p:spPr>
          <a:xfrm>
            <a:off x="2724988" y="3683716"/>
            <a:ext cx="75599" cy="164942"/>
          </a:xfrm>
          <a:custGeom>
            <a:avLst/>
            <a:gdLst/>
            <a:ahLst/>
            <a:cxnLst/>
            <a:rect l="l" t="t" r="r" b="b"/>
            <a:pathLst>
              <a:path w="11000" h="24000">
                <a:moveTo>
                  <a:pt x="6500" y="0"/>
                </a:moveTo>
                <a:lnTo>
                  <a:pt x="6500" y="13000"/>
                </a:lnTo>
                <a:lnTo>
                  <a:pt x="11000" y="13000"/>
                </a:lnTo>
                <a:lnTo>
                  <a:pt x="5500" y="24000"/>
                </a:lnTo>
                <a:lnTo>
                  <a:pt x="0" y="13000"/>
                </a:lnTo>
                <a:lnTo>
                  <a:pt x="4500" y="13000"/>
                </a:lnTo>
                <a:lnTo>
                  <a:pt x="4500" y="0"/>
                </a:lnTo>
                <a:close/>
              </a:path>
            </a:pathLst>
          </a:custGeom>
          <a:solidFill>
            <a:srgbClr val="087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evidence-to-value-0" descr="Editable line; source id evidence-to-value-0"/>
          <p:cNvCxnSpPr/>
          <p:nvPr/>
        </p:nvCxnSpPr>
        <p:spPr>
          <a:xfrm>
            <a:off x="3566881" y="4453447"/>
            <a:ext cx="274904" cy="0"/>
          </a:xfrm>
          <a:prstGeom prst="line">
            <a:avLst/>
          </a:prstGeom>
          <a:ln w="13745">
            <a:solidFill>
              <a:srgbClr val="0879B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evidence-to-value-1" descr="Editable line; source id evidence-to-value-1"/>
          <p:cNvCxnSpPr/>
          <p:nvPr/>
        </p:nvCxnSpPr>
        <p:spPr>
          <a:xfrm flipV="1">
            <a:off x="3841785" y="893438"/>
            <a:ext cx="0" cy="3560009"/>
          </a:xfrm>
          <a:prstGeom prst="line">
            <a:avLst/>
          </a:prstGeom>
          <a:ln w="13745">
            <a:solidFill>
              <a:srgbClr val="0879B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evidence-to-value-2" descr="Editable line; source id evidence-to-value-2"/>
          <p:cNvSpPr/>
          <p:nvPr/>
        </p:nvSpPr>
        <p:spPr>
          <a:xfrm>
            <a:off x="3841786" y="855639"/>
            <a:ext cx="144325" cy="75599"/>
          </a:xfrm>
          <a:custGeom>
            <a:avLst/>
            <a:gdLst/>
            <a:ahLst/>
            <a:cxnLst/>
            <a:rect l="l" t="t" r="r" b="b"/>
            <a:pathLst>
              <a:path w="21000" h="11000">
                <a:moveTo>
                  <a:pt x="0" y="4500"/>
                </a:moveTo>
                <a:lnTo>
                  <a:pt x="10000" y="4500"/>
                </a:lnTo>
                <a:lnTo>
                  <a:pt x="10000" y="0"/>
                </a:lnTo>
                <a:lnTo>
                  <a:pt x="21000" y="5500"/>
                </a:lnTo>
                <a:lnTo>
                  <a:pt x="10000" y="11000"/>
                </a:lnTo>
                <a:lnTo>
                  <a:pt x="10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087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value-forward-0-0" descr="Editable line; source id value-forward-0-0"/>
          <p:cNvSpPr/>
          <p:nvPr/>
        </p:nvSpPr>
        <p:spPr>
          <a:xfrm>
            <a:off x="5278160" y="1295486"/>
            <a:ext cx="240541" cy="75599"/>
          </a:xfrm>
          <a:custGeom>
            <a:avLst/>
            <a:gdLst/>
            <a:ahLst/>
            <a:cxnLst/>
            <a:rect l="l" t="t" r="r" b="b"/>
            <a:pathLst>
              <a:path w="35000" h="11000">
                <a:moveTo>
                  <a:pt x="0" y="4700"/>
                </a:moveTo>
                <a:lnTo>
                  <a:pt x="24000" y="4700"/>
                </a:lnTo>
                <a:lnTo>
                  <a:pt x="24000" y="0"/>
                </a:lnTo>
                <a:lnTo>
                  <a:pt x="35000" y="5500"/>
                </a:lnTo>
                <a:lnTo>
                  <a:pt x="24000" y="11000"/>
                </a:lnTo>
                <a:lnTo>
                  <a:pt x="24000" y="6300"/>
                </a:lnTo>
                <a:lnTo>
                  <a:pt x="0" y="6300"/>
                </a:lnTo>
                <a:close/>
              </a:path>
            </a:pathLst>
          </a:custGeom>
          <a:solidFill>
            <a:srgbClr val="586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value-forward-1-0" descr="Editable line; source id value-forward-1-0"/>
          <p:cNvSpPr/>
          <p:nvPr/>
        </p:nvSpPr>
        <p:spPr>
          <a:xfrm>
            <a:off x="6700789" y="1295486"/>
            <a:ext cx="240541" cy="75599"/>
          </a:xfrm>
          <a:custGeom>
            <a:avLst/>
            <a:gdLst/>
            <a:ahLst/>
            <a:cxnLst/>
            <a:rect l="l" t="t" r="r" b="b"/>
            <a:pathLst>
              <a:path w="35000" h="11000">
                <a:moveTo>
                  <a:pt x="0" y="4700"/>
                </a:moveTo>
                <a:lnTo>
                  <a:pt x="24000" y="4700"/>
                </a:lnTo>
                <a:lnTo>
                  <a:pt x="24000" y="0"/>
                </a:lnTo>
                <a:lnTo>
                  <a:pt x="35000" y="5500"/>
                </a:lnTo>
                <a:lnTo>
                  <a:pt x="24000" y="11000"/>
                </a:lnTo>
                <a:lnTo>
                  <a:pt x="24000" y="6300"/>
                </a:lnTo>
                <a:lnTo>
                  <a:pt x="0" y="6300"/>
                </a:lnTo>
                <a:close/>
              </a:path>
            </a:pathLst>
          </a:custGeom>
          <a:solidFill>
            <a:srgbClr val="586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value-energy-0" descr="Editable line; source id value-energy-0"/>
          <p:cNvSpPr/>
          <p:nvPr/>
        </p:nvSpPr>
        <p:spPr>
          <a:xfrm>
            <a:off x="6010092" y="1828113"/>
            <a:ext cx="75599" cy="439847"/>
          </a:xfrm>
          <a:custGeom>
            <a:avLst/>
            <a:gdLst/>
            <a:ahLst/>
            <a:cxnLst/>
            <a:rect l="l" t="t" r="r" b="b"/>
            <a:pathLst>
              <a:path w="11000" h="64000">
                <a:moveTo>
                  <a:pt x="9000" y="0"/>
                </a:moveTo>
                <a:lnTo>
                  <a:pt x="9000" y="53000"/>
                </a:lnTo>
                <a:lnTo>
                  <a:pt x="11000" y="53000"/>
                </a:lnTo>
                <a:lnTo>
                  <a:pt x="5500" y="64000"/>
                </a:lnTo>
                <a:lnTo>
                  <a:pt x="0" y="53000"/>
                </a:lnTo>
                <a:lnTo>
                  <a:pt x="2000" y="53000"/>
                </a:lnTo>
                <a:lnTo>
                  <a:pt x="2000" y="0"/>
                </a:lnTo>
                <a:close/>
              </a:path>
            </a:pathLst>
          </a:custGeom>
          <a:solidFill>
            <a:srgbClr val="D987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alternation-right-0" descr="Editable line; source id alternation-right-0"/>
          <p:cNvSpPr/>
          <p:nvPr/>
        </p:nvSpPr>
        <p:spPr>
          <a:xfrm>
            <a:off x="6460248" y="2560045"/>
            <a:ext cx="226796" cy="75599"/>
          </a:xfrm>
          <a:custGeom>
            <a:avLst/>
            <a:gdLst/>
            <a:ahLst/>
            <a:cxnLst/>
            <a:rect l="l" t="t" r="r" b="b"/>
            <a:pathLst>
              <a:path w="33000" h="11000">
                <a:moveTo>
                  <a:pt x="0" y="4850"/>
                </a:moveTo>
                <a:lnTo>
                  <a:pt x="22000" y="4850"/>
                </a:lnTo>
                <a:lnTo>
                  <a:pt x="22000" y="0"/>
                </a:lnTo>
                <a:lnTo>
                  <a:pt x="33000" y="5500"/>
                </a:lnTo>
                <a:lnTo>
                  <a:pt x="22000" y="11000"/>
                </a:lnTo>
                <a:lnTo>
                  <a:pt x="22000" y="6150"/>
                </a:lnTo>
                <a:lnTo>
                  <a:pt x="0" y="6150"/>
                </a:lnTo>
                <a:close/>
              </a:path>
            </a:pathLst>
          </a:custGeom>
          <a:solidFill>
            <a:srgbClr val="D987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alternation-left-0" descr="Editable line; source id alternation-left-0"/>
          <p:cNvSpPr/>
          <p:nvPr/>
        </p:nvSpPr>
        <p:spPr>
          <a:xfrm>
            <a:off x="6460248" y="2635644"/>
            <a:ext cx="226796" cy="75599"/>
          </a:xfrm>
          <a:custGeom>
            <a:avLst/>
            <a:gdLst/>
            <a:ahLst/>
            <a:cxnLst/>
            <a:rect l="l" t="t" r="r" b="b"/>
            <a:pathLst>
              <a:path w="33000" h="11000">
                <a:moveTo>
                  <a:pt x="33000" y="6150"/>
                </a:moveTo>
                <a:lnTo>
                  <a:pt x="11000" y="6150"/>
                </a:lnTo>
                <a:lnTo>
                  <a:pt x="11000" y="11000"/>
                </a:lnTo>
                <a:lnTo>
                  <a:pt x="0" y="5500"/>
                </a:lnTo>
                <a:lnTo>
                  <a:pt x="11000" y="0"/>
                </a:lnTo>
                <a:lnTo>
                  <a:pt x="11000" y="4850"/>
                </a:lnTo>
                <a:lnTo>
                  <a:pt x="33000" y="4850"/>
                </a:lnTo>
                <a:close/>
              </a:path>
            </a:pathLst>
          </a:custGeom>
          <a:solidFill>
            <a:srgbClr val="D987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" name="actor-transfer-0" descr="Editable line; source id actor-transfer-0"/>
          <p:cNvCxnSpPr/>
          <p:nvPr/>
        </p:nvCxnSpPr>
        <p:spPr>
          <a:xfrm>
            <a:off x="8144035" y="2570353"/>
            <a:ext cx="116835" cy="0"/>
          </a:xfrm>
          <a:prstGeom prst="line">
            <a:avLst/>
          </a:prstGeom>
          <a:ln w="20617">
            <a:solidFill>
              <a:srgbClr val="D9870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actor-transfer-1" descr="Editable line; source id actor-transfer-1"/>
          <p:cNvCxnSpPr/>
          <p:nvPr/>
        </p:nvCxnSpPr>
        <p:spPr>
          <a:xfrm flipV="1">
            <a:off x="8260870" y="1250813"/>
            <a:ext cx="0" cy="1319540"/>
          </a:xfrm>
          <a:prstGeom prst="line">
            <a:avLst/>
          </a:prstGeom>
          <a:ln w="20617">
            <a:solidFill>
              <a:srgbClr val="D9870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actor-transfer-2" descr="Editable line; source id actor-transfer-2"/>
          <p:cNvSpPr/>
          <p:nvPr/>
        </p:nvSpPr>
        <p:spPr>
          <a:xfrm>
            <a:off x="8260870" y="1213015"/>
            <a:ext cx="556681" cy="75599"/>
          </a:xfrm>
          <a:custGeom>
            <a:avLst/>
            <a:gdLst/>
            <a:ahLst/>
            <a:cxnLst/>
            <a:rect l="l" t="t" r="r" b="b"/>
            <a:pathLst>
              <a:path w="81000" h="11000">
                <a:moveTo>
                  <a:pt x="0" y="4000"/>
                </a:moveTo>
                <a:lnTo>
                  <a:pt x="70000" y="4000"/>
                </a:lnTo>
                <a:lnTo>
                  <a:pt x="70000" y="0"/>
                </a:lnTo>
                <a:lnTo>
                  <a:pt x="81000" y="5500"/>
                </a:lnTo>
                <a:lnTo>
                  <a:pt x="70000" y="11000"/>
                </a:lnTo>
                <a:lnTo>
                  <a:pt x="70000" y="7000"/>
                </a:lnTo>
                <a:lnTo>
                  <a:pt x="0" y="7000"/>
                </a:lnTo>
                <a:close/>
              </a:path>
            </a:pathLst>
          </a:custGeom>
          <a:solidFill>
            <a:srgbClr val="D987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actor-vla-0" descr="Editable line; source id actor-vla-0"/>
          <p:cNvSpPr/>
          <p:nvPr/>
        </p:nvSpPr>
        <p:spPr>
          <a:xfrm>
            <a:off x="9686935" y="1903711"/>
            <a:ext cx="75599" cy="412356"/>
          </a:xfrm>
          <a:custGeom>
            <a:avLst/>
            <a:gdLst/>
            <a:ahLst/>
            <a:cxnLst/>
            <a:rect l="l" t="t" r="r" b="b"/>
            <a:pathLst>
              <a:path w="11000" h="60000">
                <a:moveTo>
                  <a:pt x="7500" y="0"/>
                </a:moveTo>
                <a:lnTo>
                  <a:pt x="7500" y="49000"/>
                </a:lnTo>
                <a:lnTo>
                  <a:pt x="11000" y="49000"/>
                </a:lnTo>
                <a:lnTo>
                  <a:pt x="5500" y="60000"/>
                </a:lnTo>
                <a:lnTo>
                  <a:pt x="0" y="49000"/>
                </a:lnTo>
                <a:lnTo>
                  <a:pt x="3500" y="49000"/>
                </a:lnTo>
                <a:lnTo>
                  <a:pt x="3500" y="0"/>
                </a:lnTo>
                <a:close/>
              </a:path>
            </a:pathLst>
          </a:custGeom>
          <a:solidFill>
            <a:srgbClr val="D987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vla-execute-0" descr="Editable line; source id vla-execute-0"/>
          <p:cNvSpPr/>
          <p:nvPr/>
        </p:nvSpPr>
        <p:spPr>
          <a:xfrm>
            <a:off x="10037438" y="3896767"/>
            <a:ext cx="75599" cy="329885"/>
          </a:xfrm>
          <a:custGeom>
            <a:avLst/>
            <a:gdLst/>
            <a:ahLst/>
            <a:cxnLst/>
            <a:rect l="l" t="t" r="r" b="b"/>
            <a:pathLst>
              <a:path w="11000" h="48000">
                <a:moveTo>
                  <a:pt x="7000" y="0"/>
                </a:moveTo>
                <a:lnTo>
                  <a:pt x="7000" y="37000"/>
                </a:lnTo>
                <a:lnTo>
                  <a:pt x="11000" y="37000"/>
                </a:lnTo>
                <a:lnTo>
                  <a:pt x="5500" y="48000"/>
                </a:lnTo>
                <a:lnTo>
                  <a:pt x="0" y="37000"/>
                </a:lnTo>
                <a:lnTo>
                  <a:pt x="4000" y="37000"/>
                </a:lnTo>
                <a:lnTo>
                  <a:pt x="4000" y="0"/>
                </a:lnTo>
                <a:close/>
              </a:path>
            </a:pathLst>
          </a:custGeom>
          <a:solidFill>
            <a:srgbClr val="087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" name="runtime-return-0" descr="Editable line; source id runtime-return-0"/>
          <p:cNvCxnSpPr/>
          <p:nvPr/>
        </p:nvCxnSpPr>
        <p:spPr>
          <a:xfrm>
            <a:off x="11167981" y="4625262"/>
            <a:ext cx="419229" cy="0"/>
          </a:xfrm>
          <a:prstGeom prst="line">
            <a:avLst/>
          </a:prstGeom>
          <a:ln w="20617">
            <a:solidFill>
              <a:srgbClr val="0879B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untime-return-1" descr="Editable line; source id runtime-return-1"/>
          <p:cNvSpPr/>
          <p:nvPr/>
        </p:nvSpPr>
        <p:spPr>
          <a:xfrm>
            <a:off x="11549411" y="865948"/>
            <a:ext cx="75599" cy="3759314"/>
          </a:xfrm>
          <a:custGeom>
            <a:avLst/>
            <a:gdLst/>
            <a:ahLst/>
            <a:cxnLst/>
            <a:rect l="l" t="t" r="r" b="b"/>
            <a:pathLst>
              <a:path w="11000" h="547000">
                <a:moveTo>
                  <a:pt x="4000" y="547000"/>
                </a:moveTo>
                <a:lnTo>
                  <a:pt x="4000" y="11000"/>
                </a:lnTo>
                <a:lnTo>
                  <a:pt x="0" y="11000"/>
                </a:lnTo>
                <a:lnTo>
                  <a:pt x="5500" y="0"/>
                </a:lnTo>
                <a:lnTo>
                  <a:pt x="11000" y="11000"/>
                </a:lnTo>
                <a:lnTo>
                  <a:pt x="7000" y="11000"/>
                </a:lnTo>
                <a:lnTo>
                  <a:pt x="7000" y="547000"/>
                </a:lnTo>
                <a:close/>
              </a:path>
            </a:pathLst>
          </a:custGeom>
          <a:solidFill>
            <a:srgbClr val="087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bs-to-actor-0" descr="Editable line; source id obs-to-actor-0"/>
          <p:cNvSpPr/>
          <p:nvPr/>
        </p:nvSpPr>
        <p:spPr>
          <a:xfrm>
            <a:off x="10686899" y="1034327"/>
            <a:ext cx="900311" cy="75599"/>
          </a:xfrm>
          <a:custGeom>
            <a:avLst/>
            <a:gdLst/>
            <a:ahLst/>
            <a:cxnLst/>
            <a:rect l="l" t="t" r="r" b="b"/>
            <a:pathLst>
              <a:path w="131000" h="11000">
                <a:moveTo>
                  <a:pt x="131000" y="7000"/>
                </a:moveTo>
                <a:lnTo>
                  <a:pt x="11000" y="7000"/>
                </a:lnTo>
                <a:lnTo>
                  <a:pt x="11000" y="11000"/>
                </a:lnTo>
                <a:lnTo>
                  <a:pt x="0" y="5500"/>
                </a:lnTo>
                <a:lnTo>
                  <a:pt x="11000" y="0"/>
                </a:lnTo>
                <a:lnTo>
                  <a:pt x="11000" y="4000"/>
                </a:lnTo>
                <a:lnTo>
                  <a:pt x="131000" y="4000"/>
                </a:lnTo>
                <a:close/>
              </a:path>
            </a:pathLst>
          </a:custGeom>
          <a:solidFill>
            <a:srgbClr val="087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bs-to-vla-0" descr="Editable line; source id obs-to-vla-0"/>
          <p:cNvSpPr/>
          <p:nvPr/>
        </p:nvSpPr>
        <p:spPr>
          <a:xfrm>
            <a:off x="11422268" y="2615026"/>
            <a:ext cx="164942" cy="75599"/>
          </a:xfrm>
          <a:custGeom>
            <a:avLst/>
            <a:gdLst/>
            <a:ahLst/>
            <a:cxnLst/>
            <a:rect l="l" t="t" r="r" b="b"/>
            <a:pathLst>
              <a:path w="24000" h="11000">
                <a:moveTo>
                  <a:pt x="24000" y="6750"/>
                </a:moveTo>
                <a:lnTo>
                  <a:pt x="11000" y="6750"/>
                </a:lnTo>
                <a:lnTo>
                  <a:pt x="11000" y="11000"/>
                </a:lnTo>
                <a:lnTo>
                  <a:pt x="0" y="5500"/>
                </a:lnTo>
                <a:lnTo>
                  <a:pt x="11000" y="0"/>
                </a:lnTo>
                <a:lnTo>
                  <a:pt x="11000" y="4250"/>
                </a:lnTo>
                <a:lnTo>
                  <a:pt x="24000" y="4250"/>
                </a:lnTo>
                <a:close/>
              </a:path>
            </a:pathLst>
          </a:custGeom>
          <a:solidFill>
            <a:srgbClr val="087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footer-rule-0" descr="Editable line; source id footer-rule-0"/>
          <p:cNvCxnSpPr/>
          <p:nvPr/>
        </p:nvCxnSpPr>
        <p:spPr>
          <a:xfrm>
            <a:off x="206178" y="5614917"/>
            <a:ext cx="11772770" cy="0"/>
          </a:xfrm>
          <a:prstGeom prst="line">
            <a:avLst/>
          </a:prstGeom>
          <a:ln w="9621">
            <a:solidFill>
              <a:srgbClr val="A7BE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heading-a" descr="Editable text; source id heading-a"/>
          <p:cNvSpPr txBox="1"/>
          <p:nvPr/>
        </p:nvSpPr>
        <p:spPr>
          <a:xfrm>
            <a:off x="233668" y="82471"/>
            <a:ext cx="3470665" cy="34363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427"/>
              </a:lnSpc>
              <a:spcBef>
                <a:spcPts val="0"/>
              </a:spcBef>
              <a:spcAft>
                <a:spcPts val="0"/>
              </a:spcAft>
              <a:defRPr sz="2110" b="1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2110" b="1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(a)  Verified experience</a:t>
            </a:r>
          </a:p>
        </p:txBody>
      </p:sp>
      <p:sp>
        <p:nvSpPr>
          <p:cNvPr id="88" name="heading-b" descr="Editable text; source id heading-b"/>
          <p:cNvSpPr txBox="1"/>
          <p:nvPr/>
        </p:nvSpPr>
        <p:spPr>
          <a:xfrm>
            <a:off x="3979237" y="82471"/>
            <a:ext cx="4226651" cy="34363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427"/>
              </a:lnSpc>
              <a:spcBef>
                <a:spcPts val="0"/>
              </a:spcBef>
              <a:spcAft>
                <a:spcPts val="0"/>
              </a:spcAft>
              <a:defRPr sz="2110" b="1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2110" b="1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(b)  Offline ASBS consolidation</a:t>
            </a:r>
          </a:p>
        </p:txBody>
      </p:sp>
      <p:sp>
        <p:nvSpPr>
          <p:cNvPr id="89" name="heading-c" descr="Editable text; source id heading-c"/>
          <p:cNvSpPr txBox="1"/>
          <p:nvPr/>
        </p:nvSpPr>
        <p:spPr>
          <a:xfrm>
            <a:off x="8439557" y="82471"/>
            <a:ext cx="3621862" cy="34363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427"/>
              </a:lnSpc>
              <a:spcBef>
                <a:spcPts val="0"/>
              </a:spcBef>
              <a:spcAft>
                <a:spcPts val="0"/>
              </a:spcAft>
              <a:defRPr sz="2110" b="1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2110" b="1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(c)  Teacher-free execution</a:t>
            </a:r>
          </a:p>
        </p:txBody>
      </p:sp>
      <p:sp>
        <p:nvSpPr>
          <p:cNvPr id="90" name="missed-label" descr="Editable text; source id missed-label"/>
          <p:cNvSpPr txBox="1"/>
          <p:nvPr/>
        </p:nvSpPr>
        <p:spPr>
          <a:xfrm>
            <a:off x="274904" y="4680243"/>
            <a:ext cx="1443246" cy="398611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31"/>
              </a:lnSpc>
              <a:spcBef>
                <a:spcPts val="0"/>
              </a:spcBef>
              <a:spcAft>
                <a:spcPts val="0"/>
              </a:spcAft>
              <a:defRPr sz="1244" b="0" i="1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44" b="0" i="1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rPr>
              <a:t>Missed grasp</a:t>
            </a:r>
          </a:p>
          <a:p>
            <a:pPr algn="ctr" fontAlgn="base">
              <a:lnSpc>
                <a:spcPts val="1431"/>
              </a:lnSpc>
              <a:spcBef>
                <a:spcPts val="0"/>
              </a:spcBef>
              <a:spcAft>
                <a:spcPts val="0"/>
              </a:spcAft>
              <a:defRPr sz="1244" b="0" i="1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44" b="0" i="1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rPr>
              <a:t>(e.g., slipped)</a:t>
            </a:r>
          </a:p>
        </p:txBody>
      </p:sp>
      <p:sp>
        <p:nvSpPr>
          <p:cNvPr id="91" name="recovery-title" descr="Editable text; source id recovery-title"/>
          <p:cNvSpPr txBox="1"/>
          <p:nvPr/>
        </p:nvSpPr>
        <p:spPr>
          <a:xfrm>
            <a:off x="865948" y="542935"/>
            <a:ext cx="2604716" cy="240541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93"/>
              </a:lnSpc>
              <a:spcBef>
                <a:spcPts val="0"/>
              </a:spcBef>
              <a:spcAft>
                <a:spcPts val="0"/>
              </a:spcAft>
              <a:defRPr sz="1298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98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rPr>
              <a:t>Recover after a missed grasp</a:t>
            </a:r>
          </a:p>
        </p:txBody>
      </p:sp>
      <p:sp>
        <p:nvSpPr>
          <p:cNvPr id="92" name="vla-proposals" descr="Editable text; source id vla-proposals"/>
          <p:cNvSpPr txBox="1"/>
          <p:nvPr/>
        </p:nvSpPr>
        <p:spPr>
          <a:xfrm>
            <a:off x="2096144" y="872820"/>
            <a:ext cx="1477609" cy="23366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31"/>
              </a:lnSpc>
              <a:spcBef>
                <a:spcPts val="0"/>
              </a:spcBef>
              <a:spcAft>
                <a:spcPts val="0"/>
              </a:spcAft>
              <a:defRPr sz="1244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244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Frozen VLA proposals</a:t>
            </a:r>
          </a:p>
        </p:txBody>
      </p:sp>
      <p:sp>
        <p:nvSpPr>
          <p:cNvPr id="93" name="proposal-ellipsis-0" descr="Editable text; source id proposal-ellipsis-0"/>
          <p:cNvSpPr txBox="1"/>
          <p:nvPr/>
        </p:nvSpPr>
        <p:spPr>
          <a:xfrm>
            <a:off x="2865875" y="1175215"/>
            <a:ext cx="240541" cy="240541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61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461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···</a:t>
            </a:r>
          </a:p>
        </p:txBody>
      </p:sp>
      <p:sp>
        <p:nvSpPr>
          <p:cNvPr id="94" name="proposal-ellipsis-1" descr="Editable text; source id proposal-ellipsis-1"/>
          <p:cNvSpPr txBox="1"/>
          <p:nvPr/>
        </p:nvSpPr>
        <p:spPr>
          <a:xfrm>
            <a:off x="2865875" y="1560081"/>
            <a:ext cx="240541" cy="240541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61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461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···</a:t>
            </a:r>
          </a:p>
        </p:txBody>
      </p:sp>
      <p:sp>
        <p:nvSpPr>
          <p:cNvPr id="95" name="proposal-ellipsis-2" descr="Editable text; source id proposal-ellipsis-2"/>
          <p:cNvSpPr txBox="1"/>
          <p:nvPr/>
        </p:nvSpPr>
        <p:spPr>
          <a:xfrm>
            <a:off x="2865875" y="1965564"/>
            <a:ext cx="240541" cy="240541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61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461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···</a:t>
            </a:r>
          </a:p>
        </p:txBody>
      </p:sp>
      <p:sp>
        <p:nvSpPr>
          <p:cNvPr id="96" name="selection-label" descr="Editable text; source id selection-label"/>
          <p:cNvSpPr txBox="1"/>
          <p:nvPr/>
        </p:nvSpPr>
        <p:spPr>
          <a:xfrm>
            <a:off x="2542863" y="2329812"/>
            <a:ext cx="1058381" cy="426101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18"/>
              </a:lnSpc>
              <a:spcBef>
                <a:spcPts val="0"/>
              </a:spcBef>
              <a:spcAft>
                <a:spcPts val="0"/>
              </a:spcAft>
              <a:defRPr sz="1406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406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S2 selects</a:t>
            </a:r>
          </a:p>
          <a:p>
            <a:pPr algn="ctr" fontAlgn="base">
              <a:lnSpc>
                <a:spcPts val="1618"/>
              </a:lnSpc>
              <a:spcBef>
                <a:spcPts val="0"/>
              </a:spcBef>
              <a:spcAft>
                <a:spcPts val="0"/>
              </a:spcAft>
              <a:defRPr sz="1406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406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or abstains</a:t>
            </a:r>
          </a:p>
        </p:txBody>
      </p:sp>
      <p:sp>
        <p:nvSpPr>
          <p:cNvPr id="97" name="prefix-title" descr="Editable text; source id prefix-title"/>
          <p:cNvSpPr txBox="1"/>
          <p:nvPr/>
        </p:nvSpPr>
        <p:spPr>
          <a:xfrm>
            <a:off x="2171742" y="2852130"/>
            <a:ext cx="1395138" cy="268031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61" b="1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461" b="1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Execute prefix</a:t>
            </a:r>
          </a:p>
        </p:txBody>
      </p:sp>
      <p:sp>
        <p:nvSpPr>
          <p:cNvPr id="98" name="prefix-dots" descr="Editable text; source id prefix-dots"/>
          <p:cNvSpPr txBox="1"/>
          <p:nvPr/>
        </p:nvSpPr>
        <p:spPr>
          <a:xfrm>
            <a:off x="2927729" y="3147652"/>
            <a:ext cx="247413" cy="247413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42"/>
              </a:lnSpc>
              <a:spcBef>
                <a:spcPts val="0"/>
              </a:spcBef>
              <a:spcAft>
                <a:spcPts val="0"/>
              </a:spcAft>
              <a:defRPr sz="1515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515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···</a:t>
            </a:r>
          </a:p>
        </p:txBody>
      </p:sp>
      <p:sp>
        <p:nvSpPr>
          <p:cNvPr id="99" name="records-title" descr="Editable text; source id records-title"/>
          <p:cNvSpPr txBox="1"/>
          <p:nvPr/>
        </p:nvSpPr>
        <p:spPr>
          <a:xfrm>
            <a:off x="2034290" y="3889893"/>
            <a:ext cx="1505100" cy="247413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defRPr sz="1352" b="1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352" b="1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Verified transitions</a:t>
            </a:r>
          </a:p>
        </p:txBody>
      </p:sp>
      <p:sp>
        <p:nvSpPr>
          <p:cNvPr id="100" name="records-dots" descr="Editable text; source id records-dots"/>
          <p:cNvSpPr txBox="1"/>
          <p:nvPr/>
        </p:nvSpPr>
        <p:spPr>
          <a:xfrm>
            <a:off x="3209506" y="4357231"/>
            <a:ext cx="219923" cy="240541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61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461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···</a:t>
            </a:r>
          </a:p>
        </p:txBody>
      </p:sp>
      <p:sp>
        <p:nvSpPr>
          <p:cNvPr id="101" name="records-subtitle" descr="Editable text; source id records-subtitle"/>
          <p:cNvSpPr txBox="1"/>
          <p:nvPr/>
        </p:nvSpPr>
        <p:spPr>
          <a:xfrm>
            <a:off x="2082399" y="4858931"/>
            <a:ext cx="1415756" cy="19243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69"/>
              </a:lnSpc>
              <a:spcBef>
                <a:spcPts val="0"/>
              </a:spcBef>
              <a:spcAft>
                <a:spcPts val="0"/>
              </a:spcAft>
              <a:defRPr sz="1190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190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Successes and failures</a:t>
            </a:r>
          </a:p>
        </p:txBody>
      </p:sp>
      <p:sp>
        <p:nvSpPr>
          <p:cNvPr id="102" name="value-title" descr="Editable text; source id value-title"/>
          <p:cNvSpPr txBox="1"/>
          <p:nvPr/>
        </p:nvSpPr>
        <p:spPr>
          <a:xfrm>
            <a:off x="4157925" y="549808"/>
            <a:ext cx="3869276" cy="295521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42"/>
              </a:lnSpc>
              <a:spcBef>
                <a:spcPts val="0"/>
              </a:spcBef>
              <a:spcAft>
                <a:spcPts val="0"/>
              </a:spcAft>
              <a:defRPr sz="1515" b="1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515" b="1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Value under student continuation</a:t>
            </a:r>
          </a:p>
        </p:txBody>
      </p:sp>
      <p:sp>
        <p:nvSpPr>
          <p:cNvPr id="103" name="value-head-0" descr="Editable text; source id value-head-0"/>
          <p:cNvSpPr txBox="1"/>
          <p:nvPr/>
        </p:nvSpPr>
        <p:spPr>
          <a:xfrm>
            <a:off x="4151052" y="852202"/>
            <a:ext cx="1058381" cy="23366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31"/>
              </a:lnSpc>
              <a:spcBef>
                <a:spcPts val="0"/>
              </a:spcBef>
              <a:spcAft>
                <a:spcPts val="0"/>
              </a:spcAft>
              <a:defRPr sz="1244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244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Prefix</a:t>
            </a:r>
          </a:p>
        </p:txBody>
      </p:sp>
      <p:sp>
        <p:nvSpPr>
          <p:cNvPr id="104" name="value-tail-0" descr="Editable text; source id value-tail-0"/>
          <p:cNvSpPr txBox="1"/>
          <p:nvPr/>
        </p:nvSpPr>
        <p:spPr>
          <a:xfrm>
            <a:off x="4907039" y="1195833"/>
            <a:ext cx="213050" cy="21305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defRPr sz="1352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352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···</a:t>
            </a:r>
          </a:p>
        </p:txBody>
      </p:sp>
      <p:sp>
        <p:nvSpPr>
          <p:cNvPr id="105" name="value-foot-0" descr="Editable text; source id value-foot-0"/>
          <p:cNvSpPr txBox="1"/>
          <p:nvPr/>
        </p:nvSpPr>
        <p:spPr>
          <a:xfrm>
            <a:off x="4020473" y="1539463"/>
            <a:ext cx="1340157" cy="20617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69"/>
              </a:lnSpc>
              <a:spcBef>
                <a:spcPts val="0"/>
              </a:spcBef>
              <a:spcAft>
                <a:spcPts val="0"/>
              </a:spcAft>
              <a:defRPr sz="1190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190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Candidate prefix</a:t>
            </a:r>
          </a:p>
        </p:txBody>
      </p:sp>
      <p:sp>
        <p:nvSpPr>
          <p:cNvPr id="106" name="value-head-1" descr="Editable text; source id value-head-1"/>
          <p:cNvSpPr txBox="1"/>
          <p:nvPr/>
        </p:nvSpPr>
        <p:spPr>
          <a:xfrm>
            <a:off x="5573681" y="852202"/>
            <a:ext cx="1058381" cy="23366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31"/>
              </a:lnSpc>
              <a:spcBef>
                <a:spcPts val="0"/>
              </a:spcBef>
              <a:spcAft>
                <a:spcPts val="0"/>
              </a:spcAft>
              <a:defRPr sz="1244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244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Fixed student</a:t>
            </a:r>
          </a:p>
        </p:txBody>
      </p:sp>
      <p:sp>
        <p:nvSpPr>
          <p:cNvPr id="107" name="value-tail-1" descr="Editable text; source id value-tail-1"/>
          <p:cNvSpPr txBox="1"/>
          <p:nvPr/>
        </p:nvSpPr>
        <p:spPr>
          <a:xfrm>
            <a:off x="6329668" y="1195833"/>
            <a:ext cx="213050" cy="21305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defRPr sz="1352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352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···</a:t>
            </a:r>
          </a:p>
        </p:txBody>
      </p:sp>
      <p:sp>
        <p:nvSpPr>
          <p:cNvPr id="108" name="value-foot-1" descr="Editable text; source id value-foot-1"/>
          <p:cNvSpPr txBox="1"/>
          <p:nvPr/>
        </p:nvSpPr>
        <p:spPr>
          <a:xfrm>
            <a:off x="5443102" y="1539463"/>
            <a:ext cx="1340157" cy="20617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69"/>
              </a:lnSpc>
              <a:spcBef>
                <a:spcPts val="0"/>
              </a:spcBef>
              <a:spcAft>
                <a:spcPts val="0"/>
              </a:spcAft>
              <a:defRPr sz="1190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190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Student continuation</a:t>
            </a:r>
          </a:p>
        </p:txBody>
      </p:sp>
      <p:sp>
        <p:nvSpPr>
          <p:cNvPr id="109" name="value-head-2" descr="Editable text; source id value-head-2"/>
          <p:cNvSpPr txBox="1"/>
          <p:nvPr/>
        </p:nvSpPr>
        <p:spPr>
          <a:xfrm>
            <a:off x="6968820" y="852202"/>
            <a:ext cx="1058381" cy="23366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31"/>
              </a:lnSpc>
              <a:spcBef>
                <a:spcPts val="0"/>
              </a:spcBef>
              <a:spcAft>
                <a:spcPts val="0"/>
              </a:spcAft>
              <a:defRPr sz="1244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244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Outcome</a:t>
            </a:r>
          </a:p>
        </p:txBody>
      </p:sp>
      <p:sp>
        <p:nvSpPr>
          <p:cNvPr id="110" name="value-tail-2" descr="Editable text; source id value-tail-2"/>
          <p:cNvSpPr txBox="1"/>
          <p:nvPr/>
        </p:nvSpPr>
        <p:spPr>
          <a:xfrm>
            <a:off x="7724807" y="1195833"/>
            <a:ext cx="213050" cy="21305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defRPr sz="1352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352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···</a:t>
            </a:r>
          </a:p>
        </p:txBody>
      </p:sp>
      <p:sp>
        <p:nvSpPr>
          <p:cNvPr id="111" name="value-foot-2" descr="Editable text; source id value-foot-2"/>
          <p:cNvSpPr txBox="1"/>
          <p:nvPr/>
        </p:nvSpPr>
        <p:spPr>
          <a:xfrm>
            <a:off x="6838241" y="1539463"/>
            <a:ext cx="1340157" cy="20617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69"/>
              </a:lnSpc>
              <a:spcBef>
                <a:spcPts val="0"/>
              </a:spcBef>
              <a:spcAft>
                <a:spcPts val="0"/>
              </a:spcAft>
              <a:defRPr sz="1190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190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Future outcome</a:t>
            </a:r>
          </a:p>
        </p:txBody>
      </p:sp>
      <p:sp>
        <p:nvSpPr>
          <p:cNvPr id="112" name="energy-label" descr="Editable text; source id energy-label"/>
          <p:cNvSpPr txBox="1"/>
          <p:nvPr/>
        </p:nvSpPr>
        <p:spPr>
          <a:xfrm>
            <a:off x="6178471" y="1876220"/>
            <a:ext cx="755986" cy="247413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42"/>
              </a:lnSpc>
              <a:spcBef>
                <a:spcPts val="0"/>
              </a:spcBef>
              <a:spcAft>
                <a:spcPts val="0"/>
              </a:spcAft>
              <a:defRPr sz="1515" b="1" i="0" lang="zh-CN" dirty="0">
                <a:solidFill>
                  <a:srgbClr val="D98709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515" b="1" i="0" lang="zh-CN" dirty="0">
                <a:solidFill>
                  <a:srgbClr val="D98709"/>
                </a:solidFill>
                <a:latin typeface="Liberation Serif"/>
                <a:ea typeface="Liberation Serif"/>
                <a:cs typeface="Liberation Serif"/>
              </a:rPr>
              <a:t>Energy</a:t>
            </a:r>
          </a:p>
        </p:txBody>
      </p:sp>
      <p:sp>
        <p:nvSpPr>
          <p:cNvPr id="113" name="asbs-title" descr="Editable text; source id asbs-title"/>
          <p:cNvSpPr txBox="1"/>
          <p:nvPr/>
        </p:nvSpPr>
        <p:spPr>
          <a:xfrm>
            <a:off x="4206033" y="2274831"/>
            <a:ext cx="969037" cy="32988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551"/>
              </a:lnSpc>
              <a:spcBef>
                <a:spcPts val="0"/>
              </a:spcBef>
              <a:spcAft>
                <a:spcPts val="0"/>
              </a:spcAft>
              <a:defRPr sz="2218" b="1" i="0" lang="zh-CN" dirty="0">
                <a:solidFill>
                  <a:srgbClr val="9E6108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2218" b="1" i="0" lang="zh-CN" dirty="0">
                <a:solidFill>
                  <a:srgbClr val="9E6108"/>
                </a:solidFill>
                <a:latin typeface="Liberation Serif"/>
                <a:ea typeface="Liberation Serif"/>
                <a:cs typeface="Liberation Serif"/>
              </a:rPr>
              <a:t>ASBS</a:t>
            </a:r>
          </a:p>
        </p:txBody>
      </p:sp>
      <p:sp>
        <p:nvSpPr>
          <p:cNvPr id="114" name="adjoint-label" descr="Editable text; source id adjoint-label"/>
          <p:cNvSpPr txBox="1"/>
          <p:nvPr/>
        </p:nvSpPr>
        <p:spPr>
          <a:xfrm>
            <a:off x="5360631" y="2542863"/>
            <a:ext cx="1085871" cy="20617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44"/>
              </a:lnSpc>
              <a:spcBef>
                <a:spcPts val="0"/>
              </a:spcBef>
              <a:spcAft>
                <a:spcPts val="0"/>
              </a:spcAft>
              <a:defRPr sz="1082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82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rPr>
              <a:t>Adjoint matching</a:t>
            </a:r>
          </a:p>
        </p:txBody>
      </p:sp>
      <p:sp>
        <p:nvSpPr>
          <p:cNvPr id="115" name="corrector-label" descr="Editable text; source id corrector-label"/>
          <p:cNvSpPr txBox="1"/>
          <p:nvPr/>
        </p:nvSpPr>
        <p:spPr>
          <a:xfrm>
            <a:off x="6851986" y="2542863"/>
            <a:ext cx="1209578" cy="20617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44"/>
              </a:lnSpc>
              <a:spcBef>
                <a:spcPts val="0"/>
              </a:spcBef>
              <a:spcAft>
                <a:spcPts val="0"/>
              </a:spcAft>
              <a:defRPr sz="1082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82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rPr>
              <a:t>Corrector matching</a:t>
            </a:r>
          </a:p>
        </p:txBody>
      </p:sp>
      <p:sp>
        <p:nvSpPr>
          <p:cNvPr id="116" name="native-prior" descr="Editable text; source id native-prior"/>
          <p:cNvSpPr txBox="1"/>
          <p:nvPr/>
        </p:nvSpPr>
        <p:spPr>
          <a:xfrm>
            <a:off x="4254141" y="4474065"/>
            <a:ext cx="1092744" cy="46046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18"/>
              </a:lnSpc>
              <a:spcBef>
                <a:spcPts val="0"/>
              </a:spcBef>
              <a:spcAft>
                <a:spcPts val="0"/>
              </a:spcAft>
              <a:defRPr sz="1406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406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Native</a:t>
            </a:r>
          </a:p>
          <a:p>
            <a:pPr algn="ctr" fontAlgn="base">
              <a:lnSpc>
                <a:spcPts val="1618"/>
              </a:lnSpc>
              <a:spcBef>
                <a:spcPts val="0"/>
              </a:spcBef>
              <a:spcAft>
                <a:spcPts val="0"/>
              </a:spcAft>
              <a:defRPr sz="1406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406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latent prior</a:t>
            </a:r>
          </a:p>
        </p:txBody>
      </p:sp>
      <p:sp>
        <p:nvSpPr>
          <p:cNvPr id="117" name="learned-proposal" descr="Editable text; source id learned-proposal"/>
          <p:cNvSpPr txBox="1"/>
          <p:nvPr/>
        </p:nvSpPr>
        <p:spPr>
          <a:xfrm>
            <a:off x="6886349" y="4467192"/>
            <a:ext cx="1037763" cy="611661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defRPr sz="1352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352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Learned</a:t>
            </a:r>
          </a:p>
          <a:p>
            <a:pPr algn="ctr" fontAlgn="base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defRPr sz="1352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352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proposer</a:t>
            </a:r>
          </a:p>
          <a:p>
            <a:pPr algn="ctr" fontAlgn="base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defRPr sz="1352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352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(from ASBS)</a:t>
            </a:r>
          </a:p>
        </p:txBody>
      </p:sp>
      <p:sp>
        <p:nvSpPr>
          <p:cNvPr id="118" name="transfer-label" descr="Editable text; source id transfer-label"/>
          <p:cNvSpPr txBox="1"/>
          <p:nvPr/>
        </p:nvSpPr>
        <p:spPr>
          <a:xfrm>
            <a:off x="8295233" y="1312667"/>
            <a:ext cx="536063" cy="41922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69"/>
              </a:lnSpc>
              <a:spcBef>
                <a:spcPts val="0"/>
              </a:spcBef>
              <a:spcAft>
                <a:spcPts val="0"/>
              </a:spcAft>
              <a:defRPr sz="1190" b="0" i="0" lang="zh-CN" dirty="0">
                <a:solidFill>
                  <a:srgbClr val="D98709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190" b="0" i="0" lang="zh-CN" dirty="0">
                <a:solidFill>
                  <a:srgbClr val="D98709"/>
                </a:solidFill>
                <a:latin typeface="Liberation Serif"/>
                <a:ea typeface="Liberation Serif"/>
                <a:cs typeface="Liberation Serif"/>
              </a:rPr>
              <a:t>Deploy</a:t>
            </a:r>
          </a:p>
          <a:p>
            <a:pPr algn="ctr" fontAlgn="base">
              <a:lnSpc>
                <a:spcPts val="1369"/>
              </a:lnSpc>
              <a:spcBef>
                <a:spcPts val="0"/>
              </a:spcBef>
              <a:spcAft>
                <a:spcPts val="0"/>
              </a:spcAft>
              <a:defRPr sz="1190" b="0" i="0" lang="zh-CN" dirty="0">
                <a:solidFill>
                  <a:srgbClr val="D98709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190" b="0" i="0" lang="zh-CN" dirty="0">
                <a:solidFill>
                  <a:srgbClr val="D98709"/>
                </a:solidFill>
                <a:latin typeface="Liberation Serif"/>
                <a:ea typeface="Liberation Serif"/>
                <a:cs typeface="Liberation Serif"/>
              </a:rPr>
              <a:t>proposer</a:t>
            </a:r>
          </a:p>
        </p:txBody>
      </p:sp>
      <p:sp>
        <p:nvSpPr>
          <p:cNvPr id="119" name="proposer-label" descr="Editable text; source id proposer-label"/>
          <p:cNvSpPr txBox="1"/>
          <p:nvPr/>
        </p:nvSpPr>
        <p:spPr>
          <a:xfrm>
            <a:off x="8893149" y="975909"/>
            <a:ext cx="1725023" cy="247413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61" b="1" i="0" lang="zh-CN" dirty="0">
                <a:solidFill>
                  <a:srgbClr val="101419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461" b="1" i="0" lang="zh-CN" dirty="0">
                <a:solidFill>
                  <a:srgbClr val="101419"/>
                </a:solidFill>
                <a:latin typeface="Liberation Serif"/>
                <a:ea typeface="Liberation Serif"/>
                <a:cs typeface="Liberation Serif"/>
              </a:rPr>
              <a:t>Learned proposer</a:t>
            </a:r>
          </a:p>
        </p:txBody>
      </p:sp>
      <p:sp>
        <p:nvSpPr>
          <p:cNvPr id="120" name="deployed-dots" descr="Editable text; source id deployed-dots"/>
          <p:cNvSpPr txBox="1"/>
          <p:nvPr/>
        </p:nvSpPr>
        <p:spPr>
          <a:xfrm>
            <a:off x="9786588" y="1298922"/>
            <a:ext cx="281776" cy="226795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18"/>
              </a:lnSpc>
              <a:spcBef>
                <a:spcPts val="0"/>
              </a:spcBef>
              <a:spcAft>
                <a:spcPts val="0"/>
              </a:spcAft>
              <a:defRPr sz="1406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406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···</a:t>
            </a:r>
          </a:p>
        </p:txBody>
      </p:sp>
      <p:sp>
        <p:nvSpPr>
          <p:cNvPr id="121" name="runtime-vla-title" descr="Editable text; source id runtime-vla-title"/>
          <p:cNvSpPr txBox="1"/>
          <p:nvPr/>
        </p:nvSpPr>
        <p:spPr>
          <a:xfrm>
            <a:off x="9305505" y="2391666"/>
            <a:ext cx="1429501" cy="295521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29"/>
              </a:lnSpc>
              <a:spcBef>
                <a:spcPts val="0"/>
              </a:spcBef>
              <a:spcAft>
                <a:spcPts val="0"/>
              </a:spcAft>
              <a:defRPr sz="1677" b="1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677" b="1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Frozen VLA</a:t>
            </a:r>
          </a:p>
        </p:txBody>
      </p:sp>
      <p:sp>
        <p:nvSpPr>
          <p:cNvPr id="122" name="obs-title" descr="Editable text; source id obs-title"/>
          <p:cNvSpPr txBox="1"/>
          <p:nvPr/>
        </p:nvSpPr>
        <p:spPr>
          <a:xfrm>
            <a:off x="8776315" y="2755914"/>
            <a:ext cx="1381393" cy="21305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93"/>
              </a:lnSpc>
              <a:spcBef>
                <a:spcPts val="0"/>
              </a:spcBef>
              <a:spcAft>
                <a:spcPts val="0"/>
              </a:spcAft>
              <a:defRPr sz="1298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298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Observation tokens</a:t>
            </a:r>
          </a:p>
        </p:txBody>
      </p:sp>
      <p:sp>
        <p:nvSpPr>
          <p:cNvPr id="123" name="obs-dots" descr="Editable text; source id obs-dots"/>
          <p:cNvSpPr txBox="1"/>
          <p:nvPr/>
        </p:nvSpPr>
        <p:spPr>
          <a:xfrm>
            <a:off x="9525429" y="2962092"/>
            <a:ext cx="219923" cy="21305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defRPr sz="1352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352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···</a:t>
            </a:r>
          </a:p>
        </p:txBody>
      </p:sp>
      <p:sp>
        <p:nvSpPr>
          <p:cNvPr id="124" name="language-title" descr="Editable text; source id language-title"/>
          <p:cNvSpPr txBox="1"/>
          <p:nvPr/>
        </p:nvSpPr>
        <p:spPr>
          <a:xfrm>
            <a:off x="8769442" y="3271359"/>
            <a:ext cx="1312667" cy="219923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93"/>
              </a:lnSpc>
              <a:spcBef>
                <a:spcPts val="0"/>
              </a:spcBef>
              <a:spcAft>
                <a:spcPts val="0"/>
              </a:spcAft>
              <a:defRPr sz="1298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298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Language tokens</a:t>
            </a:r>
          </a:p>
        </p:txBody>
      </p:sp>
      <p:sp>
        <p:nvSpPr>
          <p:cNvPr id="125" name="lang-dots" descr="Editable text; source id lang-dots"/>
          <p:cNvSpPr txBox="1"/>
          <p:nvPr/>
        </p:nvSpPr>
        <p:spPr>
          <a:xfrm>
            <a:off x="9552919" y="3491282"/>
            <a:ext cx="213050" cy="21305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defRPr sz="1352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352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···</a:t>
            </a:r>
          </a:p>
        </p:txBody>
      </p:sp>
      <p:sp>
        <p:nvSpPr>
          <p:cNvPr id="126" name="action-title" descr="Editable text; source id action-title"/>
          <p:cNvSpPr txBox="1"/>
          <p:nvPr/>
        </p:nvSpPr>
        <p:spPr>
          <a:xfrm>
            <a:off x="10240180" y="2872748"/>
            <a:ext cx="1113361" cy="226795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93"/>
              </a:lnSpc>
              <a:spcBef>
                <a:spcPts val="0"/>
              </a:spcBef>
              <a:spcAft>
                <a:spcPts val="0"/>
              </a:spcAft>
              <a:defRPr sz="1298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298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Action tokens</a:t>
            </a:r>
          </a:p>
        </p:txBody>
      </p:sp>
      <p:sp>
        <p:nvSpPr>
          <p:cNvPr id="127" name="action-dots" descr="Editable text; source id action-dots"/>
          <p:cNvSpPr txBox="1"/>
          <p:nvPr/>
        </p:nvSpPr>
        <p:spPr>
          <a:xfrm>
            <a:off x="10996166" y="3182015"/>
            <a:ext cx="178687" cy="20617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31"/>
              </a:lnSpc>
              <a:spcBef>
                <a:spcPts val="0"/>
              </a:spcBef>
              <a:spcAft>
                <a:spcPts val="0"/>
              </a:spcAft>
              <a:defRPr sz="1244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244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···</a:t>
            </a:r>
          </a:p>
        </p:txBody>
      </p:sp>
      <p:sp>
        <p:nvSpPr>
          <p:cNvPr id="128" name="execution-title" descr="Editable text; source id execution-title"/>
          <p:cNvSpPr txBox="1"/>
          <p:nvPr/>
        </p:nvSpPr>
        <p:spPr>
          <a:xfrm>
            <a:off x="9305505" y="4288504"/>
            <a:ext cx="1663170" cy="268031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42"/>
              </a:lnSpc>
              <a:spcBef>
                <a:spcPts val="0"/>
              </a:spcBef>
              <a:spcAft>
                <a:spcPts val="0"/>
              </a:spcAft>
              <a:defRPr sz="1515" b="1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515" b="1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Execute prefix</a:t>
            </a:r>
          </a:p>
        </p:txBody>
      </p:sp>
      <p:sp>
        <p:nvSpPr>
          <p:cNvPr id="129" name="execution-dots" descr="Editable text; source id execution-dots"/>
          <p:cNvSpPr txBox="1"/>
          <p:nvPr/>
        </p:nvSpPr>
        <p:spPr>
          <a:xfrm>
            <a:off x="10164581" y="4611517"/>
            <a:ext cx="295521" cy="226795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18"/>
              </a:lnSpc>
              <a:spcBef>
                <a:spcPts val="0"/>
              </a:spcBef>
              <a:spcAft>
                <a:spcPts val="0"/>
              </a:spcAft>
              <a:defRPr sz="1406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406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···</a:t>
            </a:r>
          </a:p>
        </p:txBody>
      </p:sp>
      <p:sp>
        <p:nvSpPr>
          <p:cNvPr id="130" name="new-obs" descr="Editable text; source id new-obs"/>
          <p:cNvSpPr txBox="1"/>
          <p:nvPr/>
        </p:nvSpPr>
        <p:spPr>
          <a:xfrm>
            <a:off x="10762498" y="625406"/>
            <a:ext cx="1305794" cy="240541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31"/>
              </a:lnSpc>
              <a:spcBef>
                <a:spcPts val="0"/>
              </a:spcBef>
              <a:spcAft>
                <a:spcPts val="0"/>
              </a:spcAft>
              <a:defRPr sz="1244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244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New observations</a:t>
            </a:r>
          </a:p>
        </p:txBody>
      </p:sp>
      <p:sp>
        <p:nvSpPr>
          <p:cNvPr id="131" name="reobserve" descr="Editable text; source id reobserve"/>
          <p:cNvSpPr txBox="1"/>
          <p:nvPr/>
        </p:nvSpPr>
        <p:spPr>
          <a:xfrm rot="5400000">
            <a:off x="11326051" y="2130507"/>
            <a:ext cx="934674" cy="219923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18"/>
              </a:lnSpc>
              <a:spcBef>
                <a:spcPts val="0"/>
              </a:spcBef>
              <a:spcAft>
                <a:spcPts val="0"/>
              </a:spcAft>
              <a:defRPr sz="1406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406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Re-observe</a:t>
            </a:r>
          </a:p>
        </p:txBody>
      </p:sp>
      <p:sp>
        <p:nvSpPr>
          <p:cNvPr id="132" name="no-online" descr="Editable text; source id no-online"/>
          <p:cNvSpPr txBox="1"/>
          <p:nvPr/>
        </p:nvSpPr>
        <p:spPr>
          <a:xfrm>
            <a:off x="9216162" y="5092599"/>
            <a:ext cx="2061781" cy="268031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61" b="0" i="1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61" b="0" i="1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rPr>
              <a:t>No online S2 or critic.</a:t>
            </a:r>
          </a:p>
        </p:txBody>
      </p:sp>
      <p:sp>
        <p:nvSpPr>
          <p:cNvPr id="133" name="footer" descr="Editable text; source id footer"/>
          <p:cNvSpPr txBox="1"/>
          <p:nvPr/>
        </p:nvSpPr>
        <p:spPr>
          <a:xfrm>
            <a:off x="4116689" y="5690516"/>
            <a:ext cx="4171670" cy="240541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31"/>
              </a:lnSpc>
              <a:spcBef>
                <a:spcPts val="0"/>
              </a:spcBef>
              <a:spcAft>
                <a:spcPts val="0"/>
              </a:spcAft>
              <a:defRPr sz="1244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244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Conceptual illustration; not measured transfer results.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quisition-band" descr="Editable shape; source id acquisition-band"/>
          <p:cNvSpPr/>
          <p:nvPr/>
        </p:nvSpPr>
        <p:spPr>
          <a:xfrm>
            <a:off x="771769" y="78153"/>
            <a:ext cx="10654974" cy="1419794"/>
          </a:xfrm>
          <a:prstGeom prst="roundRect">
            <a:avLst>
              <a:gd name="adj" fmla="val 12000"/>
            </a:avLst>
          </a:prstGeom>
          <a:solidFill>
            <a:srgbClr val="EFF7FF"/>
          </a:solidFill>
          <a:ln w="7815">
            <a:solidFill>
              <a:srgbClr val="3479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roposal-card" descr="Editable shape; source id proposal-card"/>
          <p:cNvSpPr/>
          <p:nvPr/>
        </p:nvSpPr>
        <p:spPr>
          <a:xfrm>
            <a:off x="1214640" y="403794"/>
            <a:ext cx="2240410" cy="1009487"/>
          </a:xfrm>
          <a:prstGeom prst="rect">
            <a:avLst/>
          </a:prstGeom>
          <a:solidFill>
            <a:srgbClr val="FBFDFF"/>
          </a:solidFill>
          <a:ln w="10420">
            <a:solidFill>
              <a:srgbClr val="165D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elect-card" descr="Editable shape; source id select-card"/>
          <p:cNvSpPr/>
          <p:nvPr/>
        </p:nvSpPr>
        <p:spPr>
          <a:xfrm>
            <a:off x="3774179" y="403794"/>
            <a:ext cx="2285999" cy="1009487"/>
          </a:xfrm>
          <a:prstGeom prst="rect">
            <a:avLst/>
          </a:prstGeom>
          <a:solidFill>
            <a:srgbClr val="FBFDFF"/>
          </a:solidFill>
          <a:ln w="10420">
            <a:solidFill>
              <a:srgbClr val="165D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refix-card" descr="Editable shape; source id prefix-card"/>
          <p:cNvSpPr/>
          <p:nvPr/>
        </p:nvSpPr>
        <p:spPr>
          <a:xfrm>
            <a:off x="6385820" y="403794"/>
            <a:ext cx="2233897" cy="1009487"/>
          </a:xfrm>
          <a:prstGeom prst="rect">
            <a:avLst/>
          </a:prstGeom>
          <a:solidFill>
            <a:srgbClr val="FBFDFF"/>
          </a:solidFill>
          <a:ln w="10420">
            <a:solidFill>
              <a:srgbClr val="165D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psule-card" descr="Editable shape; source id capsule-card"/>
          <p:cNvSpPr/>
          <p:nvPr/>
        </p:nvSpPr>
        <p:spPr>
          <a:xfrm>
            <a:off x="8977922" y="403794"/>
            <a:ext cx="2305538" cy="1009487"/>
          </a:xfrm>
          <a:prstGeom prst="rect">
            <a:avLst/>
          </a:prstGeom>
          <a:solidFill>
            <a:srgbClr val="FBFDFF"/>
          </a:solidFill>
          <a:ln w="10420">
            <a:solidFill>
              <a:srgbClr val="165D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elected-row" descr="Editable shape; source id selected-row"/>
          <p:cNvSpPr/>
          <p:nvPr/>
        </p:nvSpPr>
        <p:spPr>
          <a:xfrm>
            <a:off x="3982589" y="892256"/>
            <a:ext cx="1875692" cy="260512"/>
          </a:xfrm>
          <a:prstGeom prst="roundRect">
            <a:avLst>
              <a:gd name="adj" fmla="val 12000"/>
            </a:avLst>
          </a:prstGeom>
          <a:solidFill>
            <a:srgbClr val="EAF6EB"/>
          </a:solidFill>
          <a:ln w="6512">
            <a:solidFill>
              <a:srgbClr val="5BA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ord-0" descr="Editable shape; source id record-0"/>
          <p:cNvSpPr/>
          <p:nvPr/>
        </p:nvSpPr>
        <p:spPr>
          <a:xfrm>
            <a:off x="9147256" y="696871"/>
            <a:ext cx="1725897" cy="280051"/>
          </a:xfrm>
          <a:prstGeom prst="roundRect">
            <a:avLst>
              <a:gd name="adj" fmla="val 12000"/>
            </a:avLst>
          </a:prstGeom>
          <a:solidFill>
            <a:srgbClr val="EDF9EF"/>
          </a:solidFill>
          <a:ln w="6512">
            <a:solidFill>
              <a:srgbClr val="6EB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ord-1" descr="Editable shape; source id record-1"/>
          <p:cNvSpPr/>
          <p:nvPr/>
        </p:nvSpPr>
        <p:spPr>
          <a:xfrm>
            <a:off x="9147256" y="1055076"/>
            <a:ext cx="1725897" cy="280051"/>
          </a:xfrm>
          <a:prstGeom prst="roundRect">
            <a:avLst>
              <a:gd name="adj" fmla="val 12000"/>
            </a:avLst>
          </a:prstGeom>
          <a:solidFill>
            <a:srgbClr val="FFF1F2"/>
          </a:solidFill>
          <a:ln w="6512">
            <a:solidFill>
              <a:srgbClr val="CC85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ffline-band" descr="Editable shape; source id offline-band"/>
          <p:cNvSpPr/>
          <p:nvPr/>
        </p:nvSpPr>
        <p:spPr>
          <a:xfrm>
            <a:off x="771769" y="1869179"/>
            <a:ext cx="10648461" cy="2240410"/>
          </a:xfrm>
          <a:prstGeom prst="roundRect">
            <a:avLst>
              <a:gd name="adj" fmla="val 12000"/>
            </a:avLst>
          </a:prstGeom>
          <a:solidFill>
            <a:srgbClr val="FFFBF2"/>
          </a:solidFill>
          <a:ln w="7815">
            <a:solidFill>
              <a:srgbClr val="E6B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ritic-panel" descr="Editable shape; source id critic-panel"/>
          <p:cNvSpPr/>
          <p:nvPr/>
        </p:nvSpPr>
        <p:spPr>
          <a:xfrm>
            <a:off x="1214640" y="2240410"/>
            <a:ext cx="3783948" cy="1686820"/>
          </a:xfrm>
          <a:prstGeom prst="rect">
            <a:avLst/>
          </a:prstGeom>
          <a:solidFill>
            <a:srgbClr val="EDF7FF"/>
          </a:solidFill>
          <a:ln w="11723">
            <a:solidFill>
              <a:srgbClr val="0B62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sbs-panel" descr="Editable shape; source id asbs-panel"/>
          <p:cNvSpPr/>
          <p:nvPr/>
        </p:nvSpPr>
        <p:spPr>
          <a:xfrm>
            <a:off x="5819204" y="2194820"/>
            <a:ext cx="5496820" cy="1732410"/>
          </a:xfrm>
          <a:prstGeom prst="roundRect">
            <a:avLst>
              <a:gd name="adj" fmla="val 12000"/>
            </a:avLst>
          </a:prstGeom>
          <a:solidFill>
            <a:srgbClr val="FFFCF4"/>
          </a:solidFill>
          <a:ln w="10420">
            <a:solidFill>
              <a:srgbClr val="DA89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m-box" descr="Editable shape; source id am-box"/>
          <p:cNvSpPr/>
          <p:nvPr/>
        </p:nvSpPr>
        <p:spPr>
          <a:xfrm>
            <a:off x="6027615" y="2500923"/>
            <a:ext cx="2338102" cy="260512"/>
          </a:xfrm>
          <a:prstGeom prst="rect">
            <a:avLst/>
          </a:prstGeom>
          <a:solidFill>
            <a:srgbClr val="FFFFFF"/>
          </a:solidFill>
          <a:ln w="7815">
            <a:solidFill>
              <a:srgbClr val="D893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m-box" descr="Editable shape; source id cm-box"/>
          <p:cNvSpPr/>
          <p:nvPr/>
        </p:nvSpPr>
        <p:spPr>
          <a:xfrm>
            <a:off x="8867204" y="2500923"/>
            <a:ext cx="2246923" cy="260512"/>
          </a:xfrm>
          <a:prstGeom prst="rect">
            <a:avLst/>
          </a:prstGeom>
          <a:solidFill>
            <a:srgbClr val="FFFFFF"/>
          </a:solidFill>
          <a:ln w="7815">
            <a:solidFill>
              <a:srgbClr val="D893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eployment-band" descr="Editable shape; source id deployment-band"/>
          <p:cNvSpPr/>
          <p:nvPr/>
        </p:nvSpPr>
        <p:spPr>
          <a:xfrm>
            <a:off x="771769" y="4324512"/>
            <a:ext cx="10648461" cy="1530512"/>
          </a:xfrm>
          <a:prstGeom prst="roundRect">
            <a:avLst>
              <a:gd name="adj" fmla="val 12000"/>
            </a:avLst>
          </a:prstGeom>
          <a:solidFill>
            <a:srgbClr val="F0F8FF"/>
          </a:solidFill>
          <a:ln w="7815">
            <a:solidFill>
              <a:srgbClr val="81B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istory-runtime" descr="Editable shape; source id history-runtime"/>
          <p:cNvSpPr/>
          <p:nvPr/>
        </p:nvSpPr>
        <p:spPr>
          <a:xfrm>
            <a:off x="1162538" y="4812974"/>
            <a:ext cx="2299025" cy="540564"/>
          </a:xfrm>
          <a:prstGeom prst="rect">
            <a:avLst/>
          </a:prstGeom>
          <a:solidFill>
            <a:srgbClr val="FAFDFF"/>
          </a:solidFill>
          <a:ln w="10420">
            <a:solidFill>
              <a:srgbClr val="1457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actor-runtime" descr="Editable shape; source id actor-runtime"/>
          <p:cNvSpPr/>
          <p:nvPr/>
        </p:nvSpPr>
        <p:spPr>
          <a:xfrm>
            <a:off x="4099820" y="4812974"/>
            <a:ext cx="1973384" cy="540564"/>
          </a:xfrm>
          <a:prstGeom prst="rect">
            <a:avLst/>
          </a:prstGeom>
          <a:solidFill>
            <a:srgbClr val="FFFAF0"/>
          </a:solidFill>
          <a:ln w="10420">
            <a:solidFill>
              <a:srgbClr val="D987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ecoder-runtime" descr="Editable shape; source id decoder-runtime"/>
          <p:cNvSpPr/>
          <p:nvPr/>
        </p:nvSpPr>
        <p:spPr>
          <a:xfrm>
            <a:off x="6730999" y="4780410"/>
            <a:ext cx="2012461" cy="644769"/>
          </a:xfrm>
          <a:prstGeom prst="rect">
            <a:avLst/>
          </a:prstGeom>
          <a:solidFill>
            <a:srgbClr val="F9FCFF"/>
          </a:solidFill>
          <a:ln w="10420">
            <a:solidFill>
              <a:srgbClr val="1457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xecute-runtime" descr="Editable shape; source id execute-runtime"/>
          <p:cNvSpPr/>
          <p:nvPr/>
        </p:nvSpPr>
        <p:spPr>
          <a:xfrm>
            <a:off x="9290538" y="4780410"/>
            <a:ext cx="1934307" cy="579641"/>
          </a:xfrm>
          <a:prstGeom prst="rect">
            <a:avLst/>
          </a:prstGeom>
          <a:solidFill>
            <a:srgbClr val="FBFDFF"/>
          </a:solidFill>
          <a:ln w="10420">
            <a:solidFill>
              <a:srgbClr val="1457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ecoder-lock-body" descr="Editable shape; source id decoder-lock-body"/>
          <p:cNvSpPr/>
          <p:nvPr/>
        </p:nvSpPr>
        <p:spPr>
          <a:xfrm>
            <a:off x="7004538" y="4951827"/>
            <a:ext cx="154223" cy="130126"/>
          </a:xfrm>
          <a:prstGeom prst="roundRect">
            <a:avLst>
              <a:gd name="adj" fmla="val 12000"/>
            </a:avLst>
          </a:prstGeom>
          <a:solidFill>
            <a:srgbClr val="09204B"/>
          </a:solidFill>
          <a:ln w="6512">
            <a:solidFill>
              <a:srgbClr val="0920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roposal-0-token-0" descr="Editable shape; source id proposal-0-token-0"/>
          <p:cNvSpPr/>
          <p:nvPr/>
        </p:nvSpPr>
        <p:spPr>
          <a:xfrm>
            <a:off x="1859410" y="703384"/>
            <a:ext cx="149794" cy="149794"/>
          </a:xfrm>
          <a:prstGeom prst="roundRect">
            <a:avLst>
              <a:gd name="adj" fmla="val 12000"/>
            </a:avLst>
          </a:prstGeom>
          <a:solidFill>
            <a:srgbClr val="95D7F9"/>
          </a:solidFill>
          <a:ln w="5861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roposal-0-token-1" descr="Editable shape; source id proposal-0-token-1"/>
          <p:cNvSpPr/>
          <p:nvPr/>
        </p:nvSpPr>
        <p:spPr>
          <a:xfrm>
            <a:off x="2087358" y="703384"/>
            <a:ext cx="149794" cy="149794"/>
          </a:xfrm>
          <a:prstGeom prst="roundRect">
            <a:avLst>
              <a:gd name="adj" fmla="val 12000"/>
            </a:avLst>
          </a:prstGeom>
          <a:solidFill>
            <a:srgbClr val="95D7F9"/>
          </a:solidFill>
          <a:ln w="5861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roposal-0-token-2" descr="Editable shape; source id proposal-0-token-2"/>
          <p:cNvSpPr/>
          <p:nvPr/>
        </p:nvSpPr>
        <p:spPr>
          <a:xfrm>
            <a:off x="2315307" y="703384"/>
            <a:ext cx="149794" cy="149794"/>
          </a:xfrm>
          <a:prstGeom prst="roundRect">
            <a:avLst>
              <a:gd name="adj" fmla="val 12000"/>
            </a:avLst>
          </a:prstGeom>
          <a:solidFill>
            <a:srgbClr val="95D7F9"/>
          </a:solidFill>
          <a:ln w="5861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roposal-0-token-3" descr="Editable shape; source id proposal-0-token-3"/>
          <p:cNvSpPr/>
          <p:nvPr/>
        </p:nvSpPr>
        <p:spPr>
          <a:xfrm>
            <a:off x="2543256" y="703384"/>
            <a:ext cx="149794" cy="149794"/>
          </a:xfrm>
          <a:prstGeom prst="roundRect">
            <a:avLst>
              <a:gd name="adj" fmla="val 12000"/>
            </a:avLst>
          </a:prstGeom>
          <a:solidFill>
            <a:srgbClr val="95D7F9"/>
          </a:solidFill>
          <a:ln w="5861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roposal-1-token-0" descr="Editable shape; source id proposal-1-token-0"/>
          <p:cNvSpPr/>
          <p:nvPr/>
        </p:nvSpPr>
        <p:spPr>
          <a:xfrm>
            <a:off x="1859410" y="950871"/>
            <a:ext cx="149794" cy="149794"/>
          </a:xfrm>
          <a:prstGeom prst="roundRect">
            <a:avLst>
              <a:gd name="adj" fmla="val 12000"/>
            </a:avLst>
          </a:prstGeom>
          <a:solidFill>
            <a:srgbClr val="80B590"/>
          </a:solidFill>
          <a:ln w="5861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roposal-1-token-1" descr="Editable shape; source id proposal-1-token-1"/>
          <p:cNvSpPr/>
          <p:nvPr/>
        </p:nvSpPr>
        <p:spPr>
          <a:xfrm>
            <a:off x="2087358" y="950871"/>
            <a:ext cx="149794" cy="149794"/>
          </a:xfrm>
          <a:prstGeom prst="roundRect">
            <a:avLst>
              <a:gd name="adj" fmla="val 12000"/>
            </a:avLst>
          </a:prstGeom>
          <a:solidFill>
            <a:srgbClr val="80B590"/>
          </a:solidFill>
          <a:ln w="5861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roposal-1-token-2" descr="Editable shape; source id proposal-1-token-2"/>
          <p:cNvSpPr/>
          <p:nvPr/>
        </p:nvSpPr>
        <p:spPr>
          <a:xfrm>
            <a:off x="2315307" y="950871"/>
            <a:ext cx="149794" cy="149794"/>
          </a:xfrm>
          <a:prstGeom prst="roundRect">
            <a:avLst>
              <a:gd name="adj" fmla="val 12000"/>
            </a:avLst>
          </a:prstGeom>
          <a:solidFill>
            <a:srgbClr val="80B590"/>
          </a:solidFill>
          <a:ln w="5861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proposal-1-token-3" descr="Editable shape; source id proposal-1-token-3"/>
          <p:cNvSpPr/>
          <p:nvPr/>
        </p:nvSpPr>
        <p:spPr>
          <a:xfrm>
            <a:off x="2543256" y="950871"/>
            <a:ext cx="149794" cy="149794"/>
          </a:xfrm>
          <a:prstGeom prst="roundRect">
            <a:avLst>
              <a:gd name="adj" fmla="val 12000"/>
            </a:avLst>
          </a:prstGeom>
          <a:solidFill>
            <a:srgbClr val="80B590"/>
          </a:solidFill>
          <a:ln w="5861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proposal-2-token-0" descr="Editable shape; source id proposal-2-token-0"/>
          <p:cNvSpPr/>
          <p:nvPr/>
        </p:nvSpPr>
        <p:spPr>
          <a:xfrm>
            <a:off x="1859410" y="1185333"/>
            <a:ext cx="149794" cy="149794"/>
          </a:xfrm>
          <a:prstGeom prst="roundRect">
            <a:avLst>
              <a:gd name="adj" fmla="val 12000"/>
            </a:avLst>
          </a:prstGeom>
          <a:solidFill>
            <a:srgbClr val="C2A3DD"/>
          </a:solidFill>
          <a:ln w="5861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proposal-2-token-1" descr="Editable shape; source id proposal-2-token-1"/>
          <p:cNvSpPr/>
          <p:nvPr/>
        </p:nvSpPr>
        <p:spPr>
          <a:xfrm>
            <a:off x="2087358" y="1185333"/>
            <a:ext cx="149794" cy="149794"/>
          </a:xfrm>
          <a:prstGeom prst="roundRect">
            <a:avLst>
              <a:gd name="adj" fmla="val 12000"/>
            </a:avLst>
          </a:prstGeom>
          <a:solidFill>
            <a:srgbClr val="C2A3DD"/>
          </a:solidFill>
          <a:ln w="5861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proposal-2-token-2" descr="Editable shape; source id proposal-2-token-2"/>
          <p:cNvSpPr/>
          <p:nvPr/>
        </p:nvSpPr>
        <p:spPr>
          <a:xfrm>
            <a:off x="2315307" y="1185333"/>
            <a:ext cx="149794" cy="149794"/>
          </a:xfrm>
          <a:prstGeom prst="roundRect">
            <a:avLst>
              <a:gd name="adj" fmla="val 12000"/>
            </a:avLst>
          </a:prstGeom>
          <a:solidFill>
            <a:srgbClr val="C2A3DD"/>
          </a:solidFill>
          <a:ln w="5861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proposal-2-token-3" descr="Editable shape; source id proposal-2-token-3"/>
          <p:cNvSpPr/>
          <p:nvPr/>
        </p:nvSpPr>
        <p:spPr>
          <a:xfrm>
            <a:off x="2543256" y="1185333"/>
            <a:ext cx="149794" cy="149794"/>
          </a:xfrm>
          <a:prstGeom prst="roundRect">
            <a:avLst>
              <a:gd name="adj" fmla="val 12000"/>
            </a:avLst>
          </a:prstGeom>
          <a:solidFill>
            <a:srgbClr val="C2A3DD"/>
          </a:solidFill>
          <a:ln w="5861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elect-0-token-0" descr="Editable shape; source id select-0-token-0"/>
          <p:cNvSpPr/>
          <p:nvPr/>
        </p:nvSpPr>
        <p:spPr>
          <a:xfrm>
            <a:off x="4418948" y="703384"/>
            <a:ext cx="149794" cy="149794"/>
          </a:xfrm>
          <a:prstGeom prst="roundRect">
            <a:avLst>
              <a:gd name="adj" fmla="val 12000"/>
            </a:avLst>
          </a:prstGeom>
          <a:solidFill>
            <a:srgbClr val="95D7F9"/>
          </a:solidFill>
          <a:ln w="5861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select-0-token-1" descr="Editable shape; source id select-0-token-1"/>
          <p:cNvSpPr/>
          <p:nvPr/>
        </p:nvSpPr>
        <p:spPr>
          <a:xfrm>
            <a:off x="4646897" y="703384"/>
            <a:ext cx="149794" cy="149794"/>
          </a:xfrm>
          <a:prstGeom prst="roundRect">
            <a:avLst>
              <a:gd name="adj" fmla="val 12000"/>
            </a:avLst>
          </a:prstGeom>
          <a:solidFill>
            <a:srgbClr val="95D7F9"/>
          </a:solidFill>
          <a:ln w="5861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elect-0-token-2" descr="Editable shape; source id select-0-token-2"/>
          <p:cNvSpPr/>
          <p:nvPr/>
        </p:nvSpPr>
        <p:spPr>
          <a:xfrm>
            <a:off x="4874846" y="703384"/>
            <a:ext cx="149794" cy="149794"/>
          </a:xfrm>
          <a:prstGeom prst="roundRect">
            <a:avLst>
              <a:gd name="adj" fmla="val 12000"/>
            </a:avLst>
          </a:prstGeom>
          <a:solidFill>
            <a:srgbClr val="95D7F9"/>
          </a:solidFill>
          <a:ln w="5861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elect-0-token-3" descr="Editable shape; source id select-0-token-3"/>
          <p:cNvSpPr/>
          <p:nvPr/>
        </p:nvSpPr>
        <p:spPr>
          <a:xfrm>
            <a:off x="5102794" y="703384"/>
            <a:ext cx="149794" cy="149794"/>
          </a:xfrm>
          <a:prstGeom prst="roundRect">
            <a:avLst>
              <a:gd name="adj" fmla="val 12000"/>
            </a:avLst>
          </a:prstGeom>
          <a:solidFill>
            <a:srgbClr val="95D7F9"/>
          </a:solidFill>
          <a:ln w="5861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elect-1-token-0" descr="Editable shape; source id select-1-token-0"/>
          <p:cNvSpPr/>
          <p:nvPr/>
        </p:nvSpPr>
        <p:spPr>
          <a:xfrm>
            <a:off x="4418948" y="950871"/>
            <a:ext cx="149794" cy="149794"/>
          </a:xfrm>
          <a:prstGeom prst="roundRect">
            <a:avLst>
              <a:gd name="adj" fmla="val 12000"/>
            </a:avLst>
          </a:prstGeom>
          <a:solidFill>
            <a:srgbClr val="80B590"/>
          </a:solidFill>
          <a:ln w="5861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lect-1-token-1" descr="Editable shape; source id select-1-token-1"/>
          <p:cNvSpPr/>
          <p:nvPr/>
        </p:nvSpPr>
        <p:spPr>
          <a:xfrm>
            <a:off x="4646897" y="950871"/>
            <a:ext cx="149794" cy="149794"/>
          </a:xfrm>
          <a:prstGeom prst="roundRect">
            <a:avLst>
              <a:gd name="adj" fmla="val 12000"/>
            </a:avLst>
          </a:prstGeom>
          <a:solidFill>
            <a:srgbClr val="80B590"/>
          </a:solidFill>
          <a:ln w="5861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elect-1-token-2" descr="Editable shape; source id select-1-token-2"/>
          <p:cNvSpPr/>
          <p:nvPr/>
        </p:nvSpPr>
        <p:spPr>
          <a:xfrm>
            <a:off x="4874846" y="950871"/>
            <a:ext cx="149794" cy="149794"/>
          </a:xfrm>
          <a:prstGeom prst="roundRect">
            <a:avLst>
              <a:gd name="adj" fmla="val 12000"/>
            </a:avLst>
          </a:prstGeom>
          <a:solidFill>
            <a:srgbClr val="80B590"/>
          </a:solidFill>
          <a:ln w="5861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lect-1-token-3" descr="Editable shape; source id select-1-token-3"/>
          <p:cNvSpPr/>
          <p:nvPr/>
        </p:nvSpPr>
        <p:spPr>
          <a:xfrm>
            <a:off x="5102794" y="950871"/>
            <a:ext cx="149794" cy="149794"/>
          </a:xfrm>
          <a:prstGeom prst="roundRect">
            <a:avLst>
              <a:gd name="adj" fmla="val 12000"/>
            </a:avLst>
          </a:prstGeom>
          <a:solidFill>
            <a:srgbClr val="80B590"/>
          </a:solidFill>
          <a:ln w="5861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elect-2-token-0" descr="Editable shape; source id select-2-token-0"/>
          <p:cNvSpPr/>
          <p:nvPr/>
        </p:nvSpPr>
        <p:spPr>
          <a:xfrm>
            <a:off x="4418948" y="1185333"/>
            <a:ext cx="149794" cy="149794"/>
          </a:xfrm>
          <a:prstGeom prst="roundRect">
            <a:avLst>
              <a:gd name="adj" fmla="val 12000"/>
            </a:avLst>
          </a:prstGeom>
          <a:solidFill>
            <a:srgbClr val="C2A3DD"/>
          </a:solidFill>
          <a:ln w="5861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select-2-token-1" descr="Editable shape; source id select-2-token-1"/>
          <p:cNvSpPr/>
          <p:nvPr/>
        </p:nvSpPr>
        <p:spPr>
          <a:xfrm>
            <a:off x="4646897" y="1185333"/>
            <a:ext cx="149794" cy="149794"/>
          </a:xfrm>
          <a:prstGeom prst="roundRect">
            <a:avLst>
              <a:gd name="adj" fmla="val 12000"/>
            </a:avLst>
          </a:prstGeom>
          <a:solidFill>
            <a:srgbClr val="C2A3DD"/>
          </a:solidFill>
          <a:ln w="5861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elect-2-token-2" descr="Editable shape; source id select-2-token-2"/>
          <p:cNvSpPr/>
          <p:nvPr/>
        </p:nvSpPr>
        <p:spPr>
          <a:xfrm>
            <a:off x="4874846" y="1185333"/>
            <a:ext cx="149794" cy="149794"/>
          </a:xfrm>
          <a:prstGeom prst="roundRect">
            <a:avLst>
              <a:gd name="adj" fmla="val 12000"/>
            </a:avLst>
          </a:prstGeom>
          <a:solidFill>
            <a:srgbClr val="C2A3DD"/>
          </a:solidFill>
          <a:ln w="5861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select-2-token-3" descr="Editable shape; source id select-2-token-3"/>
          <p:cNvSpPr/>
          <p:nvPr/>
        </p:nvSpPr>
        <p:spPr>
          <a:xfrm>
            <a:off x="5102794" y="1185333"/>
            <a:ext cx="149794" cy="149794"/>
          </a:xfrm>
          <a:prstGeom prst="roundRect">
            <a:avLst>
              <a:gd name="adj" fmla="val 12000"/>
            </a:avLst>
          </a:prstGeom>
          <a:solidFill>
            <a:srgbClr val="C2A3DD"/>
          </a:solidFill>
          <a:ln w="5861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selected-prefix-token-0" descr="Editable shape; source id selected-prefix-token-0"/>
          <p:cNvSpPr/>
          <p:nvPr/>
        </p:nvSpPr>
        <p:spPr>
          <a:xfrm>
            <a:off x="6763563" y="970410"/>
            <a:ext cx="169333" cy="169333"/>
          </a:xfrm>
          <a:prstGeom prst="roundRect">
            <a:avLst>
              <a:gd name="adj" fmla="val 12000"/>
            </a:avLst>
          </a:prstGeom>
          <a:solidFill>
            <a:srgbClr val="8FB087"/>
          </a:solidFill>
          <a:ln w="5861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selected-prefix-token-1" descr="Editable shape; source id selected-prefix-token-1"/>
          <p:cNvSpPr/>
          <p:nvPr/>
        </p:nvSpPr>
        <p:spPr>
          <a:xfrm>
            <a:off x="7037102" y="970410"/>
            <a:ext cx="169333" cy="169333"/>
          </a:xfrm>
          <a:prstGeom prst="roundRect">
            <a:avLst>
              <a:gd name="adj" fmla="val 12000"/>
            </a:avLst>
          </a:prstGeom>
          <a:solidFill>
            <a:srgbClr val="8FB087"/>
          </a:solidFill>
          <a:ln w="5861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selected-prefix-token-2" descr="Editable shape; source id selected-prefix-token-2"/>
          <p:cNvSpPr/>
          <p:nvPr/>
        </p:nvSpPr>
        <p:spPr>
          <a:xfrm>
            <a:off x="7310640" y="970410"/>
            <a:ext cx="169333" cy="169333"/>
          </a:xfrm>
          <a:prstGeom prst="roundRect">
            <a:avLst>
              <a:gd name="adj" fmla="val 12000"/>
            </a:avLst>
          </a:prstGeom>
          <a:solidFill>
            <a:srgbClr val="EEF1F4"/>
          </a:solidFill>
          <a:ln w="5861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selected-prefix-token-3" descr="Editable shape; source id selected-prefix-token-3"/>
          <p:cNvSpPr/>
          <p:nvPr/>
        </p:nvSpPr>
        <p:spPr>
          <a:xfrm>
            <a:off x="7584179" y="970410"/>
            <a:ext cx="169333" cy="169333"/>
          </a:xfrm>
          <a:prstGeom prst="roundRect">
            <a:avLst>
              <a:gd name="adj" fmla="val 12000"/>
            </a:avLst>
          </a:prstGeom>
          <a:solidFill>
            <a:srgbClr val="EEF1F4"/>
          </a:solidFill>
          <a:ln w="5861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selected-prefix-token-4" descr="Editable shape; source id selected-prefix-token-4"/>
          <p:cNvSpPr/>
          <p:nvPr/>
        </p:nvSpPr>
        <p:spPr>
          <a:xfrm>
            <a:off x="7857717" y="970410"/>
            <a:ext cx="169333" cy="169333"/>
          </a:xfrm>
          <a:prstGeom prst="roundRect">
            <a:avLst>
              <a:gd name="adj" fmla="val 12000"/>
            </a:avLst>
          </a:prstGeom>
          <a:solidFill>
            <a:srgbClr val="EEF1F4"/>
          </a:solidFill>
          <a:ln w="5861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decoder-lock-loop" descr="Editable shape; source id decoder-lock-loop"/>
          <p:cNvSpPr/>
          <p:nvPr/>
        </p:nvSpPr>
        <p:spPr>
          <a:xfrm>
            <a:off x="7033455" y="4865076"/>
            <a:ext cx="96389" cy="120487"/>
          </a:xfrm>
          <a:prstGeom prst="ellipse">
            <a:avLst/>
          </a:prstGeom>
          <a:noFill/>
          <a:ln w="19277">
            <a:solidFill>
              <a:srgbClr val="0920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decoder-lock-hole" descr="Editable shape; source id decoder-lock-hole"/>
          <p:cNvSpPr/>
          <p:nvPr/>
        </p:nvSpPr>
        <p:spPr>
          <a:xfrm>
            <a:off x="7072011" y="4985563"/>
            <a:ext cx="19277" cy="3855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decoder-tokens-token-0" descr="Editable shape; source id decoder-tokens-token-0"/>
          <p:cNvSpPr/>
          <p:nvPr/>
        </p:nvSpPr>
        <p:spPr>
          <a:xfrm>
            <a:off x="7284589" y="5210256"/>
            <a:ext cx="97692" cy="97692"/>
          </a:xfrm>
          <a:prstGeom prst="roundRect">
            <a:avLst>
              <a:gd name="adj" fmla="val 11999"/>
            </a:avLst>
          </a:prstGeom>
          <a:solidFill>
            <a:srgbClr val="B6DDEE"/>
          </a:solidFill>
          <a:ln w="5861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decoder-tokens-token-1" descr="Editable shape; source id decoder-tokens-token-1"/>
          <p:cNvSpPr/>
          <p:nvPr/>
        </p:nvSpPr>
        <p:spPr>
          <a:xfrm>
            <a:off x="7479974" y="5210256"/>
            <a:ext cx="97692" cy="97692"/>
          </a:xfrm>
          <a:prstGeom prst="roundRect">
            <a:avLst>
              <a:gd name="adj" fmla="val 11999"/>
            </a:avLst>
          </a:prstGeom>
          <a:solidFill>
            <a:srgbClr val="B6DDEE"/>
          </a:solidFill>
          <a:ln w="5861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decoder-tokens-token-2" descr="Editable shape; source id decoder-tokens-token-2"/>
          <p:cNvSpPr/>
          <p:nvPr/>
        </p:nvSpPr>
        <p:spPr>
          <a:xfrm>
            <a:off x="7675358" y="5210256"/>
            <a:ext cx="97692" cy="97692"/>
          </a:xfrm>
          <a:prstGeom prst="roundRect">
            <a:avLst>
              <a:gd name="adj" fmla="val 11999"/>
            </a:avLst>
          </a:prstGeom>
          <a:solidFill>
            <a:srgbClr val="B6DDEE"/>
          </a:solidFill>
          <a:ln w="5861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decoder-tokens-token-3" descr="Editable shape; source id decoder-tokens-token-3"/>
          <p:cNvSpPr/>
          <p:nvPr/>
        </p:nvSpPr>
        <p:spPr>
          <a:xfrm>
            <a:off x="7870743" y="5210256"/>
            <a:ext cx="97692" cy="97692"/>
          </a:xfrm>
          <a:prstGeom prst="roundRect">
            <a:avLst>
              <a:gd name="adj" fmla="val 11999"/>
            </a:avLst>
          </a:prstGeom>
          <a:solidFill>
            <a:srgbClr val="B6DDEE"/>
          </a:solidFill>
          <a:ln w="5861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xecute-tokens-token-0" descr="Editable shape; source id execute-tokens-token-0"/>
          <p:cNvSpPr/>
          <p:nvPr/>
        </p:nvSpPr>
        <p:spPr>
          <a:xfrm>
            <a:off x="9498948" y="5093025"/>
            <a:ext cx="169333" cy="169333"/>
          </a:xfrm>
          <a:prstGeom prst="roundRect">
            <a:avLst>
              <a:gd name="adj" fmla="val 12000"/>
            </a:avLst>
          </a:prstGeom>
          <a:solidFill>
            <a:srgbClr val="FFD481"/>
          </a:solidFill>
          <a:ln w="5861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xecute-tokens-token-1" descr="Editable shape; source id execute-tokens-token-1"/>
          <p:cNvSpPr/>
          <p:nvPr/>
        </p:nvSpPr>
        <p:spPr>
          <a:xfrm>
            <a:off x="9759461" y="5093025"/>
            <a:ext cx="169333" cy="169333"/>
          </a:xfrm>
          <a:prstGeom prst="roundRect">
            <a:avLst>
              <a:gd name="adj" fmla="val 12000"/>
            </a:avLst>
          </a:prstGeom>
          <a:solidFill>
            <a:srgbClr val="FFD481"/>
          </a:solidFill>
          <a:ln w="5861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xecute-tokens-token-2" descr="Editable shape; source id execute-tokens-token-2"/>
          <p:cNvSpPr/>
          <p:nvPr/>
        </p:nvSpPr>
        <p:spPr>
          <a:xfrm>
            <a:off x="10019974" y="5093025"/>
            <a:ext cx="169333" cy="169333"/>
          </a:xfrm>
          <a:prstGeom prst="roundRect">
            <a:avLst>
              <a:gd name="adj" fmla="val 12000"/>
            </a:avLst>
          </a:prstGeom>
          <a:solidFill>
            <a:srgbClr val="EEF1F4"/>
          </a:solidFill>
          <a:ln w="5861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xecute-tokens-token-3" descr="Editable shape; source id execute-tokens-token-3"/>
          <p:cNvSpPr/>
          <p:nvPr/>
        </p:nvSpPr>
        <p:spPr>
          <a:xfrm>
            <a:off x="10280486" y="5093025"/>
            <a:ext cx="169333" cy="169333"/>
          </a:xfrm>
          <a:prstGeom prst="roundRect">
            <a:avLst>
              <a:gd name="adj" fmla="val 12000"/>
            </a:avLst>
          </a:prstGeom>
          <a:solidFill>
            <a:srgbClr val="EEF1F4"/>
          </a:solidFill>
          <a:ln w="5861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xecute-tokens-token-4" descr="Editable shape; source id execute-tokens-token-4"/>
          <p:cNvSpPr/>
          <p:nvPr/>
        </p:nvSpPr>
        <p:spPr>
          <a:xfrm>
            <a:off x="10540999" y="5093025"/>
            <a:ext cx="169333" cy="169333"/>
          </a:xfrm>
          <a:prstGeom prst="roundRect">
            <a:avLst>
              <a:gd name="adj" fmla="val 12000"/>
            </a:avLst>
          </a:prstGeom>
          <a:solidFill>
            <a:srgbClr val="EEF1F4"/>
          </a:solidFill>
          <a:ln w="5861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target-equation" descr="Exact independent region from the author-selected v20 generated schematic; not experimental photography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333" y="2780974"/>
            <a:ext cx="3093589" cy="664307"/>
          </a:xfrm>
          <a:prstGeom prst="rect">
            <a:avLst/>
          </a:prstGeom>
          <a:effectLst/>
        </p:spPr>
      </p:pic>
      <p:pic>
        <p:nvPicPr>
          <p:cNvPr id="62" name="transport-artwork" descr="Exact independent region from the author-selected v20 generated schematic; not experimental photography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1820" y="2826564"/>
            <a:ext cx="4747846" cy="703384"/>
          </a:xfrm>
          <a:prstGeom prst="rect">
            <a:avLst/>
          </a:prstGeom>
          <a:effectLst/>
        </p:spPr>
      </p:pic>
      <p:sp>
        <p:nvSpPr>
          <p:cNvPr id="63" name="acquire-flow-0-0" descr="Editable line; source id acquire-flow-0-0"/>
          <p:cNvSpPr/>
          <p:nvPr/>
        </p:nvSpPr>
        <p:spPr>
          <a:xfrm>
            <a:off x="3455051" y="895513"/>
            <a:ext cx="312615" cy="71641"/>
          </a:xfrm>
          <a:custGeom>
            <a:avLst/>
            <a:gdLst/>
            <a:ahLst/>
            <a:cxnLst/>
            <a:rect l="l" t="t" r="r" b="b"/>
            <a:pathLst>
              <a:path w="48000" h="11000">
                <a:moveTo>
                  <a:pt x="0" y="4000"/>
                </a:moveTo>
                <a:lnTo>
                  <a:pt x="37000" y="4000"/>
                </a:lnTo>
                <a:lnTo>
                  <a:pt x="37000" y="0"/>
                </a:lnTo>
                <a:lnTo>
                  <a:pt x="48000" y="5500"/>
                </a:lnTo>
                <a:lnTo>
                  <a:pt x="37000" y="11000"/>
                </a:lnTo>
                <a:lnTo>
                  <a:pt x="37000" y="7000"/>
                </a:lnTo>
                <a:lnTo>
                  <a:pt x="0" y="7000"/>
                </a:lnTo>
                <a:close/>
              </a:path>
            </a:pathLst>
          </a:custGeom>
          <a:solidFill>
            <a:srgbClr val="087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acquire-flow-1-0" descr="Editable line; source id acquire-flow-1-0"/>
          <p:cNvSpPr/>
          <p:nvPr/>
        </p:nvSpPr>
        <p:spPr>
          <a:xfrm>
            <a:off x="6060179" y="895513"/>
            <a:ext cx="319128" cy="71641"/>
          </a:xfrm>
          <a:custGeom>
            <a:avLst/>
            <a:gdLst/>
            <a:ahLst/>
            <a:cxnLst/>
            <a:rect l="l" t="t" r="r" b="b"/>
            <a:pathLst>
              <a:path w="49000" h="11000">
                <a:moveTo>
                  <a:pt x="0" y="4000"/>
                </a:moveTo>
                <a:lnTo>
                  <a:pt x="38000" y="4000"/>
                </a:lnTo>
                <a:lnTo>
                  <a:pt x="38000" y="0"/>
                </a:lnTo>
                <a:lnTo>
                  <a:pt x="49000" y="5500"/>
                </a:lnTo>
                <a:lnTo>
                  <a:pt x="38000" y="11000"/>
                </a:lnTo>
                <a:lnTo>
                  <a:pt x="38000" y="7000"/>
                </a:lnTo>
                <a:lnTo>
                  <a:pt x="0" y="7000"/>
                </a:lnTo>
                <a:close/>
              </a:path>
            </a:pathLst>
          </a:custGeom>
          <a:solidFill>
            <a:srgbClr val="087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acquire-flow-2-0" descr="Editable line; source id acquire-flow-2-0"/>
          <p:cNvSpPr/>
          <p:nvPr/>
        </p:nvSpPr>
        <p:spPr>
          <a:xfrm>
            <a:off x="8626230" y="895513"/>
            <a:ext cx="338667" cy="71641"/>
          </a:xfrm>
          <a:custGeom>
            <a:avLst/>
            <a:gdLst/>
            <a:ahLst/>
            <a:cxnLst/>
            <a:rect l="l" t="t" r="r" b="b"/>
            <a:pathLst>
              <a:path w="52000" h="11000">
                <a:moveTo>
                  <a:pt x="0" y="4000"/>
                </a:moveTo>
                <a:lnTo>
                  <a:pt x="41000" y="4000"/>
                </a:lnTo>
                <a:lnTo>
                  <a:pt x="41000" y="0"/>
                </a:lnTo>
                <a:lnTo>
                  <a:pt x="52000" y="5500"/>
                </a:lnTo>
                <a:lnTo>
                  <a:pt x="41000" y="11000"/>
                </a:lnTo>
                <a:lnTo>
                  <a:pt x="41000" y="7000"/>
                </a:lnTo>
                <a:lnTo>
                  <a:pt x="0" y="7000"/>
                </a:lnTo>
                <a:close/>
              </a:path>
            </a:pathLst>
          </a:custGeom>
          <a:solidFill>
            <a:srgbClr val="087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record-evidence-0" descr="Editable line; source id record-evidence-0"/>
          <p:cNvCxnSpPr/>
          <p:nvPr/>
        </p:nvCxnSpPr>
        <p:spPr>
          <a:xfrm>
            <a:off x="10065563" y="1426307"/>
            <a:ext cx="0" cy="254000"/>
          </a:xfrm>
          <a:prstGeom prst="line">
            <a:avLst/>
          </a:prstGeom>
          <a:ln w="16282">
            <a:solidFill>
              <a:srgbClr val="0879B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record-evidence-1" descr="Editable line; source id record-evidence-1"/>
          <p:cNvCxnSpPr/>
          <p:nvPr/>
        </p:nvCxnSpPr>
        <p:spPr>
          <a:xfrm flipH="1">
            <a:off x="7147820" y="1680307"/>
            <a:ext cx="2917743" cy="0"/>
          </a:xfrm>
          <a:prstGeom prst="line">
            <a:avLst/>
          </a:prstGeom>
          <a:ln w="16282">
            <a:solidFill>
              <a:srgbClr val="0879B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evidence-critic-0" descr="Editable line; source id evidence-critic-0"/>
          <p:cNvCxnSpPr/>
          <p:nvPr/>
        </p:nvCxnSpPr>
        <p:spPr>
          <a:xfrm flipH="1">
            <a:off x="3324794" y="1680307"/>
            <a:ext cx="1686821" cy="0"/>
          </a:xfrm>
          <a:prstGeom prst="line">
            <a:avLst/>
          </a:prstGeom>
          <a:ln w="16282">
            <a:solidFill>
              <a:srgbClr val="0879B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evidence-critic-1" descr="Editable line; source id evidence-critic-1"/>
          <p:cNvSpPr/>
          <p:nvPr/>
        </p:nvSpPr>
        <p:spPr>
          <a:xfrm>
            <a:off x="3288974" y="1680308"/>
            <a:ext cx="71641" cy="188872"/>
          </a:xfrm>
          <a:custGeom>
            <a:avLst/>
            <a:gdLst/>
            <a:ahLst/>
            <a:cxnLst/>
            <a:rect l="l" t="t" r="r" b="b"/>
            <a:pathLst>
              <a:path w="11000" h="29000">
                <a:moveTo>
                  <a:pt x="6750" y="0"/>
                </a:moveTo>
                <a:lnTo>
                  <a:pt x="6750" y="18000"/>
                </a:lnTo>
                <a:lnTo>
                  <a:pt x="11000" y="18000"/>
                </a:lnTo>
                <a:lnTo>
                  <a:pt x="5500" y="29000"/>
                </a:lnTo>
                <a:lnTo>
                  <a:pt x="0" y="18000"/>
                </a:lnTo>
                <a:lnTo>
                  <a:pt x="4250" y="18000"/>
                </a:lnTo>
                <a:lnTo>
                  <a:pt x="4250" y="0"/>
                </a:lnTo>
                <a:close/>
              </a:path>
            </a:pathLst>
          </a:custGeom>
          <a:solidFill>
            <a:srgbClr val="087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ritic-rule-0" descr="Editable line; source id critic-rule-0"/>
          <p:cNvCxnSpPr/>
          <p:nvPr/>
        </p:nvCxnSpPr>
        <p:spPr>
          <a:xfrm>
            <a:off x="1800794" y="3575538"/>
            <a:ext cx="2585590" cy="0"/>
          </a:xfrm>
          <a:prstGeom prst="line">
            <a:avLst/>
          </a:prstGeom>
          <a:ln w="8466">
            <a:solidFill>
              <a:srgbClr val="A2D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energy-gradient-0" descr="Editable line; source id energy-gradient-0"/>
          <p:cNvSpPr/>
          <p:nvPr/>
        </p:nvSpPr>
        <p:spPr>
          <a:xfrm>
            <a:off x="5005102" y="3070795"/>
            <a:ext cx="794564" cy="71641"/>
          </a:xfrm>
          <a:custGeom>
            <a:avLst/>
            <a:gdLst/>
            <a:ahLst/>
            <a:cxnLst/>
            <a:rect l="l" t="t" r="r" b="b"/>
            <a:pathLst>
              <a:path w="122000" h="11000">
                <a:moveTo>
                  <a:pt x="0" y="3500"/>
                </a:moveTo>
                <a:lnTo>
                  <a:pt x="111000" y="3500"/>
                </a:lnTo>
                <a:lnTo>
                  <a:pt x="111000" y="0"/>
                </a:lnTo>
                <a:lnTo>
                  <a:pt x="122000" y="5500"/>
                </a:lnTo>
                <a:lnTo>
                  <a:pt x="111000" y="11000"/>
                </a:lnTo>
                <a:lnTo>
                  <a:pt x="111000" y="7500"/>
                </a:lnTo>
                <a:lnTo>
                  <a:pt x="0" y="7500"/>
                </a:lnTo>
                <a:close/>
              </a:path>
            </a:pathLst>
          </a:custGeom>
          <a:solidFill>
            <a:srgbClr val="087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am-to-cm-0" descr="Editable line; source id am-to-cm-0"/>
          <p:cNvSpPr/>
          <p:nvPr/>
        </p:nvSpPr>
        <p:spPr>
          <a:xfrm>
            <a:off x="8385256" y="2575820"/>
            <a:ext cx="455897" cy="71641"/>
          </a:xfrm>
          <a:custGeom>
            <a:avLst/>
            <a:gdLst/>
            <a:ahLst/>
            <a:cxnLst/>
            <a:rect l="l" t="t" r="r" b="b"/>
            <a:pathLst>
              <a:path w="70000" h="11000">
                <a:moveTo>
                  <a:pt x="0" y="4500"/>
                </a:moveTo>
                <a:lnTo>
                  <a:pt x="59000" y="4500"/>
                </a:lnTo>
                <a:lnTo>
                  <a:pt x="59000" y="0"/>
                </a:lnTo>
                <a:lnTo>
                  <a:pt x="70000" y="5500"/>
                </a:lnTo>
                <a:lnTo>
                  <a:pt x="59000" y="11000"/>
                </a:lnTo>
                <a:lnTo>
                  <a:pt x="59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087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cm-to-am-0" descr="Editable line; source id cm-to-am-0"/>
          <p:cNvSpPr/>
          <p:nvPr/>
        </p:nvSpPr>
        <p:spPr>
          <a:xfrm>
            <a:off x="8385256" y="2627923"/>
            <a:ext cx="455897" cy="71641"/>
          </a:xfrm>
          <a:custGeom>
            <a:avLst/>
            <a:gdLst/>
            <a:ahLst/>
            <a:cxnLst/>
            <a:rect l="l" t="t" r="r" b="b"/>
            <a:pathLst>
              <a:path w="70000" h="11000">
                <a:moveTo>
                  <a:pt x="70000" y="6500"/>
                </a:moveTo>
                <a:lnTo>
                  <a:pt x="11000" y="6500"/>
                </a:lnTo>
                <a:lnTo>
                  <a:pt x="11000" y="11000"/>
                </a:lnTo>
                <a:lnTo>
                  <a:pt x="0" y="5500"/>
                </a:lnTo>
                <a:lnTo>
                  <a:pt x="11000" y="0"/>
                </a:lnTo>
                <a:lnTo>
                  <a:pt x="11000" y="4500"/>
                </a:lnTo>
                <a:lnTo>
                  <a:pt x="70000" y="4500"/>
                </a:lnTo>
                <a:close/>
              </a:path>
            </a:pathLst>
          </a:custGeom>
          <a:solidFill>
            <a:srgbClr val="087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actor-transfer-0" descr="Editable line; source id actor-transfer-0"/>
          <p:cNvCxnSpPr/>
          <p:nvPr/>
        </p:nvCxnSpPr>
        <p:spPr>
          <a:xfrm>
            <a:off x="6164384" y="4011897"/>
            <a:ext cx="0" cy="410308"/>
          </a:xfrm>
          <a:prstGeom prst="line">
            <a:avLst/>
          </a:prstGeom>
          <a:ln w="15630">
            <a:solidFill>
              <a:srgbClr val="D9870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actor-transfer-1" descr="Editable line; source id actor-transfer-1"/>
          <p:cNvCxnSpPr/>
          <p:nvPr/>
        </p:nvCxnSpPr>
        <p:spPr>
          <a:xfrm flipH="1">
            <a:off x="5083256" y="4422205"/>
            <a:ext cx="1081128" cy="0"/>
          </a:xfrm>
          <a:prstGeom prst="line">
            <a:avLst/>
          </a:prstGeom>
          <a:ln w="15630">
            <a:solidFill>
              <a:srgbClr val="D9870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actor-transfer-2" descr="Editable line; source id actor-transfer-2"/>
          <p:cNvSpPr/>
          <p:nvPr/>
        </p:nvSpPr>
        <p:spPr>
          <a:xfrm>
            <a:off x="5047435" y="4422205"/>
            <a:ext cx="71641" cy="384256"/>
          </a:xfrm>
          <a:custGeom>
            <a:avLst/>
            <a:gdLst/>
            <a:ahLst/>
            <a:cxnLst/>
            <a:rect l="l" t="t" r="r" b="b"/>
            <a:pathLst>
              <a:path w="11000" h="59000">
                <a:moveTo>
                  <a:pt x="6700" y="0"/>
                </a:moveTo>
                <a:lnTo>
                  <a:pt x="6700" y="48000"/>
                </a:lnTo>
                <a:lnTo>
                  <a:pt x="11000" y="48000"/>
                </a:lnTo>
                <a:lnTo>
                  <a:pt x="5500" y="59000"/>
                </a:lnTo>
                <a:lnTo>
                  <a:pt x="0" y="48000"/>
                </a:lnTo>
                <a:lnTo>
                  <a:pt x="4300" y="48000"/>
                </a:lnTo>
                <a:lnTo>
                  <a:pt x="4300" y="0"/>
                </a:lnTo>
                <a:close/>
              </a:path>
            </a:pathLst>
          </a:custGeom>
          <a:solidFill>
            <a:srgbClr val="D987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history-to-actor-0" descr="Editable line; source id history-to-actor-0"/>
          <p:cNvSpPr/>
          <p:nvPr/>
        </p:nvSpPr>
        <p:spPr>
          <a:xfrm>
            <a:off x="3461564" y="5044179"/>
            <a:ext cx="625231" cy="71641"/>
          </a:xfrm>
          <a:custGeom>
            <a:avLst/>
            <a:gdLst/>
            <a:ahLst/>
            <a:cxnLst/>
            <a:rect l="l" t="t" r="r" b="b"/>
            <a:pathLst>
              <a:path w="96000" h="11000">
                <a:moveTo>
                  <a:pt x="0" y="4000"/>
                </a:moveTo>
                <a:lnTo>
                  <a:pt x="85000" y="4000"/>
                </a:lnTo>
                <a:lnTo>
                  <a:pt x="85000" y="0"/>
                </a:lnTo>
                <a:lnTo>
                  <a:pt x="96000" y="5500"/>
                </a:lnTo>
                <a:lnTo>
                  <a:pt x="85000" y="11000"/>
                </a:lnTo>
                <a:lnTo>
                  <a:pt x="85000" y="7000"/>
                </a:lnTo>
                <a:lnTo>
                  <a:pt x="0" y="7000"/>
                </a:lnTo>
                <a:close/>
              </a:path>
            </a:pathLst>
          </a:custGeom>
          <a:solidFill>
            <a:srgbClr val="087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actor-to-vla-0" descr="Editable line; source id actor-to-vla-0"/>
          <p:cNvSpPr/>
          <p:nvPr/>
        </p:nvSpPr>
        <p:spPr>
          <a:xfrm>
            <a:off x="6079717" y="5044179"/>
            <a:ext cx="631744" cy="71641"/>
          </a:xfrm>
          <a:custGeom>
            <a:avLst/>
            <a:gdLst/>
            <a:ahLst/>
            <a:cxnLst/>
            <a:rect l="l" t="t" r="r" b="b"/>
            <a:pathLst>
              <a:path w="97000" h="11000">
                <a:moveTo>
                  <a:pt x="0" y="4000"/>
                </a:moveTo>
                <a:lnTo>
                  <a:pt x="86000" y="4000"/>
                </a:lnTo>
                <a:lnTo>
                  <a:pt x="86000" y="0"/>
                </a:lnTo>
                <a:lnTo>
                  <a:pt x="97000" y="5500"/>
                </a:lnTo>
                <a:lnTo>
                  <a:pt x="86000" y="11000"/>
                </a:lnTo>
                <a:lnTo>
                  <a:pt x="86000" y="7000"/>
                </a:lnTo>
                <a:lnTo>
                  <a:pt x="0" y="7000"/>
                </a:lnTo>
                <a:close/>
              </a:path>
            </a:pathLst>
          </a:custGeom>
          <a:solidFill>
            <a:srgbClr val="087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vla-to-execute-0" descr="Editable line; source id vla-to-execute-0"/>
          <p:cNvSpPr/>
          <p:nvPr/>
        </p:nvSpPr>
        <p:spPr>
          <a:xfrm>
            <a:off x="8749974" y="5044179"/>
            <a:ext cx="521026" cy="71641"/>
          </a:xfrm>
          <a:custGeom>
            <a:avLst/>
            <a:gdLst/>
            <a:ahLst/>
            <a:cxnLst/>
            <a:rect l="l" t="t" r="r" b="b"/>
            <a:pathLst>
              <a:path w="80000" h="11000">
                <a:moveTo>
                  <a:pt x="0" y="4000"/>
                </a:moveTo>
                <a:lnTo>
                  <a:pt x="69000" y="4000"/>
                </a:lnTo>
                <a:lnTo>
                  <a:pt x="69000" y="0"/>
                </a:lnTo>
                <a:lnTo>
                  <a:pt x="80000" y="5500"/>
                </a:lnTo>
                <a:lnTo>
                  <a:pt x="69000" y="11000"/>
                </a:lnTo>
                <a:lnTo>
                  <a:pt x="69000" y="7000"/>
                </a:lnTo>
                <a:lnTo>
                  <a:pt x="0" y="7000"/>
                </a:lnTo>
                <a:close/>
              </a:path>
            </a:pathLst>
          </a:custGeom>
          <a:solidFill>
            <a:srgbClr val="087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" name="history-branch-0" descr="Editable line; source id history-branch-0"/>
          <p:cNvCxnSpPr/>
          <p:nvPr/>
        </p:nvCxnSpPr>
        <p:spPr>
          <a:xfrm flipV="1">
            <a:off x="2478128" y="4630615"/>
            <a:ext cx="0" cy="175846"/>
          </a:xfrm>
          <a:prstGeom prst="line">
            <a:avLst/>
          </a:prstGeom>
          <a:ln w="14979">
            <a:solidFill>
              <a:srgbClr val="0879B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history-branch-1" descr="Editable line; source id history-branch-1"/>
          <p:cNvCxnSpPr/>
          <p:nvPr/>
        </p:nvCxnSpPr>
        <p:spPr>
          <a:xfrm>
            <a:off x="2478128" y="4630615"/>
            <a:ext cx="5164666" cy="0"/>
          </a:xfrm>
          <a:prstGeom prst="line">
            <a:avLst/>
          </a:prstGeom>
          <a:ln w="14979">
            <a:solidFill>
              <a:srgbClr val="0879B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history-branch-2" descr="Editable line; source id history-branch-2"/>
          <p:cNvSpPr/>
          <p:nvPr/>
        </p:nvSpPr>
        <p:spPr>
          <a:xfrm>
            <a:off x="7606974" y="4630615"/>
            <a:ext cx="71641" cy="123744"/>
          </a:xfrm>
          <a:custGeom>
            <a:avLst/>
            <a:gdLst/>
            <a:ahLst/>
            <a:cxnLst/>
            <a:rect l="l" t="t" r="r" b="b"/>
            <a:pathLst>
              <a:path w="11000" h="19000">
                <a:moveTo>
                  <a:pt x="6650" y="0"/>
                </a:moveTo>
                <a:lnTo>
                  <a:pt x="6650" y="8000"/>
                </a:lnTo>
                <a:lnTo>
                  <a:pt x="11000" y="8000"/>
                </a:lnTo>
                <a:lnTo>
                  <a:pt x="5500" y="19000"/>
                </a:lnTo>
                <a:lnTo>
                  <a:pt x="0" y="8000"/>
                </a:lnTo>
                <a:lnTo>
                  <a:pt x="4350" y="8000"/>
                </a:lnTo>
                <a:lnTo>
                  <a:pt x="4350" y="0"/>
                </a:lnTo>
                <a:close/>
              </a:path>
            </a:pathLst>
          </a:custGeom>
          <a:solidFill>
            <a:srgbClr val="087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reobserve-loop-0" descr="Editable line; source id reobserve-loop-0"/>
          <p:cNvCxnSpPr/>
          <p:nvPr/>
        </p:nvCxnSpPr>
        <p:spPr>
          <a:xfrm>
            <a:off x="10176281" y="5366563"/>
            <a:ext cx="0" cy="273539"/>
          </a:xfrm>
          <a:prstGeom prst="line">
            <a:avLst/>
          </a:prstGeom>
          <a:ln w="15630">
            <a:solidFill>
              <a:srgbClr val="0879B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reobserve-loop-1" descr="Editable line; source id reobserve-loop-1"/>
          <p:cNvCxnSpPr/>
          <p:nvPr/>
        </p:nvCxnSpPr>
        <p:spPr>
          <a:xfrm flipH="1">
            <a:off x="2263205" y="5640102"/>
            <a:ext cx="7913076" cy="0"/>
          </a:xfrm>
          <a:prstGeom prst="line">
            <a:avLst/>
          </a:prstGeom>
          <a:ln w="15630">
            <a:solidFill>
              <a:srgbClr val="0879B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eobserve-loop-2" descr="Editable line; source id reobserve-loop-2"/>
          <p:cNvSpPr/>
          <p:nvPr/>
        </p:nvSpPr>
        <p:spPr>
          <a:xfrm>
            <a:off x="2227384" y="5366564"/>
            <a:ext cx="71641" cy="273538"/>
          </a:xfrm>
          <a:custGeom>
            <a:avLst/>
            <a:gdLst/>
            <a:ahLst/>
            <a:cxnLst/>
            <a:rect l="l" t="t" r="r" b="b"/>
            <a:pathLst>
              <a:path w="11000" h="42000">
                <a:moveTo>
                  <a:pt x="4300" y="42000"/>
                </a:moveTo>
                <a:lnTo>
                  <a:pt x="4300" y="11000"/>
                </a:lnTo>
                <a:lnTo>
                  <a:pt x="0" y="11000"/>
                </a:lnTo>
                <a:lnTo>
                  <a:pt x="5500" y="0"/>
                </a:lnTo>
                <a:lnTo>
                  <a:pt x="11000" y="11000"/>
                </a:lnTo>
                <a:lnTo>
                  <a:pt x="6700" y="11000"/>
                </a:lnTo>
                <a:lnTo>
                  <a:pt x="6700" y="42000"/>
                </a:lnTo>
                <a:close/>
              </a:path>
            </a:pathLst>
          </a:custGeom>
          <a:solidFill>
            <a:srgbClr val="087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acquisition-title" descr="Editable text; source id acquisition-title"/>
          <p:cNvSpPr txBox="1"/>
          <p:nvPr/>
        </p:nvSpPr>
        <p:spPr>
          <a:xfrm>
            <a:off x="875974" y="104205"/>
            <a:ext cx="4852051" cy="30610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123"/>
              </a:lnSpc>
              <a:spcBef>
                <a:spcPts val="0"/>
              </a:spcBef>
              <a:spcAft>
                <a:spcPts val="0"/>
              </a:spcAft>
              <a:defRPr sz="1846" b="1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846" b="1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(a) Acquire verified experience</a:t>
            </a:r>
          </a:p>
        </p:txBody>
      </p:sp>
      <p:sp>
        <p:nvSpPr>
          <p:cNvPr id="87" name="acquisition-subtitle" descr="Editable text; source id acquisition-subtitle"/>
          <p:cNvSpPr txBox="1"/>
          <p:nvPr/>
        </p:nvSpPr>
        <p:spPr>
          <a:xfrm>
            <a:off x="8411307" y="130256"/>
            <a:ext cx="2793999" cy="214923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sz="1128" b="0" i="0" lang="zh-CN" dirty="0">
                <a:solidFill>
                  <a:srgbClr val="3D5E83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128" b="0" i="0" lang="zh-CN" dirty="0">
                <a:solidFill>
                  <a:srgbClr val="3D5E83"/>
                </a:solidFill>
                <a:latin typeface="Liberation Serif"/>
                <a:ea typeface="Liberation Serif"/>
                <a:cs typeface="Liberation Serif"/>
              </a:rPr>
              <a:t>Record executed prefixes and outcomes.</a:t>
            </a:r>
          </a:p>
        </p:txBody>
      </p:sp>
      <p:sp>
        <p:nvSpPr>
          <p:cNvPr id="88" name="proposal-title" descr="Editable text; source id proposal-title"/>
          <p:cNvSpPr txBox="1"/>
          <p:nvPr/>
        </p:nvSpPr>
        <p:spPr>
          <a:xfrm>
            <a:off x="1286282" y="429846"/>
            <a:ext cx="2084102" cy="22794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33"/>
              </a:lnSpc>
              <a:spcBef>
                <a:spcPts val="0"/>
              </a:spcBef>
              <a:spcAft>
                <a:spcPts val="0"/>
              </a:spcAft>
              <a:defRPr sz="1333" b="1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333" b="1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Frozen VLA proposals</a:t>
            </a:r>
          </a:p>
        </p:txBody>
      </p:sp>
      <p:sp>
        <p:nvSpPr>
          <p:cNvPr id="89" name="select-title" descr="Editable text; source id select-title"/>
          <p:cNvSpPr txBox="1"/>
          <p:nvPr/>
        </p:nvSpPr>
        <p:spPr>
          <a:xfrm>
            <a:off x="3826281" y="429846"/>
            <a:ext cx="2181794" cy="22794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33"/>
              </a:lnSpc>
              <a:spcBef>
                <a:spcPts val="0"/>
              </a:spcBef>
              <a:spcAft>
                <a:spcPts val="0"/>
              </a:spcAft>
              <a:defRPr sz="1333" b="1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333" b="1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S2 selection / abstention</a:t>
            </a:r>
          </a:p>
        </p:txBody>
      </p:sp>
      <p:sp>
        <p:nvSpPr>
          <p:cNvPr id="90" name="prefix-title" descr="Editable text; source id prefix-title"/>
          <p:cNvSpPr txBox="1"/>
          <p:nvPr/>
        </p:nvSpPr>
        <p:spPr>
          <a:xfrm>
            <a:off x="6503051" y="429846"/>
            <a:ext cx="1992923" cy="22794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33"/>
              </a:lnSpc>
              <a:spcBef>
                <a:spcPts val="0"/>
              </a:spcBef>
              <a:spcAft>
                <a:spcPts val="0"/>
              </a:spcAft>
              <a:defRPr sz="1333" b="1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333" b="1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Execute prefix</a:t>
            </a:r>
          </a:p>
        </p:txBody>
      </p:sp>
      <p:sp>
        <p:nvSpPr>
          <p:cNvPr id="91" name="capsule-title" descr="Editable text; source id capsule-title"/>
          <p:cNvSpPr txBox="1"/>
          <p:nvPr/>
        </p:nvSpPr>
        <p:spPr>
          <a:xfrm>
            <a:off x="9075615" y="429846"/>
            <a:ext cx="2110153" cy="22794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33"/>
              </a:lnSpc>
              <a:spcBef>
                <a:spcPts val="0"/>
              </a:spcBef>
              <a:spcAft>
                <a:spcPts val="0"/>
              </a:spcAft>
              <a:defRPr sz="1333" b="1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333" b="1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Recovery capsules</a:t>
            </a:r>
          </a:p>
        </p:txBody>
      </p:sp>
      <p:sp>
        <p:nvSpPr>
          <p:cNvPr id="92" name="proposal-a-0" descr="Editable text; source id proposal-a-0"/>
          <p:cNvSpPr txBox="1"/>
          <p:nvPr/>
        </p:nvSpPr>
        <p:spPr>
          <a:xfrm>
            <a:off x="1403512" y="651282"/>
            <a:ext cx="338666" cy="2409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10"/>
              </a:lnSpc>
              <a:spcBef>
                <a:spcPts val="0"/>
              </a:spcBef>
              <a:spcAft>
                <a:spcPts val="0"/>
              </a:spcAft>
              <a:defRPr sz="1487" b="0" i="1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487" b="0" i="1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A1</a:t>
            </a:r>
          </a:p>
        </p:txBody>
      </p:sp>
      <p:sp>
        <p:nvSpPr>
          <p:cNvPr id="93" name="proposal-dots-0" descr="Editable text; source id proposal-dots-0"/>
          <p:cNvSpPr txBox="1"/>
          <p:nvPr/>
        </p:nvSpPr>
        <p:spPr>
          <a:xfrm>
            <a:off x="2836333" y="657794"/>
            <a:ext cx="280051" cy="22794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51"/>
              </a:lnSpc>
              <a:spcBef>
                <a:spcPts val="0"/>
              </a:spcBef>
              <a:spcAft>
                <a:spcPts val="0"/>
              </a:spcAft>
              <a:defRPr sz="1435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435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···</a:t>
            </a:r>
          </a:p>
        </p:txBody>
      </p:sp>
      <p:sp>
        <p:nvSpPr>
          <p:cNvPr id="94" name="proposal-a-1" descr="Editable text; source id proposal-a-1"/>
          <p:cNvSpPr txBox="1"/>
          <p:nvPr/>
        </p:nvSpPr>
        <p:spPr>
          <a:xfrm>
            <a:off x="1403512" y="898769"/>
            <a:ext cx="338666" cy="2409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10"/>
              </a:lnSpc>
              <a:spcBef>
                <a:spcPts val="0"/>
              </a:spcBef>
              <a:spcAft>
                <a:spcPts val="0"/>
              </a:spcAft>
              <a:defRPr sz="1487" b="0" i="1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487" b="0" i="1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A2</a:t>
            </a:r>
          </a:p>
        </p:txBody>
      </p:sp>
      <p:sp>
        <p:nvSpPr>
          <p:cNvPr id="95" name="proposal-dots-1" descr="Editable text; source id proposal-dots-1"/>
          <p:cNvSpPr txBox="1"/>
          <p:nvPr/>
        </p:nvSpPr>
        <p:spPr>
          <a:xfrm>
            <a:off x="2836333" y="905282"/>
            <a:ext cx="280051" cy="22794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51"/>
              </a:lnSpc>
              <a:spcBef>
                <a:spcPts val="0"/>
              </a:spcBef>
              <a:spcAft>
                <a:spcPts val="0"/>
              </a:spcAft>
              <a:defRPr sz="1435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435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···</a:t>
            </a:r>
          </a:p>
        </p:txBody>
      </p:sp>
      <p:sp>
        <p:nvSpPr>
          <p:cNvPr id="96" name="proposal-a-2" descr="Editable text; source id proposal-a-2"/>
          <p:cNvSpPr txBox="1"/>
          <p:nvPr/>
        </p:nvSpPr>
        <p:spPr>
          <a:xfrm>
            <a:off x="1403512" y="1133230"/>
            <a:ext cx="338666" cy="2409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10"/>
              </a:lnSpc>
              <a:spcBef>
                <a:spcPts val="0"/>
              </a:spcBef>
              <a:spcAft>
                <a:spcPts val="0"/>
              </a:spcAft>
              <a:defRPr sz="1487" b="0" i="1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487" b="0" i="1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A3</a:t>
            </a:r>
          </a:p>
        </p:txBody>
      </p:sp>
      <p:sp>
        <p:nvSpPr>
          <p:cNvPr id="97" name="proposal-dots-2" descr="Editable text; source id proposal-dots-2"/>
          <p:cNvSpPr txBox="1"/>
          <p:nvPr/>
        </p:nvSpPr>
        <p:spPr>
          <a:xfrm>
            <a:off x="2836333" y="1139743"/>
            <a:ext cx="280051" cy="22794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51"/>
              </a:lnSpc>
              <a:spcBef>
                <a:spcPts val="0"/>
              </a:spcBef>
              <a:spcAft>
                <a:spcPts val="0"/>
              </a:spcAft>
              <a:defRPr sz="1435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435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···</a:t>
            </a:r>
          </a:p>
        </p:txBody>
      </p:sp>
      <p:sp>
        <p:nvSpPr>
          <p:cNvPr id="98" name="select-a-0" descr="Editable text; source id select-a-0"/>
          <p:cNvSpPr txBox="1"/>
          <p:nvPr/>
        </p:nvSpPr>
        <p:spPr>
          <a:xfrm>
            <a:off x="3963051" y="651282"/>
            <a:ext cx="338666" cy="2409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10"/>
              </a:lnSpc>
              <a:spcBef>
                <a:spcPts val="0"/>
              </a:spcBef>
              <a:spcAft>
                <a:spcPts val="0"/>
              </a:spcAft>
              <a:defRPr sz="1487" b="0" i="1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487" b="0" i="1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A1</a:t>
            </a:r>
          </a:p>
        </p:txBody>
      </p:sp>
      <p:sp>
        <p:nvSpPr>
          <p:cNvPr id="99" name="select-dots-0" descr="Editable text; source id select-dots-0"/>
          <p:cNvSpPr txBox="1"/>
          <p:nvPr/>
        </p:nvSpPr>
        <p:spPr>
          <a:xfrm>
            <a:off x="5395871" y="657794"/>
            <a:ext cx="280051" cy="22794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51"/>
              </a:lnSpc>
              <a:spcBef>
                <a:spcPts val="0"/>
              </a:spcBef>
              <a:spcAft>
                <a:spcPts val="0"/>
              </a:spcAft>
              <a:defRPr sz="1435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435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···</a:t>
            </a:r>
          </a:p>
        </p:txBody>
      </p:sp>
      <p:sp>
        <p:nvSpPr>
          <p:cNvPr id="100" name="select-a-1" descr="Editable text; source id select-a-1"/>
          <p:cNvSpPr txBox="1"/>
          <p:nvPr/>
        </p:nvSpPr>
        <p:spPr>
          <a:xfrm>
            <a:off x="3963051" y="898769"/>
            <a:ext cx="338666" cy="2409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10"/>
              </a:lnSpc>
              <a:spcBef>
                <a:spcPts val="0"/>
              </a:spcBef>
              <a:spcAft>
                <a:spcPts val="0"/>
              </a:spcAft>
              <a:defRPr sz="1487" b="0" i="1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487" b="0" i="1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A2</a:t>
            </a:r>
          </a:p>
        </p:txBody>
      </p:sp>
      <p:sp>
        <p:nvSpPr>
          <p:cNvPr id="101" name="select-dots-1" descr="Editable text; source id select-dots-1"/>
          <p:cNvSpPr txBox="1"/>
          <p:nvPr/>
        </p:nvSpPr>
        <p:spPr>
          <a:xfrm>
            <a:off x="5395871" y="905282"/>
            <a:ext cx="280051" cy="22794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51"/>
              </a:lnSpc>
              <a:spcBef>
                <a:spcPts val="0"/>
              </a:spcBef>
              <a:spcAft>
                <a:spcPts val="0"/>
              </a:spcAft>
              <a:defRPr sz="1435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435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···</a:t>
            </a:r>
          </a:p>
        </p:txBody>
      </p:sp>
      <p:sp>
        <p:nvSpPr>
          <p:cNvPr id="102" name="select-a-2" descr="Editable text; source id select-a-2"/>
          <p:cNvSpPr txBox="1"/>
          <p:nvPr/>
        </p:nvSpPr>
        <p:spPr>
          <a:xfrm>
            <a:off x="3963051" y="1133230"/>
            <a:ext cx="338666" cy="2409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10"/>
              </a:lnSpc>
              <a:spcBef>
                <a:spcPts val="0"/>
              </a:spcBef>
              <a:spcAft>
                <a:spcPts val="0"/>
              </a:spcAft>
              <a:defRPr sz="1487" b="0" i="1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487" b="0" i="1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A3</a:t>
            </a:r>
          </a:p>
        </p:txBody>
      </p:sp>
      <p:sp>
        <p:nvSpPr>
          <p:cNvPr id="103" name="select-dots-2" descr="Editable text; source id select-dots-2"/>
          <p:cNvSpPr txBox="1"/>
          <p:nvPr/>
        </p:nvSpPr>
        <p:spPr>
          <a:xfrm>
            <a:off x="5395871" y="1139743"/>
            <a:ext cx="280051" cy="22794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51"/>
              </a:lnSpc>
              <a:spcBef>
                <a:spcPts val="0"/>
              </a:spcBef>
              <a:spcAft>
                <a:spcPts val="0"/>
              </a:spcAft>
              <a:defRPr sz="1435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435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···</a:t>
            </a:r>
          </a:p>
        </p:txBody>
      </p:sp>
      <p:sp>
        <p:nvSpPr>
          <p:cNvPr id="104" name="prefix-dots" descr="Editable text; source id prefix-dots"/>
          <p:cNvSpPr txBox="1"/>
          <p:nvPr/>
        </p:nvSpPr>
        <p:spPr>
          <a:xfrm>
            <a:off x="8163820" y="911794"/>
            <a:ext cx="280051" cy="2474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51"/>
              </a:lnSpc>
              <a:spcBef>
                <a:spcPts val="0"/>
              </a:spcBef>
              <a:spcAft>
                <a:spcPts val="0"/>
              </a:spcAft>
              <a:defRPr sz="1435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435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···</a:t>
            </a:r>
          </a:p>
        </p:txBody>
      </p:sp>
      <p:sp>
        <p:nvSpPr>
          <p:cNvPr id="105" name="record-text-0" descr="Editable text; source id record-text-0"/>
          <p:cNvSpPr txBox="1"/>
          <p:nvPr/>
        </p:nvSpPr>
        <p:spPr>
          <a:xfrm>
            <a:off x="9218897" y="716410"/>
            <a:ext cx="1589128" cy="234461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33"/>
              </a:lnSpc>
              <a:spcBef>
                <a:spcPts val="0"/>
              </a:spcBef>
              <a:spcAft>
                <a:spcPts val="0"/>
              </a:spcAft>
              <a:defRPr sz="1333" b="0" i="1" lang="zh-CN" dirty="0">
                <a:solidFill>
                  <a:srgbClr val="276B38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333" b="0" i="1" lang="zh-CN" dirty="0">
                <a:solidFill>
                  <a:srgbClr val="276B38"/>
                </a:solidFill>
                <a:latin typeface="Liberation Serif"/>
                <a:ea typeface="Liberation Serif"/>
                <a:cs typeface="Liberation Serif"/>
              </a:rPr>
              <a:t>(h, a, h′, success)</a:t>
            </a:r>
          </a:p>
        </p:txBody>
      </p:sp>
      <p:sp>
        <p:nvSpPr>
          <p:cNvPr id="106" name="record-dots-0" descr="Editable text; source id record-dots-0"/>
          <p:cNvSpPr txBox="1"/>
          <p:nvPr/>
        </p:nvSpPr>
        <p:spPr>
          <a:xfrm>
            <a:off x="10925256" y="709897"/>
            <a:ext cx="280051" cy="22794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10"/>
              </a:lnSpc>
              <a:spcBef>
                <a:spcPts val="0"/>
              </a:spcBef>
              <a:spcAft>
                <a:spcPts val="0"/>
              </a:spcAft>
              <a:defRPr sz="1487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487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···</a:t>
            </a:r>
          </a:p>
        </p:txBody>
      </p:sp>
      <p:sp>
        <p:nvSpPr>
          <p:cNvPr id="107" name="record-text-1" descr="Editable text; source id record-text-1"/>
          <p:cNvSpPr txBox="1"/>
          <p:nvPr/>
        </p:nvSpPr>
        <p:spPr>
          <a:xfrm>
            <a:off x="9218897" y="1074615"/>
            <a:ext cx="1589128" cy="234461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33"/>
              </a:lnSpc>
              <a:spcBef>
                <a:spcPts val="0"/>
              </a:spcBef>
              <a:spcAft>
                <a:spcPts val="0"/>
              </a:spcAft>
              <a:defRPr sz="1333" b="0" i="1" lang="zh-CN" dirty="0">
                <a:solidFill>
                  <a:srgbClr val="9C2228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333" b="0" i="1" lang="zh-CN" dirty="0">
                <a:solidFill>
                  <a:srgbClr val="9C2228"/>
                </a:solidFill>
                <a:latin typeface="Liberation Serif"/>
                <a:ea typeface="Liberation Serif"/>
                <a:cs typeface="Liberation Serif"/>
              </a:rPr>
              <a:t>(h, a, h′, failure)</a:t>
            </a:r>
          </a:p>
        </p:txBody>
      </p:sp>
      <p:sp>
        <p:nvSpPr>
          <p:cNvPr id="108" name="record-dots-1" descr="Editable text; source id record-dots-1"/>
          <p:cNvSpPr txBox="1"/>
          <p:nvPr/>
        </p:nvSpPr>
        <p:spPr>
          <a:xfrm>
            <a:off x="10925256" y="1068102"/>
            <a:ext cx="280051" cy="22794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10"/>
              </a:lnSpc>
              <a:spcBef>
                <a:spcPts val="0"/>
              </a:spcBef>
              <a:spcAft>
                <a:spcPts val="0"/>
              </a:spcAft>
              <a:defRPr sz="1487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487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···</a:t>
            </a:r>
          </a:p>
        </p:txBody>
      </p:sp>
      <p:sp>
        <p:nvSpPr>
          <p:cNvPr id="109" name="evidence-label" descr="Editable text; source id evidence-label"/>
          <p:cNvSpPr txBox="1"/>
          <p:nvPr/>
        </p:nvSpPr>
        <p:spPr>
          <a:xfrm>
            <a:off x="5018128" y="1510974"/>
            <a:ext cx="2155743" cy="221435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38"/>
              </a:lnSpc>
              <a:spcBef>
                <a:spcPts val="0"/>
              </a:spcBef>
              <a:spcAft>
                <a:spcPts val="0"/>
              </a:spcAft>
              <a:defRPr sz="1076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076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Verified experience (h, a, h′, outcome)</a:t>
            </a:r>
          </a:p>
        </p:txBody>
      </p:sp>
      <p:sp>
        <p:nvSpPr>
          <p:cNvPr id="110" name="offline-title" descr="Editable text; source id offline-title"/>
          <p:cNvSpPr txBox="1"/>
          <p:nvPr/>
        </p:nvSpPr>
        <p:spPr>
          <a:xfrm>
            <a:off x="875974" y="1888717"/>
            <a:ext cx="4585025" cy="30610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123"/>
              </a:lnSpc>
              <a:spcBef>
                <a:spcPts val="0"/>
              </a:spcBef>
              <a:spcAft>
                <a:spcPts val="0"/>
              </a:spcAft>
              <a:defRPr sz="1846" b="1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846" b="1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(b) Consolidate offline</a:t>
            </a:r>
          </a:p>
        </p:txBody>
      </p:sp>
      <p:sp>
        <p:nvSpPr>
          <p:cNvPr id="111" name="offline-subtitle" descr="Editable text; source id offline-subtitle"/>
          <p:cNvSpPr txBox="1"/>
          <p:nvPr/>
        </p:nvSpPr>
        <p:spPr>
          <a:xfrm>
            <a:off x="7317153" y="1921282"/>
            <a:ext cx="4005384" cy="214923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38"/>
              </a:lnSpc>
              <a:spcBef>
                <a:spcPts val="0"/>
              </a:spcBef>
              <a:spcAft>
                <a:spcPts val="0"/>
              </a:spcAft>
              <a:defRPr sz="1076" b="0" i="0" lang="zh-CN" dirty="0">
                <a:solidFill>
                  <a:srgbClr val="916016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076" b="0" i="0" lang="zh-CN" dirty="0">
                <a:solidFill>
                  <a:srgbClr val="916016"/>
                </a:solidFill>
                <a:latin typeface="Liberation Serif"/>
                <a:ea typeface="Liberation Serif"/>
                <a:cs typeface="Liberation Serif"/>
              </a:rPr>
              <a:t>Learn a conditional sampler that approximates the critic-defined target.</a:t>
            </a:r>
          </a:p>
        </p:txBody>
      </p:sp>
      <p:sp>
        <p:nvSpPr>
          <p:cNvPr id="112" name="critic-title" descr="Editable text; source id critic-title"/>
          <p:cNvSpPr txBox="1"/>
          <p:nvPr/>
        </p:nvSpPr>
        <p:spPr>
          <a:xfrm>
            <a:off x="1839871" y="2279487"/>
            <a:ext cx="2715846" cy="30610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46"/>
              </a:lnSpc>
              <a:spcBef>
                <a:spcPts val="0"/>
              </a:spcBef>
              <a:spcAft>
                <a:spcPts val="0"/>
              </a:spcAft>
              <a:defRPr sz="1692" b="1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692" b="1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Continuation critic</a:t>
            </a:r>
          </a:p>
        </p:txBody>
      </p:sp>
      <p:sp>
        <p:nvSpPr>
          <p:cNvPr id="113" name="continuation-label" descr="Editable text; source id continuation-label"/>
          <p:cNvSpPr txBox="1"/>
          <p:nvPr/>
        </p:nvSpPr>
        <p:spPr>
          <a:xfrm>
            <a:off x="1918025" y="2539999"/>
            <a:ext cx="2403230" cy="221435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51"/>
              </a:lnSpc>
              <a:spcBef>
                <a:spcPts val="0"/>
              </a:spcBef>
              <a:spcAft>
                <a:spcPts val="0"/>
              </a:spcAft>
              <a:defRPr sz="1435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435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Fixed student thereafter</a:t>
            </a:r>
          </a:p>
        </p:txBody>
      </p:sp>
      <p:sp>
        <p:nvSpPr>
          <p:cNvPr id="114" name="energy-target-label" descr="Editable text; source id energy-target-label"/>
          <p:cNvSpPr txBox="1"/>
          <p:nvPr/>
        </p:nvSpPr>
        <p:spPr>
          <a:xfrm>
            <a:off x="2061307" y="3614615"/>
            <a:ext cx="2123179" cy="234461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33"/>
              </a:lnSpc>
              <a:spcBef>
                <a:spcPts val="0"/>
              </a:spcBef>
              <a:spcAft>
                <a:spcPts val="0"/>
              </a:spcAft>
              <a:defRPr sz="1333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333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Energy-defined target</a:t>
            </a:r>
          </a:p>
        </p:txBody>
      </p:sp>
      <p:sp>
        <p:nvSpPr>
          <p:cNvPr id="115" name="gradient-label" descr="Editable text; source id gradient-label"/>
          <p:cNvSpPr txBox="1"/>
          <p:nvPr/>
        </p:nvSpPr>
        <p:spPr>
          <a:xfrm>
            <a:off x="5220025" y="2820051"/>
            <a:ext cx="462410" cy="234461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43"/>
              </a:lnSpc>
              <a:spcBef>
                <a:spcPts val="0"/>
              </a:spcBef>
              <a:spcAft>
                <a:spcPts val="0"/>
              </a:spcAft>
              <a:defRPr sz="1487" b="0" i="1" lang="zh-CN" dirty="0">
                <a:solidFill>
                  <a:srgbClr val="09204B"/>
                </a:solidFill>
                <a:latin typeface="DejaVu Sans"/>
                <a:ea typeface="DejaVu Sans"/>
                <a:cs typeface="DejaVu Sans"/>
              </a:defRPr>
            </a:pPr>
            <a:r>
              <a:rPr sz="1487" b="0" i="1" lang="zh-CN" dirty="0">
                <a:solidFill>
                  <a:srgbClr val="09204B"/>
                </a:solidFill>
                <a:latin typeface="DejaVu Sans"/>
                <a:ea typeface="DejaVu Sans"/>
                <a:cs typeface="DejaVu Sans"/>
              </a:rPr>
              <a:t>∇</a:t>
            </a:r>
            <a:r>
              <a:rPr sz="1487" b="0" i="1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z E</a:t>
            </a:r>
          </a:p>
        </p:txBody>
      </p:sp>
      <p:sp>
        <p:nvSpPr>
          <p:cNvPr id="116" name="asbs-title" descr="Editable text; source id asbs-title"/>
          <p:cNvSpPr txBox="1"/>
          <p:nvPr/>
        </p:nvSpPr>
        <p:spPr>
          <a:xfrm>
            <a:off x="7271563" y="2214358"/>
            <a:ext cx="2702820" cy="27353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sz="1743" b="1" i="0" lang="zh-CN" dirty="0">
                <a:solidFill>
                  <a:srgbClr val="903F05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743" b="1" i="0" lang="zh-CN" dirty="0">
                <a:solidFill>
                  <a:srgbClr val="903F05"/>
                </a:solidFill>
                <a:latin typeface="Liberation Serif"/>
                <a:ea typeface="Liberation Serif"/>
                <a:cs typeface="Liberation Serif"/>
              </a:rPr>
              <a:t>Conditional ASBS</a:t>
            </a:r>
          </a:p>
        </p:txBody>
      </p:sp>
      <p:sp>
        <p:nvSpPr>
          <p:cNvPr id="117" name="am-label" descr="Editable text; source id am-label"/>
          <p:cNvSpPr txBox="1"/>
          <p:nvPr/>
        </p:nvSpPr>
        <p:spPr>
          <a:xfrm>
            <a:off x="6053666" y="2507435"/>
            <a:ext cx="2285999" cy="22794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33"/>
              </a:lnSpc>
              <a:spcBef>
                <a:spcPts val="0"/>
              </a:spcBef>
              <a:spcAft>
                <a:spcPts val="0"/>
              </a:spcAft>
              <a:defRPr sz="1333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333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Adjoint matching</a:t>
            </a:r>
          </a:p>
        </p:txBody>
      </p:sp>
      <p:sp>
        <p:nvSpPr>
          <p:cNvPr id="118" name="cm-label" descr="Editable text; source id cm-label"/>
          <p:cNvSpPr txBox="1"/>
          <p:nvPr/>
        </p:nvSpPr>
        <p:spPr>
          <a:xfrm>
            <a:off x="8893256" y="2507435"/>
            <a:ext cx="2194820" cy="22794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33"/>
              </a:lnSpc>
              <a:spcBef>
                <a:spcPts val="0"/>
              </a:spcBef>
              <a:spcAft>
                <a:spcPts val="0"/>
              </a:spcAft>
              <a:defRPr sz="1333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333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Corrector matching</a:t>
            </a:r>
          </a:p>
        </p:txBody>
      </p:sp>
      <p:sp>
        <p:nvSpPr>
          <p:cNvPr id="119" name="source-prior" descr="Editable text; source id source-prior"/>
          <p:cNvSpPr txBox="1"/>
          <p:nvPr/>
        </p:nvSpPr>
        <p:spPr>
          <a:xfrm>
            <a:off x="6314179" y="3529948"/>
            <a:ext cx="892256" cy="27353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sz="1743" b="0" i="1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743" b="0" i="1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μ = ρ₀</a:t>
            </a:r>
          </a:p>
        </p:txBody>
      </p:sp>
      <p:sp>
        <p:nvSpPr>
          <p:cNvPr id="120" name="endpoint-label" descr="Editable text; source id endpoint-label"/>
          <p:cNvSpPr txBox="1"/>
          <p:nvPr/>
        </p:nvSpPr>
        <p:spPr>
          <a:xfrm>
            <a:off x="9844127" y="3503897"/>
            <a:ext cx="1113692" cy="267025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sz="1743" b="0" i="1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743" b="0" i="1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qη(z | h)</a:t>
            </a:r>
          </a:p>
        </p:txBody>
      </p:sp>
      <p:sp>
        <p:nvSpPr>
          <p:cNvPr id="121" name="native-distilled" descr="Editable text; source id native-distilled"/>
          <p:cNvSpPr txBox="1"/>
          <p:nvPr/>
        </p:nvSpPr>
        <p:spPr>
          <a:xfrm>
            <a:off x="7655820" y="3725333"/>
            <a:ext cx="2097128" cy="19538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15"/>
              </a:lnSpc>
              <a:spcBef>
                <a:spcPts val="0"/>
              </a:spcBef>
              <a:spcAft>
                <a:spcPts val="0"/>
              </a:spcAft>
              <a:defRPr sz="1230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230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Native qη or distilled pψ</a:t>
            </a:r>
          </a:p>
        </p:txBody>
      </p:sp>
      <p:sp>
        <p:nvSpPr>
          <p:cNvPr id="122" name="actor-transfer-label" descr="Editable text; source id actor-transfer-label"/>
          <p:cNvSpPr txBox="1"/>
          <p:nvPr/>
        </p:nvSpPr>
        <p:spPr>
          <a:xfrm>
            <a:off x="6216487" y="4103076"/>
            <a:ext cx="1641230" cy="221435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2"/>
              </a:lnSpc>
              <a:spcBef>
                <a:spcPts val="0"/>
              </a:spcBef>
              <a:spcAft>
                <a:spcPts val="0"/>
              </a:spcAft>
              <a:defRPr sz="1384" b="0" i="0" lang="zh-CN" dirty="0">
                <a:solidFill>
                  <a:srgbClr val="8B410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384" b="0" i="0" lang="zh-CN" dirty="0">
                <a:solidFill>
                  <a:srgbClr val="8B410D"/>
                </a:solidFill>
                <a:latin typeface="Liberation Serif"/>
                <a:ea typeface="Liberation Serif"/>
                <a:cs typeface="Liberation Serif"/>
              </a:rPr>
              <a:t>Learned actor (qdep)</a:t>
            </a:r>
          </a:p>
        </p:txBody>
      </p:sp>
      <p:sp>
        <p:nvSpPr>
          <p:cNvPr id="123" name="deployment-title" descr="Editable text; source id deployment-title"/>
          <p:cNvSpPr txBox="1"/>
          <p:nvPr/>
        </p:nvSpPr>
        <p:spPr>
          <a:xfrm>
            <a:off x="875974" y="4350563"/>
            <a:ext cx="3484358" cy="267025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64"/>
              </a:lnSpc>
              <a:spcBef>
                <a:spcPts val="0"/>
              </a:spcBef>
              <a:spcAft>
                <a:spcPts val="0"/>
              </a:spcAft>
              <a:defRPr sz="1794" b="1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794" b="1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(c) Deploy without teacher or critic</a:t>
            </a:r>
          </a:p>
        </p:txBody>
      </p:sp>
      <p:sp>
        <p:nvSpPr>
          <p:cNvPr id="124" name="deployment-subtitle" descr="Editable text; source id deployment-subtitle"/>
          <p:cNvSpPr txBox="1"/>
          <p:nvPr/>
        </p:nvSpPr>
        <p:spPr>
          <a:xfrm>
            <a:off x="7453922" y="4363589"/>
            <a:ext cx="3855589" cy="221435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38"/>
              </a:lnSpc>
              <a:spcBef>
                <a:spcPts val="0"/>
              </a:spcBef>
              <a:spcAft>
                <a:spcPts val="0"/>
              </a:spcAft>
              <a:defRPr sz="1076" b="0" i="0" lang="zh-CN" dirty="0">
                <a:solidFill>
                  <a:srgbClr val="3D5E83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076" b="0" i="0" lang="zh-CN" dirty="0">
                <a:solidFill>
                  <a:srgbClr val="3D5E83"/>
                </a:solidFill>
                <a:latin typeface="Liberation Serif"/>
                <a:ea typeface="Liberation Serif"/>
                <a:cs typeface="Liberation Serif"/>
              </a:rPr>
              <a:t>Use the learned proposer with the frozen VLA; re-observe and iterate.</a:t>
            </a:r>
          </a:p>
        </p:txBody>
      </p:sp>
      <p:sp>
        <p:nvSpPr>
          <p:cNvPr id="125" name="history-label" descr="Editable text; source id history-label"/>
          <p:cNvSpPr txBox="1"/>
          <p:nvPr/>
        </p:nvSpPr>
        <p:spPr>
          <a:xfrm>
            <a:off x="1488179" y="4865076"/>
            <a:ext cx="1647743" cy="22794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51"/>
              </a:lnSpc>
              <a:spcBef>
                <a:spcPts val="0"/>
              </a:spcBef>
              <a:spcAft>
                <a:spcPts val="0"/>
              </a:spcAft>
              <a:defRPr sz="1435" b="1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435" b="1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History ht</a:t>
            </a:r>
          </a:p>
        </p:txBody>
      </p:sp>
      <p:sp>
        <p:nvSpPr>
          <p:cNvPr id="126" name="history-detail" descr="Editable text; source id history-detail"/>
          <p:cNvSpPr txBox="1"/>
          <p:nvPr/>
        </p:nvSpPr>
        <p:spPr>
          <a:xfrm>
            <a:off x="1227666" y="5112563"/>
            <a:ext cx="2168769" cy="188871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56"/>
              </a:lnSpc>
              <a:spcBef>
                <a:spcPts val="0"/>
              </a:spcBef>
              <a:spcAft>
                <a:spcPts val="0"/>
              </a:spcAft>
              <a:defRPr sz="1179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179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(past observations and actions)</a:t>
            </a:r>
          </a:p>
        </p:txBody>
      </p:sp>
      <p:sp>
        <p:nvSpPr>
          <p:cNvPr id="127" name="actor-label" descr="Editable text; source id actor-label"/>
          <p:cNvSpPr txBox="1"/>
          <p:nvPr/>
        </p:nvSpPr>
        <p:spPr>
          <a:xfrm>
            <a:off x="4190999" y="4858563"/>
            <a:ext cx="1797538" cy="2409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2"/>
              </a:lnSpc>
              <a:spcBef>
                <a:spcPts val="0"/>
              </a:spcBef>
              <a:spcAft>
                <a:spcPts val="0"/>
              </a:spcAft>
              <a:defRPr sz="1384" b="1" i="0" lang="zh-CN" dirty="0">
                <a:solidFill>
                  <a:srgbClr val="8E470E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384" b="1" i="0" lang="zh-CN" dirty="0">
                <a:solidFill>
                  <a:srgbClr val="8E470E"/>
                </a:solidFill>
                <a:latin typeface="Liberation Serif"/>
                <a:ea typeface="Liberation Serif"/>
                <a:cs typeface="Liberation Serif"/>
              </a:rPr>
              <a:t>Learned proposer</a:t>
            </a:r>
          </a:p>
        </p:txBody>
      </p:sp>
      <p:sp>
        <p:nvSpPr>
          <p:cNvPr id="128" name="actor-symbol" descr="Editable text; source id actor-symbol"/>
          <p:cNvSpPr txBox="1"/>
          <p:nvPr/>
        </p:nvSpPr>
        <p:spPr>
          <a:xfrm>
            <a:off x="4842281" y="5106051"/>
            <a:ext cx="501487" cy="221435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51"/>
              </a:lnSpc>
              <a:spcBef>
                <a:spcPts val="0"/>
              </a:spcBef>
              <a:spcAft>
                <a:spcPts val="0"/>
              </a:spcAft>
              <a:defRPr sz="1435" b="0" i="1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435" b="0" i="1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qdep</a:t>
            </a:r>
          </a:p>
        </p:txBody>
      </p:sp>
      <p:sp>
        <p:nvSpPr>
          <p:cNvPr id="129" name="decoder-title" descr="Editable text; source id decoder-title"/>
          <p:cNvSpPr txBox="1"/>
          <p:nvPr/>
        </p:nvSpPr>
        <p:spPr>
          <a:xfrm>
            <a:off x="7278076" y="4786922"/>
            <a:ext cx="1406769" cy="221435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74"/>
              </a:lnSpc>
              <a:spcBef>
                <a:spcPts val="0"/>
              </a:spcBef>
              <a:spcAft>
                <a:spcPts val="0"/>
              </a:spcAft>
              <a:defRPr sz="1282" b="1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282" b="1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Frozen VLA Gθ₀</a:t>
            </a:r>
          </a:p>
        </p:txBody>
      </p:sp>
      <p:sp>
        <p:nvSpPr>
          <p:cNvPr id="130" name="decoder-detail" descr="Editable text; source id decoder-detail"/>
          <p:cNvSpPr txBox="1"/>
          <p:nvPr/>
        </p:nvSpPr>
        <p:spPr>
          <a:xfrm>
            <a:off x="7199922" y="5027897"/>
            <a:ext cx="1484923" cy="18235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sz="1128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128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(no weight updates)</a:t>
            </a:r>
          </a:p>
        </p:txBody>
      </p:sp>
      <p:sp>
        <p:nvSpPr>
          <p:cNvPr id="131" name="decoder-caption" descr="Editable text; source id decoder-caption"/>
          <p:cNvSpPr txBox="1"/>
          <p:nvPr/>
        </p:nvSpPr>
        <p:spPr>
          <a:xfrm>
            <a:off x="7265051" y="5301435"/>
            <a:ext cx="1328615" cy="123743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84"/>
              </a:lnSpc>
              <a:spcBef>
                <a:spcPts val="0"/>
              </a:spcBef>
              <a:spcAft>
                <a:spcPts val="0"/>
              </a:spcAft>
              <a:defRPr sz="769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769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rPr>
              <a:t>tokens → actions</a:t>
            </a:r>
          </a:p>
        </p:txBody>
      </p:sp>
      <p:sp>
        <p:nvSpPr>
          <p:cNvPr id="132" name="execute-title" descr="Editable text; source id execute-title"/>
          <p:cNvSpPr txBox="1"/>
          <p:nvPr/>
        </p:nvSpPr>
        <p:spPr>
          <a:xfrm>
            <a:off x="9446845" y="4819487"/>
            <a:ext cx="1634717" cy="221435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2"/>
              </a:lnSpc>
              <a:spcBef>
                <a:spcPts val="0"/>
              </a:spcBef>
              <a:spcAft>
                <a:spcPts val="0"/>
              </a:spcAft>
              <a:defRPr sz="1384" b="1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384" b="1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Execute prefix</a:t>
            </a:r>
          </a:p>
        </p:txBody>
      </p:sp>
      <p:sp>
        <p:nvSpPr>
          <p:cNvPr id="133" name="execute-dots" descr="Editable text; source id execute-dots"/>
          <p:cNvSpPr txBox="1"/>
          <p:nvPr/>
        </p:nvSpPr>
        <p:spPr>
          <a:xfrm>
            <a:off x="10821051" y="5027897"/>
            <a:ext cx="273538" cy="234461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51"/>
              </a:lnSpc>
              <a:spcBef>
                <a:spcPts val="0"/>
              </a:spcBef>
              <a:spcAft>
                <a:spcPts val="0"/>
              </a:spcAft>
              <a:defRPr sz="1435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435" b="0" i="0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···</a:t>
            </a:r>
          </a:p>
        </p:txBody>
      </p:sp>
      <p:sp>
        <p:nvSpPr>
          <p:cNvPr id="134" name="latent-label" descr="Editable text; source id latent-label"/>
          <p:cNvSpPr txBox="1"/>
          <p:nvPr/>
        </p:nvSpPr>
        <p:spPr>
          <a:xfrm>
            <a:off x="6255563" y="4839025"/>
            <a:ext cx="273538" cy="22794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10"/>
              </a:lnSpc>
              <a:spcBef>
                <a:spcPts val="0"/>
              </a:spcBef>
              <a:spcAft>
                <a:spcPts val="0"/>
              </a:spcAft>
              <a:defRPr sz="1487" b="0" i="1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487" b="0" i="1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zt</a:t>
            </a:r>
          </a:p>
        </p:txBody>
      </p:sp>
      <p:sp>
        <p:nvSpPr>
          <p:cNvPr id="135" name="history-branch-label" descr="Editable text; source id history-branch-label"/>
          <p:cNvSpPr txBox="1"/>
          <p:nvPr/>
        </p:nvSpPr>
        <p:spPr>
          <a:xfrm>
            <a:off x="4405922" y="4402666"/>
            <a:ext cx="280051" cy="221435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33"/>
              </a:lnSpc>
              <a:spcBef>
                <a:spcPts val="0"/>
              </a:spcBef>
              <a:spcAft>
                <a:spcPts val="0"/>
              </a:spcAft>
              <a:defRPr sz="1333" b="0" i="1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333" b="0" i="1" lang="zh-CN" dirty="0">
                <a:solidFill>
                  <a:srgbClr val="09204B"/>
                </a:solidFill>
                <a:latin typeface="Liberation Serif"/>
                <a:ea typeface="Liberation Serif"/>
                <a:cs typeface="Liberation Serif"/>
              </a:rPr>
              <a:t>ht</a:t>
            </a:r>
          </a:p>
        </p:txBody>
      </p:sp>
      <p:sp>
        <p:nvSpPr>
          <p:cNvPr id="136" name="reobserve-label" descr="Editable text; source id reobserve-label"/>
          <p:cNvSpPr txBox="1"/>
          <p:nvPr/>
        </p:nvSpPr>
        <p:spPr>
          <a:xfrm>
            <a:off x="5460999" y="5646615"/>
            <a:ext cx="1354666" cy="20189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74"/>
              </a:lnSpc>
              <a:spcBef>
                <a:spcPts val="0"/>
              </a:spcBef>
              <a:spcAft>
                <a:spcPts val="0"/>
              </a:spcAft>
              <a:defRPr sz="1282" b="0" i="0" lang="zh-CN" dirty="0">
                <a:solidFill>
                  <a:srgbClr val="0879BA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282" b="0" i="0" lang="zh-CN" dirty="0">
                <a:solidFill>
                  <a:srgbClr val="0879BA"/>
                </a:solidFill>
                <a:latin typeface="Liberation Serif"/>
                <a:ea typeface="Liberation Serif"/>
                <a:cs typeface="Liberation Serif"/>
              </a:rPr>
              <a:t>Re-observe</a:t>
            </a:r>
          </a:p>
        </p:txBody>
      </p:sp>
      <p:sp>
        <p:nvSpPr>
          <p:cNvPr id="137" name="footer" descr="Editable text; source id footer"/>
          <p:cNvSpPr txBox="1"/>
          <p:nvPr/>
        </p:nvSpPr>
        <p:spPr>
          <a:xfrm>
            <a:off x="3904435" y="5894102"/>
            <a:ext cx="4526410" cy="16282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79"/>
              </a:lnSpc>
              <a:spcBef>
                <a:spcPts val="0"/>
              </a:spcBef>
              <a:spcAft>
                <a:spcPts val="0"/>
              </a:spcAft>
              <a:defRPr sz="1025" b="0" i="0" lang="zh-CN" dirty="0">
                <a:solidFill>
                  <a:srgbClr val="476489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025" b="0" i="0" lang="zh-CN" dirty="0">
                <a:solidFill>
                  <a:srgbClr val="476489"/>
                </a:solidFill>
                <a:latin typeface="Liberation Serif"/>
                <a:ea typeface="Liberation Serif"/>
                <a:cs typeface="Liberation Serif"/>
              </a:rPr>
              <a:t>Proposed architecture; integration and distillation costs remain.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noiser-box" descr="Editable shape; source id denoiser-box"/>
          <p:cNvSpPr/>
          <p:nvPr/>
        </p:nvSpPr>
        <p:spPr>
          <a:xfrm>
            <a:off x="2414320" y="2750170"/>
            <a:ext cx="595659" cy="40555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05">
            <a:solidFill>
              <a:srgbClr val="0920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djoint-box" descr="Editable shape; source id adjoint-box"/>
          <p:cNvSpPr/>
          <p:nvPr/>
        </p:nvSpPr>
        <p:spPr>
          <a:xfrm>
            <a:off x="8548340" y="2319268"/>
            <a:ext cx="728731" cy="34852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71">
            <a:solidFill>
              <a:srgbClr val="0920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rrector-box" descr="Editable shape; source id corrector-box"/>
          <p:cNvSpPr/>
          <p:nvPr/>
        </p:nvSpPr>
        <p:spPr>
          <a:xfrm>
            <a:off x="9841047" y="2319268"/>
            <a:ext cx="722394" cy="34852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71">
            <a:solidFill>
              <a:srgbClr val="0920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pplication-panel" descr="Editable shape; source id application-panel"/>
          <p:cNvSpPr/>
          <p:nvPr/>
        </p:nvSpPr>
        <p:spPr>
          <a:xfrm>
            <a:off x="1001214" y="4638536"/>
            <a:ext cx="10183234" cy="1368748"/>
          </a:xfrm>
          <a:prstGeom prst="roundRect">
            <a:avLst>
              <a:gd name="adj" fmla="val 12000"/>
            </a:avLst>
          </a:prstGeom>
          <a:solidFill>
            <a:srgbClr val="FCFEFF"/>
          </a:solidFill>
          <a:ln w="8871">
            <a:solidFill>
              <a:srgbClr val="176C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ords-grid" descr="Editable shape; source id records-grid"/>
          <p:cNvSpPr/>
          <p:nvPr/>
        </p:nvSpPr>
        <p:spPr>
          <a:xfrm>
            <a:off x="1970744" y="4879334"/>
            <a:ext cx="1064582" cy="380207"/>
          </a:xfrm>
          <a:prstGeom prst="rect">
            <a:avLst/>
          </a:prstGeom>
          <a:solidFill>
            <a:srgbClr val="F9FCFF"/>
          </a:solidFill>
          <a:ln w="7604">
            <a:solidFill>
              <a:srgbClr val="6E9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ritic-circle" descr="Editable shape; source id critic-circle"/>
          <p:cNvSpPr/>
          <p:nvPr/>
        </p:nvSpPr>
        <p:spPr>
          <a:xfrm>
            <a:off x="4999733" y="4904681"/>
            <a:ext cx="316839" cy="329513"/>
          </a:xfrm>
          <a:prstGeom prst="ellipse">
            <a:avLst/>
          </a:prstGeom>
          <a:solidFill>
            <a:srgbClr val="FFFFFF"/>
          </a:solidFill>
          <a:ln w="17109">
            <a:solidFill>
              <a:srgbClr val="007B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diff-clean" descr="Exact independent region from the author-selected v20 generated schematic; not experimental photography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696" y="1216665"/>
            <a:ext cx="1115276" cy="652690"/>
          </a:xfrm>
          <a:prstGeom prst="rect">
            <a:avLst/>
          </a:prstGeom>
          <a:effectLst/>
        </p:spPr>
      </p:pic>
      <p:pic>
        <p:nvPicPr>
          <p:cNvPr id="9" name="diff-perturbed" descr="Exact independent region from the author-selected v20 generated schematic; not experimental photography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9579" y="1184981"/>
            <a:ext cx="1286370" cy="690711"/>
          </a:xfrm>
          <a:prstGeom prst="rect">
            <a:avLst/>
          </a:prstGeom>
          <a:effectLst/>
        </p:spPr>
      </p:pic>
      <p:pic>
        <p:nvPicPr>
          <p:cNvPr id="10" name="flow-pairs" descr="Exact independent region from the author-selected v20 generated schematic; not experimental photography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7945" y="1184981"/>
            <a:ext cx="2509372" cy="671700"/>
          </a:xfrm>
          <a:prstGeom prst="rect">
            <a:avLst/>
          </a:prstGeom>
          <a:effectLst/>
        </p:spPr>
      </p:pic>
      <p:pic>
        <p:nvPicPr>
          <p:cNvPr id="11" name="asbs-source" descr="Exact independent region from the author-selected v20 generated schematic; not experimental photography.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1396" y="1203991"/>
            <a:ext cx="735068" cy="659027"/>
          </a:xfrm>
          <a:prstGeom prst="rect">
            <a:avLst/>
          </a:prstGeom>
          <a:effectLst/>
        </p:spPr>
      </p:pic>
      <p:pic>
        <p:nvPicPr>
          <p:cNvPr id="12" name="energy-contours" descr="Exact independent region from the author-selected v20 generated schematic; not experimental photography.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28548" y="1127950"/>
            <a:ext cx="1565189" cy="773089"/>
          </a:xfrm>
          <a:prstGeom prst="rect">
            <a:avLst/>
          </a:prstGeom>
          <a:effectLst/>
        </p:spPr>
      </p:pic>
      <p:pic>
        <p:nvPicPr>
          <p:cNvPr id="13" name="diff-noisy" descr="Exact independent region from the author-selected v20 generated schematic; not experimental photography.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6856" y="2528382"/>
            <a:ext cx="652690" cy="722394"/>
          </a:xfrm>
          <a:prstGeom prst="rect">
            <a:avLst/>
          </a:prstGeom>
          <a:effectLst/>
        </p:spPr>
      </p:pic>
      <p:pic>
        <p:nvPicPr>
          <p:cNvPr id="14" name="diff-stage" descr="Exact independent region from the author-selected v20 generated schematic; not experimental photography.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7272" y="2686802"/>
            <a:ext cx="424565" cy="513280"/>
          </a:xfrm>
          <a:prstGeom prst="rect">
            <a:avLst/>
          </a:prstGeom>
          <a:effectLst/>
        </p:spPr>
      </p:pic>
      <p:pic>
        <p:nvPicPr>
          <p:cNvPr id="15" name="diff-intermediate" descr="Exact independent region from the author-selected v20 generated schematic; not experimental photography.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55725" y="2686802"/>
            <a:ext cx="399218" cy="538627"/>
          </a:xfrm>
          <a:prstGeom prst="rect">
            <a:avLst/>
          </a:prstGeom>
          <a:effectLst/>
        </p:spPr>
      </p:pic>
      <p:pic>
        <p:nvPicPr>
          <p:cNvPr id="16" name="diff-result" descr="Exact independent region from the author-selected v20 generated schematic; not experimental photography.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30985" y="2648781"/>
            <a:ext cx="703384" cy="576648"/>
          </a:xfrm>
          <a:prstGeom prst="rect">
            <a:avLst/>
          </a:prstGeom>
          <a:effectLst/>
        </p:spPr>
      </p:pic>
      <p:pic>
        <p:nvPicPr>
          <p:cNvPr id="17" name="flow-vector-field" descr="Exact independent region from the author-selected v20 generated schematic; not experimental photography.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77945" y="2522045"/>
            <a:ext cx="2496698" cy="785762"/>
          </a:xfrm>
          <a:prstGeom prst="rect">
            <a:avLst/>
          </a:prstGeom>
          <a:effectLst/>
        </p:spPr>
      </p:pic>
      <p:pic>
        <p:nvPicPr>
          <p:cNvPr id="18" name="asbs-bridge" descr="Exact independent region from the author-selected v20 generated schematic; not experimental photography.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03376" y="2686802"/>
            <a:ext cx="3035326" cy="684374"/>
          </a:xfrm>
          <a:prstGeom prst="rect">
            <a:avLst/>
          </a:prstGeom>
          <a:effectLst/>
        </p:spPr>
      </p:pic>
      <p:pic>
        <p:nvPicPr>
          <p:cNvPr id="19" name="diff-prior" descr="Exact independent region from the author-selected v20 generated schematic; not experimental photography.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84981" y="3726037"/>
            <a:ext cx="646353" cy="608332"/>
          </a:xfrm>
          <a:prstGeom prst="rect">
            <a:avLst/>
          </a:prstGeom>
          <a:effectLst/>
        </p:spPr>
      </p:pic>
      <p:pic>
        <p:nvPicPr>
          <p:cNvPr id="20" name="diff-samples" descr="Exact independent region from the author-selected v20 generated schematic; not experimental photography.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34544" y="3802078"/>
            <a:ext cx="804773" cy="532291"/>
          </a:xfrm>
          <a:prstGeom prst="rect">
            <a:avLst/>
          </a:prstGeom>
          <a:effectLst/>
        </p:spPr>
      </p:pic>
      <p:pic>
        <p:nvPicPr>
          <p:cNvPr id="21" name="flow-generation" descr="Exact independent region from the author-selected v20 generated schematic; not experimental photography.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77945" y="3745047"/>
            <a:ext cx="2503035" cy="595659"/>
          </a:xfrm>
          <a:prstGeom prst="rect">
            <a:avLst/>
          </a:prstGeom>
          <a:effectLst/>
        </p:spPr>
      </p:pic>
      <p:pic>
        <p:nvPicPr>
          <p:cNvPr id="22" name="asbs-prior" descr="Exact independent region from the author-selected v20 generated schematic; not experimental photography.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35060" y="3814752"/>
            <a:ext cx="722394" cy="525954"/>
          </a:xfrm>
          <a:prstGeom prst="rect">
            <a:avLst/>
          </a:prstGeom>
          <a:effectLst/>
        </p:spPr>
      </p:pic>
      <p:pic>
        <p:nvPicPr>
          <p:cNvPr id="23" name="asbs-samples" descr="Exact independent region from the author-selected v20 generated schematic; not experimental photography.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043825" y="3840099"/>
            <a:ext cx="975866" cy="500607"/>
          </a:xfrm>
          <a:prstGeom prst="rect">
            <a:avLst/>
          </a:prstGeom>
          <a:effectLst/>
        </p:spPr>
      </p:pic>
      <p:pic>
        <p:nvPicPr>
          <p:cNvPr id="24" name="application-energy" descr="Exact independent region from the author-selected v20 generated schematic; not experimental photography.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932457" y="4815966"/>
            <a:ext cx="1140623" cy="475259"/>
          </a:xfrm>
          <a:prstGeom prst="rect">
            <a:avLst/>
          </a:prstGeom>
          <a:effectLst/>
        </p:spPr>
      </p:pic>
      <p:pic>
        <p:nvPicPr>
          <p:cNvPr id="25" name="application-proposer" descr="Exact independent region from the author-selected v20 generated schematic; not experimental photography.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296082" y="4847650"/>
            <a:ext cx="893488" cy="430902"/>
          </a:xfrm>
          <a:prstGeom prst="rect">
            <a:avLst/>
          </a:prstGeom>
          <a:effectLst/>
        </p:spPr>
      </p:pic>
      <p:cxnSp>
        <p:nvCxnSpPr>
          <p:cNvPr id="26" name="left-bracket-1-0" descr="Editable line; source id left-bracket-1-0"/>
          <p:cNvCxnSpPr/>
          <p:nvPr/>
        </p:nvCxnSpPr>
        <p:spPr>
          <a:xfrm flipV="1">
            <a:off x="1007550" y="494270"/>
            <a:ext cx="0" cy="95052"/>
          </a:xfrm>
          <a:prstGeom prst="line">
            <a:avLst/>
          </a:prstGeom>
          <a:ln w="6970">
            <a:solidFill>
              <a:srgbClr val="0920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left-bracket-1-1" descr="Editable line; source id left-bracket-1-1"/>
          <p:cNvCxnSpPr/>
          <p:nvPr/>
        </p:nvCxnSpPr>
        <p:spPr>
          <a:xfrm>
            <a:off x="1007550" y="494270"/>
            <a:ext cx="2331942" cy="0"/>
          </a:xfrm>
          <a:prstGeom prst="line">
            <a:avLst/>
          </a:prstGeom>
          <a:ln w="6970">
            <a:solidFill>
              <a:srgbClr val="0920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left-bracket-2-0" descr="Editable line; source id left-bracket-2-0"/>
          <p:cNvCxnSpPr/>
          <p:nvPr/>
        </p:nvCxnSpPr>
        <p:spPr>
          <a:xfrm>
            <a:off x="6463534" y="494270"/>
            <a:ext cx="1229338" cy="0"/>
          </a:xfrm>
          <a:prstGeom prst="line">
            <a:avLst/>
          </a:prstGeom>
          <a:ln w="6970">
            <a:solidFill>
              <a:srgbClr val="0920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left-bracket-2-1" descr="Editable line; source id left-bracket-2-1"/>
          <p:cNvCxnSpPr/>
          <p:nvPr/>
        </p:nvCxnSpPr>
        <p:spPr>
          <a:xfrm>
            <a:off x="7692872" y="494270"/>
            <a:ext cx="0" cy="95052"/>
          </a:xfrm>
          <a:prstGeom prst="line">
            <a:avLst/>
          </a:prstGeom>
          <a:ln w="6970">
            <a:solidFill>
              <a:srgbClr val="0920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right-bracket-1-0" descr="Editable line; source id right-bracket-1-0"/>
          <p:cNvCxnSpPr/>
          <p:nvPr/>
        </p:nvCxnSpPr>
        <p:spPr>
          <a:xfrm flipV="1">
            <a:off x="7819608" y="494270"/>
            <a:ext cx="0" cy="95052"/>
          </a:xfrm>
          <a:prstGeom prst="line">
            <a:avLst/>
          </a:prstGeom>
          <a:ln w="6970">
            <a:solidFill>
              <a:srgbClr val="0920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right-bracket-1-1" descr="Editable line; source id right-bracket-1-1"/>
          <p:cNvCxnSpPr/>
          <p:nvPr/>
        </p:nvCxnSpPr>
        <p:spPr>
          <a:xfrm>
            <a:off x="7819608" y="494270"/>
            <a:ext cx="747743" cy="0"/>
          </a:xfrm>
          <a:prstGeom prst="line">
            <a:avLst/>
          </a:prstGeom>
          <a:ln w="6970">
            <a:solidFill>
              <a:srgbClr val="0920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right-bracket-2-0" descr="Editable line; source id right-bracket-2-0"/>
          <p:cNvCxnSpPr/>
          <p:nvPr/>
        </p:nvCxnSpPr>
        <p:spPr>
          <a:xfrm>
            <a:off x="10702852" y="494270"/>
            <a:ext cx="468923" cy="0"/>
          </a:xfrm>
          <a:prstGeom prst="line">
            <a:avLst/>
          </a:prstGeom>
          <a:ln w="6970">
            <a:solidFill>
              <a:srgbClr val="0920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right-bracket-2-1" descr="Editable line; source id right-bracket-2-1"/>
          <p:cNvCxnSpPr/>
          <p:nvPr/>
        </p:nvCxnSpPr>
        <p:spPr>
          <a:xfrm>
            <a:off x="11171775" y="494270"/>
            <a:ext cx="0" cy="95052"/>
          </a:xfrm>
          <a:prstGeom prst="line">
            <a:avLst/>
          </a:prstGeom>
          <a:ln w="6970">
            <a:solidFill>
              <a:srgbClr val="0920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lumn-divider-0-0" descr="Editable line; source id column-divider-0-0"/>
          <p:cNvCxnSpPr/>
          <p:nvPr/>
        </p:nvCxnSpPr>
        <p:spPr>
          <a:xfrm>
            <a:off x="4467442" y="665363"/>
            <a:ext cx="0" cy="3897131"/>
          </a:xfrm>
          <a:prstGeom prst="line">
            <a:avLst/>
          </a:prstGeom>
          <a:ln w="7604">
            <a:solidFill>
              <a:srgbClr val="71AB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lumn-divider-1-0" descr="Editable line; source id column-divider-1-0"/>
          <p:cNvCxnSpPr/>
          <p:nvPr/>
        </p:nvCxnSpPr>
        <p:spPr>
          <a:xfrm>
            <a:off x="7756240" y="665363"/>
            <a:ext cx="0" cy="3897131"/>
          </a:xfrm>
          <a:prstGeom prst="line">
            <a:avLst/>
          </a:prstGeom>
          <a:ln w="7604">
            <a:solidFill>
              <a:srgbClr val="71AB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perturb-arrow-0" descr="Editable line; source id perturb-arrow-0"/>
          <p:cNvSpPr/>
          <p:nvPr/>
        </p:nvSpPr>
        <p:spPr>
          <a:xfrm>
            <a:off x="2522045" y="1517663"/>
            <a:ext cx="253472" cy="69705"/>
          </a:xfrm>
          <a:custGeom>
            <a:avLst/>
            <a:gdLst/>
            <a:ahLst/>
            <a:cxnLst/>
            <a:rect l="l" t="t" r="r" b="b"/>
            <a:pathLst>
              <a:path w="40000" h="11000">
                <a:moveTo>
                  <a:pt x="0" y="4800"/>
                </a:moveTo>
                <a:lnTo>
                  <a:pt x="29000" y="4800"/>
                </a:lnTo>
                <a:lnTo>
                  <a:pt x="29000" y="0"/>
                </a:lnTo>
                <a:lnTo>
                  <a:pt x="40000" y="5500"/>
                </a:lnTo>
                <a:lnTo>
                  <a:pt x="29000" y="11000"/>
                </a:lnTo>
                <a:lnTo>
                  <a:pt x="29000" y="6200"/>
                </a:lnTo>
                <a:lnTo>
                  <a:pt x="0" y="6200"/>
                </a:lnTo>
                <a:close/>
              </a:path>
            </a:pathLst>
          </a:custGeom>
          <a:solidFill>
            <a:srgbClr val="092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denoise-step-0-0" descr="Editable line; source id denoise-step-0-0"/>
          <p:cNvCxnSpPr/>
          <p:nvPr/>
        </p:nvCxnSpPr>
        <p:spPr>
          <a:xfrm>
            <a:off x="1622220" y="2959284"/>
            <a:ext cx="76041" cy="0"/>
          </a:xfrm>
          <a:prstGeom prst="line">
            <a:avLst/>
          </a:prstGeom>
          <a:ln w="6970">
            <a:solidFill>
              <a:srgbClr val="0920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denoise-step-1-0" descr="Editable line; source id denoise-step-1-0"/>
          <p:cNvSpPr/>
          <p:nvPr/>
        </p:nvSpPr>
        <p:spPr>
          <a:xfrm>
            <a:off x="2160847" y="2924432"/>
            <a:ext cx="234462" cy="69705"/>
          </a:xfrm>
          <a:custGeom>
            <a:avLst/>
            <a:gdLst/>
            <a:ahLst/>
            <a:cxnLst/>
            <a:rect l="l" t="t" r="r" b="b"/>
            <a:pathLst>
              <a:path w="37000" h="11000">
                <a:moveTo>
                  <a:pt x="0" y="4950"/>
                </a:moveTo>
                <a:lnTo>
                  <a:pt x="26000" y="4950"/>
                </a:lnTo>
                <a:lnTo>
                  <a:pt x="26000" y="0"/>
                </a:lnTo>
                <a:lnTo>
                  <a:pt x="37000" y="5500"/>
                </a:lnTo>
                <a:lnTo>
                  <a:pt x="26000" y="11000"/>
                </a:lnTo>
                <a:lnTo>
                  <a:pt x="26000" y="6050"/>
                </a:lnTo>
                <a:lnTo>
                  <a:pt x="0" y="6050"/>
                </a:lnTo>
                <a:close/>
              </a:path>
            </a:pathLst>
          </a:custGeom>
          <a:solidFill>
            <a:srgbClr val="092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enoise-step-2-0" descr="Editable line; source id denoise-step-2-0"/>
          <p:cNvSpPr/>
          <p:nvPr/>
        </p:nvSpPr>
        <p:spPr>
          <a:xfrm>
            <a:off x="3022652" y="2924432"/>
            <a:ext cx="114062" cy="69705"/>
          </a:xfrm>
          <a:custGeom>
            <a:avLst/>
            <a:gdLst/>
            <a:ahLst/>
            <a:cxnLst/>
            <a:rect l="l" t="t" r="r" b="b"/>
            <a:pathLst>
              <a:path w="18000" h="11000">
                <a:moveTo>
                  <a:pt x="0" y="4950"/>
                </a:moveTo>
                <a:lnTo>
                  <a:pt x="7000" y="4950"/>
                </a:lnTo>
                <a:lnTo>
                  <a:pt x="7000" y="0"/>
                </a:lnTo>
                <a:lnTo>
                  <a:pt x="18000" y="5500"/>
                </a:lnTo>
                <a:lnTo>
                  <a:pt x="7000" y="11000"/>
                </a:lnTo>
                <a:lnTo>
                  <a:pt x="7000" y="6050"/>
                </a:lnTo>
                <a:lnTo>
                  <a:pt x="0" y="6050"/>
                </a:lnTo>
                <a:close/>
              </a:path>
            </a:pathLst>
          </a:custGeom>
          <a:solidFill>
            <a:srgbClr val="092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denoise-step-3-0" descr="Editable line; source id denoise-step-3-0"/>
          <p:cNvCxnSpPr/>
          <p:nvPr/>
        </p:nvCxnSpPr>
        <p:spPr>
          <a:xfrm>
            <a:off x="3561280" y="2959284"/>
            <a:ext cx="50694" cy="0"/>
          </a:xfrm>
          <a:prstGeom prst="line">
            <a:avLst/>
          </a:prstGeom>
          <a:ln w="6970">
            <a:solidFill>
              <a:srgbClr val="0920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matching-right-0" descr="Editable line; source id matching-right-0"/>
          <p:cNvSpPr/>
          <p:nvPr/>
        </p:nvSpPr>
        <p:spPr>
          <a:xfrm>
            <a:off x="9391134" y="2423825"/>
            <a:ext cx="354861" cy="69705"/>
          </a:xfrm>
          <a:custGeom>
            <a:avLst/>
            <a:gdLst/>
            <a:ahLst/>
            <a:cxnLst/>
            <a:rect l="l" t="t" r="r" b="b"/>
            <a:pathLst>
              <a:path w="56000" h="11000">
                <a:moveTo>
                  <a:pt x="0" y="4800"/>
                </a:moveTo>
                <a:lnTo>
                  <a:pt x="45000" y="4800"/>
                </a:lnTo>
                <a:lnTo>
                  <a:pt x="45000" y="0"/>
                </a:lnTo>
                <a:lnTo>
                  <a:pt x="56000" y="5500"/>
                </a:lnTo>
                <a:lnTo>
                  <a:pt x="45000" y="11000"/>
                </a:lnTo>
                <a:lnTo>
                  <a:pt x="45000" y="6200"/>
                </a:lnTo>
                <a:lnTo>
                  <a:pt x="0" y="6200"/>
                </a:lnTo>
                <a:close/>
              </a:path>
            </a:pathLst>
          </a:custGeom>
          <a:solidFill>
            <a:srgbClr val="092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matching-left-0" descr="Editable line; source id matching-left-0"/>
          <p:cNvSpPr/>
          <p:nvPr/>
        </p:nvSpPr>
        <p:spPr>
          <a:xfrm>
            <a:off x="9391134" y="2499867"/>
            <a:ext cx="354861" cy="69705"/>
          </a:xfrm>
          <a:custGeom>
            <a:avLst/>
            <a:gdLst/>
            <a:ahLst/>
            <a:cxnLst/>
            <a:rect l="l" t="t" r="r" b="b"/>
            <a:pathLst>
              <a:path w="56000" h="11000">
                <a:moveTo>
                  <a:pt x="56000" y="6200"/>
                </a:moveTo>
                <a:lnTo>
                  <a:pt x="11000" y="6200"/>
                </a:lnTo>
                <a:lnTo>
                  <a:pt x="11000" y="11000"/>
                </a:lnTo>
                <a:lnTo>
                  <a:pt x="0" y="5500"/>
                </a:lnTo>
                <a:lnTo>
                  <a:pt x="11000" y="0"/>
                </a:lnTo>
                <a:lnTo>
                  <a:pt x="11000" y="4800"/>
                </a:lnTo>
                <a:lnTo>
                  <a:pt x="56000" y="4800"/>
                </a:lnTo>
                <a:close/>
              </a:path>
            </a:pathLst>
          </a:custGeom>
          <a:solidFill>
            <a:srgbClr val="092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iff-sample-arrow-0" descr="Editable line; source id diff-sample-arrow-0"/>
          <p:cNvSpPr/>
          <p:nvPr/>
        </p:nvSpPr>
        <p:spPr>
          <a:xfrm>
            <a:off x="1989754" y="3982678"/>
            <a:ext cx="1324391" cy="69705"/>
          </a:xfrm>
          <a:custGeom>
            <a:avLst/>
            <a:gdLst/>
            <a:ahLst/>
            <a:cxnLst/>
            <a:rect l="l" t="t" r="r" b="b"/>
            <a:pathLst>
              <a:path w="209000" h="11000">
                <a:moveTo>
                  <a:pt x="0" y="4700"/>
                </a:moveTo>
                <a:lnTo>
                  <a:pt x="198000" y="4700"/>
                </a:lnTo>
                <a:lnTo>
                  <a:pt x="198000" y="0"/>
                </a:lnTo>
                <a:lnTo>
                  <a:pt x="209000" y="5500"/>
                </a:lnTo>
                <a:lnTo>
                  <a:pt x="198000" y="11000"/>
                </a:lnTo>
                <a:lnTo>
                  <a:pt x="198000" y="6300"/>
                </a:lnTo>
                <a:lnTo>
                  <a:pt x="0" y="6300"/>
                </a:lnTo>
                <a:close/>
              </a:path>
            </a:pathLst>
          </a:custGeom>
          <a:solidFill>
            <a:srgbClr val="092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asbs-sample-arrow-0" descr="Editable line; source id asbs-sample-arrow-0"/>
          <p:cNvSpPr/>
          <p:nvPr/>
        </p:nvSpPr>
        <p:spPr>
          <a:xfrm>
            <a:off x="8852506" y="4014362"/>
            <a:ext cx="1064582" cy="69705"/>
          </a:xfrm>
          <a:custGeom>
            <a:avLst/>
            <a:gdLst/>
            <a:ahLst/>
            <a:cxnLst/>
            <a:rect l="l" t="t" r="r" b="b"/>
            <a:pathLst>
              <a:path w="168000" h="11000">
                <a:moveTo>
                  <a:pt x="0" y="4700"/>
                </a:moveTo>
                <a:lnTo>
                  <a:pt x="157000" y="4700"/>
                </a:lnTo>
                <a:lnTo>
                  <a:pt x="157000" y="0"/>
                </a:lnTo>
                <a:lnTo>
                  <a:pt x="168000" y="5500"/>
                </a:lnTo>
                <a:lnTo>
                  <a:pt x="157000" y="11000"/>
                </a:lnTo>
                <a:lnTo>
                  <a:pt x="157000" y="6300"/>
                </a:lnTo>
                <a:lnTo>
                  <a:pt x="0" y="6300"/>
                </a:lnTo>
                <a:close/>
              </a:path>
            </a:pathLst>
          </a:custGeom>
          <a:solidFill>
            <a:srgbClr val="092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records-divider-0" descr="Editable line; source id records-divider-0"/>
          <p:cNvCxnSpPr/>
          <p:nvPr/>
        </p:nvCxnSpPr>
        <p:spPr>
          <a:xfrm>
            <a:off x="2376299" y="4879334"/>
            <a:ext cx="0" cy="380208"/>
          </a:xfrm>
          <a:prstGeom prst="line">
            <a:avLst/>
          </a:prstGeom>
          <a:ln w="6336">
            <a:solidFill>
              <a:srgbClr val="6E9F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records-rule-0-0" descr="Editable line; source id records-rule-0-0"/>
          <p:cNvCxnSpPr/>
          <p:nvPr/>
        </p:nvCxnSpPr>
        <p:spPr>
          <a:xfrm>
            <a:off x="1970744" y="4999733"/>
            <a:ext cx="1064582" cy="0"/>
          </a:xfrm>
          <a:prstGeom prst="line">
            <a:avLst/>
          </a:prstGeom>
          <a:ln w="6336">
            <a:solidFill>
              <a:srgbClr val="6E9F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records-rule-1-0" descr="Editable line; source id records-rule-1-0"/>
          <p:cNvCxnSpPr/>
          <p:nvPr/>
        </p:nvCxnSpPr>
        <p:spPr>
          <a:xfrm>
            <a:off x="1970744" y="5126469"/>
            <a:ext cx="1064582" cy="0"/>
          </a:xfrm>
          <a:prstGeom prst="line">
            <a:avLst/>
          </a:prstGeom>
          <a:ln w="6336">
            <a:solidFill>
              <a:srgbClr val="6E9F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records-mark-0-0" descr="Editable line; source id records-mark-0-0"/>
          <p:cNvCxnSpPr/>
          <p:nvPr/>
        </p:nvCxnSpPr>
        <p:spPr>
          <a:xfrm>
            <a:off x="2072133" y="4942702"/>
            <a:ext cx="158419" cy="0"/>
          </a:xfrm>
          <a:prstGeom prst="line">
            <a:avLst/>
          </a:prstGeom>
          <a:ln w="6336">
            <a:solidFill>
              <a:srgbClr val="0879B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records-value-0-0" descr="Editable line; source id records-value-0-0"/>
          <p:cNvCxnSpPr/>
          <p:nvPr/>
        </p:nvCxnSpPr>
        <p:spPr>
          <a:xfrm>
            <a:off x="2503035" y="4942702"/>
            <a:ext cx="367534" cy="0"/>
          </a:xfrm>
          <a:prstGeom prst="line">
            <a:avLst/>
          </a:prstGeom>
          <a:ln w="9505">
            <a:solidFill>
              <a:srgbClr val="0920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records-mark-1-0" descr="Editable line; source id records-mark-1-0"/>
          <p:cNvCxnSpPr/>
          <p:nvPr/>
        </p:nvCxnSpPr>
        <p:spPr>
          <a:xfrm>
            <a:off x="2072133" y="5069438"/>
            <a:ext cx="158419" cy="0"/>
          </a:xfrm>
          <a:prstGeom prst="line">
            <a:avLst/>
          </a:prstGeom>
          <a:ln w="6336">
            <a:solidFill>
              <a:srgbClr val="0879B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records-value-1-0" descr="Editable line; source id records-value-1-0"/>
          <p:cNvCxnSpPr/>
          <p:nvPr/>
        </p:nvCxnSpPr>
        <p:spPr>
          <a:xfrm>
            <a:off x="2503035" y="5069438"/>
            <a:ext cx="367534" cy="0"/>
          </a:xfrm>
          <a:prstGeom prst="line">
            <a:avLst/>
          </a:prstGeom>
          <a:ln w="9505">
            <a:solidFill>
              <a:srgbClr val="0920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records-mark-2-0" descr="Editable line; source id records-mark-2-0"/>
          <p:cNvCxnSpPr/>
          <p:nvPr/>
        </p:nvCxnSpPr>
        <p:spPr>
          <a:xfrm>
            <a:off x="2072133" y="5196174"/>
            <a:ext cx="158419" cy="0"/>
          </a:xfrm>
          <a:prstGeom prst="line">
            <a:avLst/>
          </a:prstGeom>
          <a:ln w="6336">
            <a:solidFill>
              <a:srgbClr val="0879B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records-value-2-0" descr="Editable line; source id records-value-2-0"/>
          <p:cNvCxnSpPr/>
          <p:nvPr/>
        </p:nvCxnSpPr>
        <p:spPr>
          <a:xfrm>
            <a:off x="2503035" y="5196174"/>
            <a:ext cx="367534" cy="0"/>
          </a:xfrm>
          <a:prstGeom prst="line">
            <a:avLst/>
          </a:prstGeom>
          <a:ln w="9505">
            <a:solidFill>
              <a:srgbClr val="0920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application-flow-0-0" descr="Editable line; source id application-flow-0-0"/>
          <p:cNvSpPr/>
          <p:nvPr/>
        </p:nvSpPr>
        <p:spPr>
          <a:xfrm>
            <a:off x="3592964" y="5047260"/>
            <a:ext cx="538628" cy="69705"/>
          </a:xfrm>
          <a:custGeom>
            <a:avLst/>
            <a:gdLst/>
            <a:ahLst/>
            <a:cxnLst/>
            <a:rect l="l" t="t" r="r" b="b"/>
            <a:pathLst>
              <a:path w="85000" h="11000">
                <a:moveTo>
                  <a:pt x="0" y="4750"/>
                </a:moveTo>
                <a:lnTo>
                  <a:pt x="74000" y="4750"/>
                </a:lnTo>
                <a:lnTo>
                  <a:pt x="74000" y="0"/>
                </a:lnTo>
                <a:lnTo>
                  <a:pt x="85000" y="5500"/>
                </a:lnTo>
                <a:lnTo>
                  <a:pt x="74000" y="11000"/>
                </a:lnTo>
                <a:lnTo>
                  <a:pt x="74000" y="6250"/>
                </a:lnTo>
                <a:lnTo>
                  <a:pt x="0" y="6250"/>
                </a:lnTo>
                <a:close/>
              </a:path>
            </a:pathLst>
          </a:custGeom>
          <a:solidFill>
            <a:srgbClr val="087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application-flow-1-0" descr="Editable line; source id application-flow-1-0"/>
          <p:cNvSpPr/>
          <p:nvPr/>
        </p:nvSpPr>
        <p:spPr>
          <a:xfrm>
            <a:off x="6007284" y="5047260"/>
            <a:ext cx="525954" cy="69705"/>
          </a:xfrm>
          <a:custGeom>
            <a:avLst/>
            <a:gdLst/>
            <a:ahLst/>
            <a:cxnLst/>
            <a:rect l="l" t="t" r="r" b="b"/>
            <a:pathLst>
              <a:path w="83000" h="11000">
                <a:moveTo>
                  <a:pt x="0" y="4750"/>
                </a:moveTo>
                <a:lnTo>
                  <a:pt x="72000" y="4750"/>
                </a:lnTo>
                <a:lnTo>
                  <a:pt x="72000" y="0"/>
                </a:lnTo>
                <a:lnTo>
                  <a:pt x="83000" y="5500"/>
                </a:lnTo>
                <a:lnTo>
                  <a:pt x="72000" y="11000"/>
                </a:lnTo>
                <a:lnTo>
                  <a:pt x="72000" y="6250"/>
                </a:lnTo>
                <a:lnTo>
                  <a:pt x="0" y="6250"/>
                </a:lnTo>
                <a:close/>
              </a:path>
            </a:pathLst>
          </a:custGeom>
          <a:solidFill>
            <a:srgbClr val="087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application-flow-2-0" descr="Editable line; source id application-flow-2-0"/>
          <p:cNvSpPr/>
          <p:nvPr/>
        </p:nvSpPr>
        <p:spPr>
          <a:xfrm>
            <a:off x="8351899" y="5047260"/>
            <a:ext cx="513281" cy="69705"/>
          </a:xfrm>
          <a:custGeom>
            <a:avLst/>
            <a:gdLst/>
            <a:ahLst/>
            <a:cxnLst/>
            <a:rect l="l" t="t" r="r" b="b"/>
            <a:pathLst>
              <a:path w="81000" h="11000">
                <a:moveTo>
                  <a:pt x="0" y="4750"/>
                </a:moveTo>
                <a:lnTo>
                  <a:pt x="70000" y="4750"/>
                </a:lnTo>
                <a:lnTo>
                  <a:pt x="70000" y="0"/>
                </a:lnTo>
                <a:lnTo>
                  <a:pt x="81000" y="5500"/>
                </a:lnTo>
                <a:lnTo>
                  <a:pt x="70000" y="11000"/>
                </a:lnTo>
                <a:lnTo>
                  <a:pt x="70000" y="6250"/>
                </a:lnTo>
                <a:lnTo>
                  <a:pt x="0" y="6250"/>
                </a:lnTo>
                <a:close/>
              </a:path>
            </a:pathLst>
          </a:custGeom>
          <a:solidFill>
            <a:srgbClr val="087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itle" descr="Editable text; source id title"/>
          <p:cNvSpPr txBox="1"/>
          <p:nvPr/>
        </p:nvSpPr>
        <p:spPr>
          <a:xfrm>
            <a:off x="3497912" y="12673"/>
            <a:ext cx="5278552" cy="25980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78"/>
              </a:lnSpc>
              <a:spcBef>
                <a:spcPts val="0"/>
              </a:spcBef>
              <a:spcAft>
                <a:spcPts val="0"/>
              </a:spcAft>
              <a:defRPr sz="1546" b="1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46" b="1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rPr>
              <a:t>Why ASBS fits an energy-defined feedback target</a:t>
            </a:r>
          </a:p>
        </p:txBody>
      </p:sp>
      <p:sp>
        <p:nvSpPr>
          <p:cNvPr id="58" name="left-category" descr="Editable text; source id left-category"/>
          <p:cNvSpPr txBox="1"/>
          <p:nvPr/>
        </p:nvSpPr>
        <p:spPr>
          <a:xfrm>
            <a:off x="3377513" y="348523"/>
            <a:ext cx="3067010" cy="2217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19"/>
              </a:lnSpc>
              <a:spcBef>
                <a:spcPts val="0"/>
              </a:spcBef>
              <a:spcAft>
                <a:spcPts val="0"/>
              </a:spcAft>
              <a:defRPr sz="1147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47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rPr>
              <a:t>Standard sample-trained formulations</a:t>
            </a:r>
          </a:p>
        </p:txBody>
      </p:sp>
      <p:sp>
        <p:nvSpPr>
          <p:cNvPr id="59" name="right-category" descr="Editable text; source id right-category"/>
          <p:cNvSpPr txBox="1"/>
          <p:nvPr/>
        </p:nvSpPr>
        <p:spPr>
          <a:xfrm>
            <a:off x="8605371" y="348523"/>
            <a:ext cx="2065796" cy="2217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19"/>
              </a:lnSpc>
              <a:spcBef>
                <a:spcPts val="0"/>
              </a:spcBef>
              <a:spcAft>
                <a:spcPts val="0"/>
              </a:spcAft>
              <a:defRPr sz="1147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47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rPr>
              <a:t>Energy-defined target</a:t>
            </a:r>
          </a:p>
        </p:txBody>
      </p:sp>
      <p:sp>
        <p:nvSpPr>
          <p:cNvPr id="60" name="column-title-0" descr="Editable text; source id column-title-0"/>
          <p:cNvSpPr txBox="1"/>
          <p:nvPr/>
        </p:nvSpPr>
        <p:spPr>
          <a:xfrm>
            <a:off x="1634893" y="640016"/>
            <a:ext cx="2154511" cy="247135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21"/>
              </a:lnSpc>
              <a:spcBef>
                <a:spcPts val="0"/>
              </a:spcBef>
              <a:spcAft>
                <a:spcPts val="0"/>
              </a:spcAft>
              <a:defRPr sz="1496" b="1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96" b="1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rPr>
              <a:t>(a) Diffusion</a:t>
            </a:r>
          </a:p>
        </p:txBody>
      </p:sp>
      <p:sp>
        <p:nvSpPr>
          <p:cNvPr id="61" name="column-title-1" descr="Editable text; source id column-title-1"/>
          <p:cNvSpPr txBox="1"/>
          <p:nvPr/>
        </p:nvSpPr>
        <p:spPr>
          <a:xfrm>
            <a:off x="4892008" y="640016"/>
            <a:ext cx="2528382" cy="247135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21"/>
              </a:lnSpc>
              <a:spcBef>
                <a:spcPts val="0"/>
              </a:spcBef>
              <a:spcAft>
                <a:spcPts val="0"/>
              </a:spcAft>
              <a:defRPr sz="1496" b="1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96" b="1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rPr>
              <a:t>(b) Flow matching</a:t>
            </a:r>
          </a:p>
        </p:txBody>
      </p:sp>
      <p:sp>
        <p:nvSpPr>
          <p:cNvPr id="62" name="column-title-2" descr="Editable text; source id column-title-2"/>
          <p:cNvSpPr txBox="1"/>
          <p:nvPr/>
        </p:nvSpPr>
        <p:spPr>
          <a:xfrm>
            <a:off x="8320216" y="640016"/>
            <a:ext cx="2312931" cy="247135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21"/>
              </a:lnSpc>
              <a:spcBef>
                <a:spcPts val="0"/>
              </a:spcBef>
              <a:spcAft>
                <a:spcPts val="0"/>
              </a:spcAft>
              <a:defRPr sz="1496" b="1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96" b="1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rPr>
              <a:t>(c) ASBS</a:t>
            </a:r>
          </a:p>
        </p:txBody>
      </p:sp>
      <p:sp>
        <p:nvSpPr>
          <p:cNvPr id="63" name="diff-input" descr="Editable text; source id diff-input"/>
          <p:cNvSpPr txBox="1"/>
          <p:nvPr/>
        </p:nvSpPr>
        <p:spPr>
          <a:xfrm>
            <a:off x="1767966" y="969530"/>
            <a:ext cx="1767966" cy="215451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62"/>
              </a:lnSpc>
              <a:spcBef>
                <a:spcPts val="0"/>
              </a:spcBef>
              <a:spcAft>
                <a:spcPts val="0"/>
              </a:spcAft>
              <a:defRPr sz="1097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97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rPr>
              <a:t>Target samples</a:t>
            </a:r>
          </a:p>
        </p:txBody>
      </p:sp>
      <p:sp>
        <p:nvSpPr>
          <p:cNvPr id="64" name="flow-input" descr="Editable text; source id flow-input"/>
          <p:cNvSpPr txBox="1"/>
          <p:nvPr/>
        </p:nvSpPr>
        <p:spPr>
          <a:xfrm>
            <a:off x="4930028" y="969530"/>
            <a:ext cx="2281247" cy="215451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62"/>
              </a:lnSpc>
              <a:spcBef>
                <a:spcPts val="0"/>
              </a:spcBef>
              <a:spcAft>
                <a:spcPts val="0"/>
              </a:spcAft>
              <a:defRPr sz="1097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97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rPr>
              <a:t>Source + target samples</a:t>
            </a:r>
          </a:p>
        </p:txBody>
      </p:sp>
      <p:sp>
        <p:nvSpPr>
          <p:cNvPr id="65" name="asbs-input" descr="Editable text; source id asbs-input"/>
          <p:cNvSpPr txBox="1"/>
          <p:nvPr/>
        </p:nvSpPr>
        <p:spPr>
          <a:xfrm>
            <a:off x="8225164" y="918835"/>
            <a:ext cx="2465014" cy="19644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84"/>
              </a:lnSpc>
              <a:spcBef>
                <a:spcPts val="0"/>
              </a:spcBef>
              <a:spcAft>
                <a:spcPts val="0"/>
              </a:spcAft>
              <a:defRPr sz="1097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97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rPr>
              <a:t>Source samples + </a:t>
            </a:r>
            <a:r>
              <a:rPr sz="1097" b="0" i="0" lang="zh-CN" dirty="0">
                <a:solidFill>
                  <a:srgbClr val="09204B"/>
                </a:solidFill>
                <a:latin typeface="DejaVu Sans"/>
                <a:ea typeface="DejaVu Sans"/>
                <a:cs typeface="DejaVu Sans"/>
              </a:rPr>
              <a:t>∇</a:t>
            </a:r>
            <a:r>
              <a:rPr sz="1097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rPr>
              <a:t>E</a:t>
            </a:r>
          </a:p>
        </p:txBody>
      </p:sp>
      <p:sp>
        <p:nvSpPr>
          <p:cNvPr id="66" name="perturb-label" descr="Editable text; source id perturb-label"/>
          <p:cNvSpPr txBox="1"/>
          <p:nvPr/>
        </p:nvSpPr>
        <p:spPr>
          <a:xfrm>
            <a:off x="2091143" y="1901039"/>
            <a:ext cx="1844008" cy="215451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04"/>
              </a:lnSpc>
              <a:spcBef>
                <a:spcPts val="0"/>
              </a:spcBef>
              <a:spcAft>
                <a:spcPts val="0"/>
              </a:spcAft>
              <a:defRPr sz="1047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47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rPr>
              <a:t>Perturb samples</a:t>
            </a:r>
          </a:p>
        </p:txBody>
      </p:sp>
      <p:sp>
        <p:nvSpPr>
          <p:cNvPr id="67" name="interpolate-label" descr="Editable text; source id interpolate-label"/>
          <p:cNvSpPr txBox="1"/>
          <p:nvPr/>
        </p:nvSpPr>
        <p:spPr>
          <a:xfrm>
            <a:off x="5018744" y="1907376"/>
            <a:ext cx="2167184" cy="215451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04"/>
              </a:lnSpc>
              <a:spcBef>
                <a:spcPts val="0"/>
              </a:spcBef>
              <a:spcAft>
                <a:spcPts val="0"/>
              </a:spcAft>
              <a:defRPr sz="1047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47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rPr>
              <a:t>Interpolate sample pairs</a:t>
            </a:r>
          </a:p>
        </p:txBody>
      </p:sp>
      <p:sp>
        <p:nvSpPr>
          <p:cNvPr id="68" name="source-label" descr="Editable text; source id source-label"/>
          <p:cNvSpPr txBox="1"/>
          <p:nvPr/>
        </p:nvSpPr>
        <p:spPr>
          <a:xfrm>
            <a:off x="8009712" y="1863018"/>
            <a:ext cx="855467" cy="190103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47"/>
              </a:lnSpc>
              <a:spcBef>
                <a:spcPts val="0"/>
              </a:spcBef>
              <a:spcAft>
                <a:spcPts val="0"/>
              </a:spcAft>
              <a:defRPr sz="997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97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rPr>
              <a:t>Source</a:t>
            </a:r>
          </a:p>
        </p:txBody>
      </p:sp>
      <p:sp>
        <p:nvSpPr>
          <p:cNvPr id="69" name="energy-label" descr="Editable text; source id energy-label"/>
          <p:cNvSpPr txBox="1"/>
          <p:nvPr/>
        </p:nvSpPr>
        <p:spPr>
          <a:xfrm>
            <a:off x="9302419" y="1869355"/>
            <a:ext cx="1083592" cy="164756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47"/>
              </a:lnSpc>
              <a:spcBef>
                <a:spcPts val="0"/>
              </a:spcBef>
              <a:spcAft>
                <a:spcPts val="0"/>
              </a:spcAft>
              <a:defRPr sz="997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97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rPr>
              <a:t>Energy, E(x)</a:t>
            </a:r>
          </a:p>
        </p:txBody>
      </p:sp>
      <p:sp>
        <p:nvSpPr>
          <p:cNvPr id="70" name="no-target-samples" descr="Editable text; source id no-target-samples"/>
          <p:cNvSpPr txBox="1"/>
          <p:nvPr/>
        </p:nvSpPr>
        <p:spPr>
          <a:xfrm>
            <a:off x="9118652" y="2027775"/>
            <a:ext cx="1394095" cy="29149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090"/>
              </a:lnSpc>
              <a:spcBef>
                <a:spcPts val="0"/>
              </a:spcBef>
              <a:spcAft>
                <a:spcPts val="0"/>
              </a:spcAft>
              <a:defRPr sz="948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48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rPr>
              <a:t>No precomputed</a:t>
            </a:r>
          </a:p>
          <a:p>
            <a:pPr algn="ctr" fontAlgn="base">
              <a:lnSpc>
                <a:spcPts val="1090"/>
              </a:lnSpc>
              <a:spcBef>
                <a:spcPts val="0"/>
              </a:spcBef>
              <a:spcAft>
                <a:spcPts val="0"/>
              </a:spcAft>
              <a:defRPr sz="948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48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rPr>
              <a:t>target samples</a:t>
            </a:r>
          </a:p>
        </p:txBody>
      </p:sp>
      <p:sp>
        <p:nvSpPr>
          <p:cNvPr id="71" name="denoise-label" descr="Editable text; source id denoise-label"/>
          <p:cNvSpPr txBox="1"/>
          <p:nvPr/>
        </p:nvSpPr>
        <p:spPr>
          <a:xfrm>
            <a:off x="1761629" y="2262236"/>
            <a:ext cx="2173521" cy="215451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19"/>
              </a:lnSpc>
              <a:spcBef>
                <a:spcPts val="0"/>
              </a:spcBef>
              <a:spcAft>
                <a:spcPts val="0"/>
              </a:spcAft>
              <a:defRPr sz="1147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47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rPr>
              <a:t>Fit a denoiser / score</a:t>
            </a:r>
          </a:p>
        </p:txBody>
      </p:sp>
      <p:sp>
        <p:nvSpPr>
          <p:cNvPr id="72" name="velocity-label" descr="Editable text; source id velocity-label"/>
          <p:cNvSpPr txBox="1"/>
          <p:nvPr/>
        </p:nvSpPr>
        <p:spPr>
          <a:xfrm>
            <a:off x="5164490" y="2262236"/>
            <a:ext cx="2091143" cy="215451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19"/>
              </a:lnSpc>
              <a:spcBef>
                <a:spcPts val="0"/>
              </a:spcBef>
              <a:spcAft>
                <a:spcPts val="0"/>
              </a:spcAft>
              <a:defRPr sz="1147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47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rPr>
              <a:t>Fit a velocity field</a:t>
            </a:r>
          </a:p>
        </p:txBody>
      </p:sp>
      <p:sp>
        <p:nvSpPr>
          <p:cNvPr id="73" name="denoiser-label" descr="Editable text; source id denoiser-label"/>
          <p:cNvSpPr txBox="1"/>
          <p:nvPr/>
        </p:nvSpPr>
        <p:spPr>
          <a:xfrm>
            <a:off x="2439667" y="2794527"/>
            <a:ext cx="557638" cy="323176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47"/>
              </a:lnSpc>
              <a:spcBef>
                <a:spcPts val="0"/>
              </a:spcBef>
              <a:spcAft>
                <a:spcPts val="0"/>
              </a:spcAft>
              <a:defRPr sz="997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97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rPr>
              <a:t>Denoiser</a:t>
            </a:r>
          </a:p>
          <a:p>
            <a:pPr algn="ctr" fontAlgn="base">
              <a:lnSpc>
                <a:spcPts val="1147"/>
              </a:lnSpc>
              <a:spcBef>
                <a:spcPts val="0"/>
              </a:spcBef>
              <a:spcAft>
                <a:spcPts val="0"/>
              </a:spcAft>
              <a:defRPr sz="997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97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rPr>
              <a:t>(sθ)</a:t>
            </a:r>
          </a:p>
        </p:txBody>
      </p:sp>
      <p:sp>
        <p:nvSpPr>
          <p:cNvPr id="74" name="adjoint-label" descr="Editable text; source id adjoint-label"/>
          <p:cNvSpPr txBox="1"/>
          <p:nvPr/>
        </p:nvSpPr>
        <p:spPr>
          <a:xfrm>
            <a:off x="8567351" y="2325604"/>
            <a:ext cx="690711" cy="323176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04"/>
              </a:lnSpc>
              <a:spcBef>
                <a:spcPts val="0"/>
              </a:spcBef>
              <a:spcAft>
                <a:spcPts val="0"/>
              </a:spcAft>
              <a:defRPr sz="1047" b="1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47" b="1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rPr>
              <a:t>Adjoint</a:t>
            </a:r>
          </a:p>
          <a:p>
            <a:pPr algn="ctr" fontAlgn="base">
              <a:lnSpc>
                <a:spcPts val="1204"/>
              </a:lnSpc>
              <a:spcBef>
                <a:spcPts val="0"/>
              </a:spcBef>
              <a:spcAft>
                <a:spcPts val="0"/>
              </a:spcAft>
              <a:defRPr sz="1047" b="1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47" b="1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rPr>
              <a:t>matching</a:t>
            </a:r>
          </a:p>
        </p:txBody>
      </p:sp>
      <p:sp>
        <p:nvSpPr>
          <p:cNvPr id="75" name="corrector-label" descr="Editable text; source id corrector-label"/>
          <p:cNvSpPr txBox="1"/>
          <p:nvPr/>
        </p:nvSpPr>
        <p:spPr>
          <a:xfrm>
            <a:off x="9860057" y="2325604"/>
            <a:ext cx="684374" cy="323176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04"/>
              </a:lnSpc>
              <a:spcBef>
                <a:spcPts val="0"/>
              </a:spcBef>
              <a:spcAft>
                <a:spcPts val="0"/>
              </a:spcAft>
              <a:defRPr sz="1047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47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rPr>
              <a:t>Corrector</a:t>
            </a:r>
          </a:p>
          <a:p>
            <a:pPr algn="ctr" fontAlgn="base">
              <a:lnSpc>
                <a:spcPts val="1204"/>
              </a:lnSpc>
              <a:spcBef>
                <a:spcPts val="0"/>
              </a:spcBef>
              <a:spcAft>
                <a:spcPts val="0"/>
              </a:spcAft>
              <a:defRPr sz="1047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47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rPr>
              <a:t>matching</a:t>
            </a:r>
          </a:p>
        </p:txBody>
      </p:sp>
      <p:sp>
        <p:nvSpPr>
          <p:cNvPr id="76" name="bridge-label" descr="Editable text; source id bridge-label"/>
          <p:cNvSpPr txBox="1"/>
          <p:nvPr/>
        </p:nvSpPr>
        <p:spPr>
          <a:xfrm>
            <a:off x="8389920" y="3364839"/>
            <a:ext cx="2338278" cy="19644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04"/>
              </a:lnSpc>
              <a:spcBef>
                <a:spcPts val="0"/>
              </a:spcBef>
              <a:spcAft>
                <a:spcPts val="0"/>
              </a:spcAft>
              <a:defRPr sz="1047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47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rPr>
              <a:t>Fit a stochastic bridge</a:t>
            </a:r>
          </a:p>
        </p:txBody>
      </p:sp>
      <p:sp>
        <p:nvSpPr>
          <p:cNvPr id="77" name="diff-generate" descr="Editable text; source id diff-generate"/>
          <p:cNvSpPr txBox="1"/>
          <p:nvPr/>
        </p:nvSpPr>
        <p:spPr>
          <a:xfrm>
            <a:off x="1584199" y="3510586"/>
            <a:ext cx="2610760" cy="215451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04"/>
              </a:lnSpc>
              <a:spcBef>
                <a:spcPts val="0"/>
              </a:spcBef>
              <a:spcAft>
                <a:spcPts val="0"/>
              </a:spcAft>
              <a:defRPr sz="1047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47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rPr>
              <a:t>Generate from learned dynamics</a:t>
            </a:r>
          </a:p>
        </p:txBody>
      </p:sp>
      <p:sp>
        <p:nvSpPr>
          <p:cNvPr id="78" name="flow-generate" descr="Editable text; source id flow-generate"/>
          <p:cNvSpPr txBox="1"/>
          <p:nvPr/>
        </p:nvSpPr>
        <p:spPr>
          <a:xfrm>
            <a:off x="4727251" y="3510586"/>
            <a:ext cx="2680465" cy="215451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04"/>
              </a:lnSpc>
              <a:spcBef>
                <a:spcPts val="0"/>
              </a:spcBef>
              <a:spcAft>
                <a:spcPts val="0"/>
              </a:spcAft>
              <a:defRPr sz="1047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47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rPr>
              <a:t>Generate from learned dynamics</a:t>
            </a:r>
          </a:p>
        </p:txBody>
      </p:sp>
      <p:sp>
        <p:nvSpPr>
          <p:cNvPr id="79" name="asbs-generate" descr="Editable text; source id asbs-generate"/>
          <p:cNvSpPr txBox="1"/>
          <p:nvPr/>
        </p:nvSpPr>
        <p:spPr>
          <a:xfrm>
            <a:off x="8263184" y="3656332"/>
            <a:ext cx="2553729" cy="2217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62"/>
              </a:lnSpc>
              <a:spcBef>
                <a:spcPts val="0"/>
              </a:spcBef>
              <a:spcAft>
                <a:spcPts val="0"/>
              </a:spcAft>
              <a:defRPr sz="1097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97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rPr>
              <a:t>Sample the learned proposer</a:t>
            </a:r>
          </a:p>
        </p:txBody>
      </p:sp>
      <p:sp>
        <p:nvSpPr>
          <p:cNvPr id="80" name="diff-source-bottom" descr="Editable text; source id diff-source-bottom"/>
          <p:cNvSpPr txBox="1"/>
          <p:nvPr/>
        </p:nvSpPr>
        <p:spPr>
          <a:xfrm>
            <a:off x="1172307" y="4315359"/>
            <a:ext cx="1058245" cy="19644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04"/>
              </a:lnSpc>
              <a:spcBef>
                <a:spcPts val="0"/>
              </a:spcBef>
              <a:spcAft>
                <a:spcPts val="0"/>
              </a:spcAft>
              <a:defRPr sz="1047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47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rPr>
              <a:t>Noise (prior)</a:t>
            </a:r>
          </a:p>
        </p:txBody>
      </p:sp>
      <p:sp>
        <p:nvSpPr>
          <p:cNvPr id="81" name="diff-samples-bottom" descr="Editable text; source id diff-samples-bottom"/>
          <p:cNvSpPr txBox="1"/>
          <p:nvPr/>
        </p:nvSpPr>
        <p:spPr>
          <a:xfrm>
            <a:off x="3453555" y="4315359"/>
            <a:ext cx="868141" cy="19644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04"/>
              </a:lnSpc>
              <a:spcBef>
                <a:spcPts val="0"/>
              </a:spcBef>
              <a:spcAft>
                <a:spcPts val="0"/>
              </a:spcAft>
              <a:defRPr sz="1047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47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rPr>
              <a:t>Samples</a:t>
            </a:r>
          </a:p>
        </p:txBody>
      </p:sp>
      <p:sp>
        <p:nvSpPr>
          <p:cNvPr id="82" name="flow-source-bottom" descr="Editable text; source id flow-source-bottom"/>
          <p:cNvSpPr txBox="1"/>
          <p:nvPr/>
        </p:nvSpPr>
        <p:spPr>
          <a:xfrm>
            <a:off x="4720914" y="4315359"/>
            <a:ext cx="1102602" cy="19644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04"/>
              </a:lnSpc>
              <a:spcBef>
                <a:spcPts val="0"/>
              </a:spcBef>
              <a:spcAft>
                <a:spcPts val="0"/>
              </a:spcAft>
              <a:defRPr sz="1047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47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rPr>
              <a:t>Source (prior)</a:t>
            </a:r>
          </a:p>
        </p:txBody>
      </p:sp>
      <p:sp>
        <p:nvSpPr>
          <p:cNvPr id="83" name="flow-samples-bottom" descr="Editable text; source id flow-samples-bottom"/>
          <p:cNvSpPr txBox="1"/>
          <p:nvPr/>
        </p:nvSpPr>
        <p:spPr>
          <a:xfrm>
            <a:off x="6640964" y="4315359"/>
            <a:ext cx="868141" cy="19644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04"/>
              </a:lnSpc>
              <a:spcBef>
                <a:spcPts val="0"/>
              </a:spcBef>
              <a:spcAft>
                <a:spcPts val="0"/>
              </a:spcAft>
              <a:defRPr sz="1047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47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rPr>
              <a:t>Samples</a:t>
            </a:r>
          </a:p>
        </p:txBody>
      </p:sp>
      <p:sp>
        <p:nvSpPr>
          <p:cNvPr id="84" name="asbs-source-bottom" descr="Editable text; source id asbs-source-bottom"/>
          <p:cNvSpPr txBox="1"/>
          <p:nvPr/>
        </p:nvSpPr>
        <p:spPr>
          <a:xfrm>
            <a:off x="7863966" y="4315359"/>
            <a:ext cx="1261022" cy="19644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04"/>
              </a:lnSpc>
              <a:spcBef>
                <a:spcPts val="0"/>
              </a:spcBef>
              <a:spcAft>
                <a:spcPts val="0"/>
              </a:spcAft>
              <a:defRPr sz="1047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47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rPr>
              <a:t>Source (prior)</a:t>
            </a:r>
          </a:p>
        </p:txBody>
      </p:sp>
      <p:sp>
        <p:nvSpPr>
          <p:cNvPr id="85" name="asbs-samples-bottom" descr="Editable text; source id asbs-samples-bottom"/>
          <p:cNvSpPr txBox="1"/>
          <p:nvPr/>
        </p:nvSpPr>
        <p:spPr>
          <a:xfrm>
            <a:off x="9733322" y="4315359"/>
            <a:ext cx="1444789" cy="19644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04"/>
              </a:lnSpc>
              <a:spcBef>
                <a:spcPts val="0"/>
              </a:spcBef>
              <a:spcAft>
                <a:spcPts val="0"/>
              </a:spcAft>
              <a:defRPr sz="1047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47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rPr>
              <a:t>Proposer samples</a:t>
            </a:r>
          </a:p>
        </p:txBody>
      </p:sp>
      <p:sp>
        <p:nvSpPr>
          <p:cNvPr id="86" name="application-title" descr="Editable text; source id application-title"/>
          <p:cNvSpPr txBox="1"/>
          <p:nvPr/>
        </p:nvSpPr>
        <p:spPr>
          <a:xfrm>
            <a:off x="1108939" y="4651209"/>
            <a:ext cx="6691658" cy="2217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7"/>
              </a:lnSpc>
              <a:spcBef>
                <a:spcPts val="0"/>
              </a:spcBef>
              <a:spcAft>
                <a:spcPts val="0"/>
              </a:spcAft>
              <a:defRPr sz="1197" b="1" i="0" lang="zh-CN" dirty="0">
                <a:solidFill>
                  <a:srgbClr val="07648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97" b="1" i="0" lang="zh-CN" dirty="0">
                <a:solidFill>
                  <a:srgbClr val="07648B"/>
                </a:solidFill>
                <a:latin typeface="Liberation Sans"/>
                <a:ea typeface="Liberation Sans"/>
                <a:cs typeface="Liberation Sans"/>
              </a:rPr>
              <a:t>Application: consequence-to-proposal learning</a:t>
            </a:r>
          </a:p>
        </p:txBody>
      </p:sp>
      <p:sp>
        <p:nvSpPr>
          <p:cNvPr id="87" name="critic-symbol" descr="Editable text; source id critic-symbol"/>
          <p:cNvSpPr txBox="1"/>
          <p:nvPr/>
        </p:nvSpPr>
        <p:spPr>
          <a:xfrm>
            <a:off x="5044091" y="4917355"/>
            <a:ext cx="234461" cy="27248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78"/>
              </a:lnSpc>
              <a:spcBef>
                <a:spcPts val="0"/>
              </a:spcBef>
              <a:spcAft>
                <a:spcPts val="0"/>
              </a:spcAft>
              <a:defRPr sz="1546" b="1" i="0" lang="zh-CN" dirty="0">
                <a:solidFill>
                  <a:srgbClr val="006C8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46" b="1" i="0" lang="zh-CN" dirty="0">
                <a:solidFill>
                  <a:srgbClr val="006C87"/>
                </a:solidFill>
                <a:latin typeface="Liberation Sans"/>
                <a:ea typeface="Liberation Sans"/>
                <a:cs typeface="Liberation Sans"/>
              </a:rPr>
              <a:t>Q</a:t>
            </a:r>
          </a:p>
        </p:txBody>
      </p:sp>
      <p:sp>
        <p:nvSpPr>
          <p:cNvPr id="88" name="records-application" descr="Editable text; source id records-application"/>
          <p:cNvSpPr txBox="1"/>
          <p:nvPr/>
        </p:nvSpPr>
        <p:spPr>
          <a:xfrm>
            <a:off x="1710935" y="5316573"/>
            <a:ext cx="1641230" cy="20277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47"/>
              </a:lnSpc>
              <a:spcBef>
                <a:spcPts val="0"/>
              </a:spcBef>
              <a:spcAft>
                <a:spcPts val="0"/>
              </a:spcAft>
              <a:defRPr sz="997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97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rPr>
              <a:t>Verified transitions</a:t>
            </a:r>
          </a:p>
        </p:txBody>
      </p:sp>
      <p:sp>
        <p:nvSpPr>
          <p:cNvPr id="89" name="critic-application" descr="Editable text; source id critic-application"/>
          <p:cNvSpPr txBox="1"/>
          <p:nvPr/>
        </p:nvSpPr>
        <p:spPr>
          <a:xfrm>
            <a:off x="4068224" y="5265879"/>
            <a:ext cx="2205205" cy="20277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47"/>
              </a:lnSpc>
              <a:spcBef>
                <a:spcPts val="0"/>
              </a:spcBef>
              <a:spcAft>
                <a:spcPts val="0"/>
              </a:spcAft>
              <a:defRPr sz="997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97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rPr>
              <a:t>Student-continuation value</a:t>
            </a:r>
          </a:p>
        </p:txBody>
      </p:sp>
      <p:sp>
        <p:nvSpPr>
          <p:cNvPr id="90" name="energy-application" descr="Editable text; source id energy-application"/>
          <p:cNvSpPr txBox="1"/>
          <p:nvPr/>
        </p:nvSpPr>
        <p:spPr>
          <a:xfrm>
            <a:off x="6812058" y="5278552"/>
            <a:ext cx="1432116" cy="20277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47"/>
              </a:lnSpc>
              <a:spcBef>
                <a:spcPts val="0"/>
              </a:spcBef>
              <a:spcAft>
                <a:spcPts val="0"/>
              </a:spcAft>
              <a:defRPr sz="997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97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rPr>
              <a:t>Latent energy</a:t>
            </a:r>
          </a:p>
        </p:txBody>
      </p:sp>
      <p:sp>
        <p:nvSpPr>
          <p:cNvPr id="91" name="proposer-application" descr="Editable text; source id proposer-application"/>
          <p:cNvSpPr txBox="1"/>
          <p:nvPr/>
        </p:nvSpPr>
        <p:spPr>
          <a:xfrm>
            <a:off x="9105978" y="5291226"/>
            <a:ext cx="1457463" cy="20277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47"/>
              </a:lnSpc>
              <a:spcBef>
                <a:spcPts val="0"/>
              </a:spcBef>
              <a:spcAft>
                <a:spcPts val="0"/>
              </a:spcAft>
              <a:defRPr sz="997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97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rPr>
              <a:t>ASBS proposer</a:t>
            </a:r>
          </a:p>
        </p:txBody>
      </p:sp>
      <p:sp>
        <p:nvSpPr>
          <p:cNvPr id="92" name="application-summary" descr="Editable text; source id application-summary"/>
          <p:cNvSpPr txBox="1"/>
          <p:nvPr/>
        </p:nvSpPr>
        <p:spPr>
          <a:xfrm>
            <a:off x="3947825" y="5500340"/>
            <a:ext cx="5082112" cy="19644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19"/>
              </a:lnSpc>
              <a:spcBef>
                <a:spcPts val="0"/>
              </a:spcBef>
              <a:spcAft>
                <a:spcPts val="0"/>
              </a:spcAft>
              <a:defRPr sz="1147" b="1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47" b="1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rPr>
              <a:t>Energy supervision without precomputed target samples.</a:t>
            </a:r>
          </a:p>
        </p:txBody>
      </p:sp>
      <p:sp>
        <p:nvSpPr>
          <p:cNvPr id="93" name="caveat-1" descr="Editable text; source id caveat-1"/>
          <p:cNvSpPr txBox="1"/>
          <p:nvPr/>
        </p:nvSpPr>
        <p:spPr>
          <a:xfrm>
            <a:off x="3611974" y="5677771"/>
            <a:ext cx="6514228" cy="18376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47"/>
              </a:lnSpc>
              <a:spcBef>
                <a:spcPts val="0"/>
              </a:spcBef>
              <a:spcAft>
                <a:spcPts val="0"/>
              </a:spcAft>
              <a:defRPr sz="997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97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rPr>
              <a:t>ASBS is itself a diffusion sampler; energy-based diffusion and flow alternatives exist.</a:t>
            </a:r>
          </a:p>
        </p:txBody>
      </p:sp>
      <p:sp>
        <p:nvSpPr>
          <p:cNvPr id="94" name="caveat-2" descr="Editable text; source id caveat-2"/>
          <p:cNvSpPr txBox="1"/>
          <p:nvPr/>
        </p:nvSpPr>
        <p:spPr>
          <a:xfrm>
            <a:off x="3611974" y="5829854"/>
            <a:ext cx="6400166" cy="171093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47"/>
              </a:lnSpc>
              <a:spcBef>
                <a:spcPts val="0"/>
              </a:spcBef>
              <a:spcAft>
                <a:spcPts val="0"/>
              </a:spcAft>
              <a:defRPr sz="997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97" b="0" i="0" lang="zh-CN" dirty="0">
                <a:solidFill>
                  <a:srgbClr val="09204B"/>
                </a:solidFill>
                <a:latin typeface="Liberation Sans"/>
                <a:ea typeface="Liberation Sans"/>
                <a:cs typeface="Liberation Sans"/>
              </a:rPr>
              <a:t>Gradients and sampler rollouts have costs. VLA gains require matched experiments.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ASBS v20 editable figures</dc:title>
  <dc:subject>Reconstructed from source images; see validation and font manifest</dc:subject>
  <dc:creator/>
  <cp:keywords/>
  <dc:description>generated using python-pptx</dc:description>
  <cp:lastModifiedBy>ASBS figure archive</cp:lastModifiedBy>
  <cp:revision>1</cp:revision>
  <dcterms:created xsi:type="dcterms:W3CDTF">2013-01-27T09:14:16Z</dcterms:created>
  <dcterms:modified xsi:type="dcterms:W3CDTF">2013-01-27T09:15:58Z</dcterms:modified>
  <cp:category/>
</cp:coreProperties>
</file>