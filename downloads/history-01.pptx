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9592925" cy="728662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9592925" cy="7286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>
            <a:off x="4410075" y="3924300"/>
            <a:ext cx="114300" cy="114300"/>
          </a:xfrm>
          <a:prstGeom prst="ellipse">
            <a:avLst/>
          </a:prstGeom>
          <a:solidFill>
            <a:srgbClr val="BB4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lipse 4"/>
          <p:cNvSpPr/>
          <p:nvPr/>
        </p:nvSpPr>
        <p:spPr>
          <a:xfrm>
            <a:off x="18126075" y="3305175"/>
            <a:ext cx="114300" cy="114300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lipse 5"/>
          <p:cNvSpPr/>
          <p:nvPr/>
        </p:nvSpPr>
        <p:spPr>
          <a:xfrm>
            <a:off x="6353175" y="2876550"/>
            <a:ext cx="1085850" cy="1762125"/>
          </a:xfrm>
          <a:prstGeom prst="ellipse">
            <a:avLst/>
          </a:prstGeom>
          <a:noFill/>
          <a:ln w="25400">
            <a:solidFill>
              <a:srgbClr val="C4CDD4"/>
            </a:solidFill>
          </a:ln>
        </p:spPr>
        <p:txBody>
          <a:bodyPr/>
          <a:lstStyle/>
          <a:p/>
        </p:txBody>
      </p:sp>
      <p:sp>
        <p:nvSpPr>
          <p:cNvPr id="6" name="Ellipse 6"/>
          <p:cNvSpPr/>
          <p:nvPr/>
        </p:nvSpPr>
        <p:spPr>
          <a:xfrm>
            <a:off x="11763375" y="2876550"/>
            <a:ext cx="1104900" cy="1762125"/>
          </a:xfrm>
          <a:prstGeom prst="ellipse">
            <a:avLst/>
          </a:prstGeom>
          <a:noFill/>
          <a:ln w="25400">
            <a:solidFill>
              <a:srgbClr val="E8D2B3"/>
            </a:solidFill>
          </a:ln>
        </p:spPr>
        <p:txBody>
          <a:bodyPr/>
          <a:lstStyle/>
          <a:p/>
        </p:txBody>
      </p:sp>
      <p:sp>
        <p:nvSpPr>
          <p:cNvPr id="7" name="Ellipse 7"/>
          <p:cNvSpPr/>
          <p:nvPr/>
        </p:nvSpPr>
        <p:spPr>
          <a:xfrm>
            <a:off x="6824662" y="310991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lipse 8"/>
          <p:cNvSpPr/>
          <p:nvPr/>
        </p:nvSpPr>
        <p:spPr>
          <a:xfrm>
            <a:off x="6843712" y="329088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6586538" y="335756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6777037" y="345281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lipse 11"/>
          <p:cNvSpPr/>
          <p:nvPr/>
        </p:nvSpPr>
        <p:spPr>
          <a:xfrm>
            <a:off x="6681787" y="353853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6891338" y="3509963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6986588" y="341471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7053262" y="325278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7119938" y="3395663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7148512" y="364331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6891338" y="370046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6948488" y="3748087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6748462" y="379571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6872288" y="390048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7062788" y="3833813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7081837" y="392906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6653212" y="370046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6491288" y="369093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6500812" y="390048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6624637" y="391953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6691312" y="4110037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6786562" y="407193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6881812" y="4119563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6815137" y="425291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6729412" y="435768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6967537" y="426243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7081837" y="4338637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7186612" y="4024312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6986588" y="3995738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6977062" y="4110037"/>
            <a:ext cx="66675" cy="66675"/>
          </a:xfrm>
          <a:prstGeom prst="ellipse">
            <a:avLst/>
          </a:prstGeom>
          <a:solidFill>
            <a:srgbClr val="1935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12177712" y="310991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12225338" y="330041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11968162" y="336708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12072938" y="355758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12253912" y="343376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12425362" y="320516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12434887" y="3281363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12349162" y="341471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12577762" y="348138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12434887" y="3624263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12301537" y="355758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12206288" y="368141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Ellipse 49"/>
          <p:cNvSpPr/>
          <p:nvPr/>
        </p:nvSpPr>
        <p:spPr>
          <a:xfrm>
            <a:off x="11872912" y="370046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Ellipse 50"/>
          <p:cNvSpPr/>
          <p:nvPr/>
        </p:nvSpPr>
        <p:spPr>
          <a:xfrm>
            <a:off x="12177712" y="3824287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12292012" y="380523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Ellipse 52"/>
          <p:cNvSpPr/>
          <p:nvPr/>
        </p:nvSpPr>
        <p:spPr>
          <a:xfrm>
            <a:off x="12387262" y="373856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Ellipse 53"/>
          <p:cNvSpPr/>
          <p:nvPr/>
        </p:nvSpPr>
        <p:spPr>
          <a:xfrm>
            <a:off x="12501562" y="380523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12311062" y="391001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12091988" y="399573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12015787" y="395763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12130088" y="412908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12225338" y="410051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12434887" y="3976687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12615862" y="403383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12387262" y="4291013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12101512" y="435768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12272962" y="426243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12006262" y="384333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12472988" y="4090988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12253912" y="4024312"/>
            <a:ext cx="66675" cy="66675"/>
          </a:xfrm>
          <a:prstGeom prst="ellipse">
            <a:avLst/>
          </a:prstGeom>
          <a:solidFill>
            <a:srgbClr val="CE922F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7496175" y="3076575"/>
            <a:ext cx="123825" cy="123825"/>
          </a:xfrm>
          <a:prstGeom prst="ellipse">
            <a:avLst/>
          </a:prstGeom>
          <a:solidFill>
            <a:srgbClr val="365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7496175" y="3371850"/>
            <a:ext cx="123825" cy="123825"/>
          </a:xfrm>
          <a:prstGeom prst="ellipse">
            <a:avLst/>
          </a:prstGeom>
          <a:solidFill>
            <a:srgbClr val="365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7496175" y="3657600"/>
            <a:ext cx="123825" cy="123825"/>
          </a:xfrm>
          <a:prstGeom prst="ellipse">
            <a:avLst/>
          </a:prstGeom>
          <a:solidFill>
            <a:srgbClr val="365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Ellipse 70"/>
          <p:cNvSpPr/>
          <p:nvPr/>
        </p:nvSpPr>
        <p:spPr>
          <a:xfrm>
            <a:off x="7496175" y="3952875"/>
            <a:ext cx="123825" cy="123825"/>
          </a:xfrm>
          <a:prstGeom prst="ellipse">
            <a:avLst/>
          </a:prstGeom>
          <a:solidFill>
            <a:srgbClr val="365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7496175" y="4248150"/>
            <a:ext cx="123825" cy="123825"/>
          </a:xfrm>
          <a:prstGeom prst="ellipse">
            <a:avLst/>
          </a:prstGeom>
          <a:solidFill>
            <a:srgbClr val="365568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oundrect 72"/>
          <p:cNvSpPr/>
          <p:nvPr/>
        </p:nvSpPr>
        <p:spPr>
          <a:xfrm>
            <a:off x="7743825" y="5543550"/>
            <a:ext cx="3924300" cy="866775"/>
          </a:xfrm>
          <a:prstGeom prst="roundRect">
            <a:avLst>
              <a:gd name="adj" fmla="val 12088"/>
            </a:avLst>
          </a:prstGeom>
          <a:noFill/>
          <a:ln w="31750">
            <a:solidFill>
              <a:srgbClr val="33556A"/>
            </a:solidFill>
          </a:ln>
        </p:spPr>
        <p:txBody>
          <a:bodyPr/>
          <a:lstStyle/>
          <a:p/>
        </p:txBody>
      </p:sp>
      <p:sp>
        <p:nvSpPr>
          <p:cNvPr id="73" name="Path 73"/>
          <p:cNvSpPr/>
          <p:nvPr/>
        </p:nvSpPr>
        <p:spPr>
          <a:xfrm>
            <a:off x="5867400" y="371475"/>
            <a:ext cx="9525" cy="64674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</a:path>
            </a:pathLst>
          </a:custGeom>
          <a:noFill/>
          <a:ln w="16510">
            <a:solidFill>
              <a:srgbClr val="E0E5E8"/>
            </a:solidFill>
          </a:ln>
        </p:spPr>
        <p:txBody>
          <a:bodyPr/>
          <a:lstStyle/>
          <a:p/>
        </p:txBody>
      </p:sp>
      <p:sp>
        <p:nvSpPr>
          <p:cNvPr id="74" name="Path 74"/>
          <p:cNvSpPr/>
          <p:nvPr/>
        </p:nvSpPr>
        <p:spPr>
          <a:xfrm>
            <a:off x="13392150" y="371475"/>
            <a:ext cx="9525" cy="64674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</a:path>
            </a:pathLst>
          </a:custGeom>
          <a:noFill/>
          <a:ln w="16510">
            <a:solidFill>
              <a:srgbClr val="E0E5E8"/>
            </a:solidFill>
          </a:ln>
        </p:spPr>
        <p:txBody>
          <a:bodyPr/>
          <a:lstStyle/>
          <a:p/>
        </p:txBody>
      </p:sp>
      <p:sp>
        <p:nvSpPr>
          <p:cNvPr id="75" name="Path 75"/>
          <p:cNvSpPr/>
          <p:nvPr/>
        </p:nvSpPr>
        <p:spPr>
          <a:xfrm>
            <a:off x="3371850" y="1457325"/>
            <a:ext cx="1095375" cy="25241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3523" y="0"/>
                </a:lnTo>
                <a:lnTo>
                  <a:pt x="21600" y="21600"/>
                </a:lnTo>
              </a:path>
            </a:pathLst>
          </a:custGeom>
          <a:noFill/>
          <a:ln w="19050">
            <a:solidFill>
              <a:srgbClr val="BB4937"/>
            </a:solidFill>
          </a:ln>
        </p:spPr>
        <p:txBody>
          <a:bodyPr/>
          <a:lstStyle/>
          <a:p/>
        </p:txBody>
      </p:sp>
      <p:sp>
        <p:nvSpPr>
          <p:cNvPr id="76" name="Path 76"/>
          <p:cNvSpPr/>
          <p:nvPr/>
        </p:nvSpPr>
        <p:spPr>
          <a:xfrm>
            <a:off x="9810750" y="1609725"/>
            <a:ext cx="9525" cy="5905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</a:path>
            </a:pathLst>
          </a:custGeom>
          <a:noFill/>
          <a:ln w="44450">
            <a:solidFill>
              <a:srgbClr val="257F8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7" name="Path 77"/>
          <p:cNvSpPr/>
          <p:nvPr/>
        </p:nvSpPr>
        <p:spPr>
          <a:xfrm>
            <a:off x="18183225" y="1914525"/>
            <a:ext cx="466725" cy="14478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20718" y="15916"/>
                </a:lnTo>
                <a:lnTo>
                  <a:pt x="0" y="21600"/>
                </a:lnTo>
              </a:path>
            </a:pathLst>
          </a:custGeom>
          <a:noFill/>
          <a:ln w="20320">
            <a:solidFill>
              <a:srgbClr val="CE922F"/>
            </a:solidFill>
          </a:ln>
        </p:spPr>
        <p:txBody>
          <a:bodyPr/>
          <a:lstStyle/>
          <a:p/>
        </p:txBody>
      </p:sp>
      <p:sp>
        <p:nvSpPr>
          <p:cNvPr id="78" name="Path 78"/>
          <p:cNvSpPr/>
          <p:nvPr/>
        </p:nvSpPr>
        <p:spPr>
          <a:xfrm>
            <a:off x="17926050" y="3857625"/>
            <a:ext cx="9525" cy="5524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</a:path>
            </a:pathLst>
          </a:custGeom>
          <a:noFill/>
          <a:ln w="38100">
            <a:solidFill>
              <a:srgbClr val="CE922F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79" name="Path 79"/>
          <p:cNvSpPr/>
          <p:nvPr/>
        </p:nvSpPr>
        <p:spPr>
          <a:xfrm>
            <a:off x="18383250" y="5495925"/>
            <a:ext cx="619125" cy="676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21600" y="7606"/>
                </a:lnTo>
                <a:lnTo>
                  <a:pt x="0" y="21600"/>
                </a:lnTo>
              </a:path>
            </a:pathLst>
          </a:custGeom>
          <a:noFill/>
          <a:ln w="40640">
            <a:solidFill>
              <a:srgbClr val="257F8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0" name="Path 80"/>
          <p:cNvSpPr/>
          <p:nvPr/>
        </p:nvSpPr>
        <p:spPr>
          <a:xfrm>
            <a:off x="7581900" y="2552700"/>
            <a:ext cx="4048125" cy="1038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088"/>
                </a:moveTo>
                <a:cubicBezTo>
                  <a:pt x="7573" y="0"/>
                  <a:pt x="13672" y="21600"/>
                  <a:pt x="21600" y="14664"/>
                </a:cubicBezTo>
              </a:path>
            </a:pathLst>
          </a:custGeom>
          <a:noFill/>
          <a:ln w="38100">
            <a:solidFill>
              <a:srgbClr val="DBA348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1" name="Path 81"/>
          <p:cNvSpPr/>
          <p:nvPr/>
        </p:nvSpPr>
        <p:spPr>
          <a:xfrm>
            <a:off x="7581900" y="2847975"/>
            <a:ext cx="4048125" cy="1038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088"/>
                </a:moveTo>
                <a:cubicBezTo>
                  <a:pt x="7573" y="0"/>
                  <a:pt x="13672" y="21600"/>
                  <a:pt x="21600" y="14664"/>
                </a:cubicBezTo>
              </a:path>
            </a:pathLst>
          </a:custGeom>
          <a:noFill/>
          <a:ln w="38100">
            <a:solidFill>
              <a:srgbClr val="DBA348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2" name="Path 82"/>
          <p:cNvSpPr/>
          <p:nvPr/>
        </p:nvSpPr>
        <p:spPr>
          <a:xfrm>
            <a:off x="7581900" y="3133725"/>
            <a:ext cx="4048125" cy="1038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088"/>
                </a:moveTo>
                <a:cubicBezTo>
                  <a:pt x="7573" y="0"/>
                  <a:pt x="13672" y="21600"/>
                  <a:pt x="21600" y="14664"/>
                </a:cubicBezTo>
              </a:path>
            </a:pathLst>
          </a:custGeom>
          <a:noFill/>
          <a:ln w="38100">
            <a:solidFill>
              <a:srgbClr val="DBA348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3" name="Path 83"/>
          <p:cNvSpPr/>
          <p:nvPr/>
        </p:nvSpPr>
        <p:spPr>
          <a:xfrm>
            <a:off x="7581900" y="3429000"/>
            <a:ext cx="4048125" cy="1038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088"/>
                </a:moveTo>
                <a:cubicBezTo>
                  <a:pt x="7573" y="0"/>
                  <a:pt x="13672" y="21600"/>
                  <a:pt x="21600" y="14664"/>
                </a:cubicBezTo>
              </a:path>
            </a:pathLst>
          </a:custGeom>
          <a:noFill/>
          <a:ln w="38100">
            <a:solidFill>
              <a:srgbClr val="DBA348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4" name="Path 84"/>
          <p:cNvSpPr/>
          <p:nvPr/>
        </p:nvSpPr>
        <p:spPr>
          <a:xfrm>
            <a:off x="7581900" y="3724275"/>
            <a:ext cx="4048125" cy="1038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088"/>
                </a:moveTo>
                <a:cubicBezTo>
                  <a:pt x="7573" y="0"/>
                  <a:pt x="13672" y="21600"/>
                  <a:pt x="21600" y="14664"/>
                </a:cubicBezTo>
              </a:path>
            </a:pathLst>
          </a:custGeom>
          <a:noFill/>
          <a:ln w="38100">
            <a:solidFill>
              <a:srgbClr val="DBA348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5" name="Path 85"/>
          <p:cNvSpPr/>
          <p:nvPr/>
        </p:nvSpPr>
        <p:spPr>
          <a:xfrm>
            <a:off x="10629900" y="4476750"/>
            <a:ext cx="952500" cy="10191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21600" y="8075"/>
                </a:lnTo>
                <a:lnTo>
                  <a:pt x="0" y="8075"/>
                </a:lnTo>
                <a:lnTo>
                  <a:pt x="0" y="21600"/>
                </a:lnTo>
              </a:path>
            </a:pathLst>
          </a:custGeom>
          <a:noFill/>
          <a:ln w="38100">
            <a:solidFill>
              <a:srgbClr val="CE922F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6" name="Path 86"/>
          <p:cNvSpPr/>
          <p:nvPr/>
        </p:nvSpPr>
        <p:spPr>
          <a:xfrm>
            <a:off x="11668125" y="5448300"/>
            <a:ext cx="2790825" cy="5334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16587" y="21600"/>
                </a:lnTo>
                <a:lnTo>
                  <a:pt x="16587" y="0"/>
                </a:lnTo>
                <a:lnTo>
                  <a:pt x="21600" y="0"/>
                </a:lnTo>
              </a:path>
            </a:pathLst>
          </a:custGeom>
          <a:noFill/>
          <a:ln w="38100">
            <a:solidFill>
              <a:srgbClr val="33556A"/>
            </a:solidFill>
            <a:tailEnd type="triangle"/>
          </a:ln>
        </p:spPr>
        <p:txBody>
          <a:bodyPr/>
          <a:lstStyle/>
          <a:p/>
        </p:txBody>
      </p:sp>
      <p:pic>
        <p:nvPicPr>
          <p:cNvPr id="87" name="left_scene"/>
          <p:cNvPicPr/>
          <p:nvPr/>
        </p:nvPicPr>
        <p:blipFill>
          <a:blip r:embed="rId2"/>
          <a:stretch>
            <a:fillRect/>
          </a:stretch>
        </p:blipFill>
        <p:spPr>
          <a:xfrm>
            <a:off x="-125599" y="1449992"/>
            <a:ext cx="6174908" cy="4671786"/>
          </a:xfrm>
          <a:prstGeom prst="rect">
            <a:avLst/>
          </a:prstGeom>
        </p:spPr>
      </p:pic>
      <p:pic>
        <p:nvPicPr>
          <p:cNvPr id="88" name="right_scene"/>
          <p:cNvPicPr/>
          <p:nvPr/>
        </p:nvPicPr>
        <p:blipFill>
          <a:blip r:embed="rId3"/>
          <a:stretch>
            <a:fillRect/>
          </a:stretch>
        </p:blipFill>
        <p:spPr>
          <a:xfrm>
            <a:off x="13112298" y="1489321"/>
            <a:ext cx="6689000" cy="4596001"/>
          </a:xfrm>
          <a:prstGeom prst="rect">
            <a:avLst/>
          </a:prstGeom>
        </p:spPr>
      </p:pic>
      <p:pic>
        <p:nvPicPr>
          <p:cNvPr id="89" name="lock"/>
          <p:cNvPicPr/>
          <p:nvPr/>
        </p:nvPicPr>
        <p:blipFill>
          <a:blip r:embed="rId4"/>
          <a:stretch>
            <a:fillRect/>
          </a:stretch>
        </p:blipFill>
        <p:spPr>
          <a:xfrm>
            <a:off x="6289770" y="5188996"/>
            <a:ext cx="3813981" cy="1400175"/>
          </a:xfrm>
          <a:prstGeom prst="rect">
            <a:avLst/>
          </a:prstGeom>
        </p:spPr>
      </p:pic>
      <p:pic>
        <p:nvPicPr>
          <p:cNvPr id="90" name="sensor"/>
          <p:cNvPicPr/>
          <p:nvPr/>
        </p:nvPicPr>
        <p:blipFill>
          <a:blip r:embed="rId5"/>
          <a:stretch>
            <a:fillRect/>
          </a:stretch>
        </p:blipFill>
        <p:spPr>
          <a:xfrm>
            <a:off x="17306236" y="4715812"/>
            <a:ext cx="2510928" cy="1389245"/>
          </a:xfrm>
          <a:prstGeom prst="rect">
            <a:avLst/>
          </a:prstGeom>
        </p:spPr>
      </p:pic>
      <p:sp>
        <p:nvSpPr>
          <p:cNvPr id="91" name="TextBox 91"/>
          <p:cNvSpPr txBox="1"/>
          <p:nvPr/>
        </p:nvSpPr>
        <p:spPr>
          <a:xfrm>
            <a:off x="438150" y="257175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00" b="1">
                <a:solidFill>
                  <a:srgbClr val="19354A"/>
                </a:solidFill>
                <a:latin typeface="DejaVu Sans"/>
                <a:ea typeface="DejaVu Sans"/>
                <a:cs typeface="DejaVu Sans"/>
              </a:rPr>
              <a:t>(a) Local mismatch</a:t>
            </a:r>
            <a:endParaRPr lang="zh-CN" sz="3300"/>
          </a:p>
        </p:txBody>
      </p:sp>
      <p:sp>
        <p:nvSpPr>
          <p:cNvPr id="92" name="TextBox 92"/>
          <p:cNvSpPr txBox="1"/>
          <p:nvPr/>
        </p:nvSpPr>
        <p:spPr>
          <a:xfrm>
            <a:off x="6657975" y="238125"/>
            <a:ext cx="6191250" cy="685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00" b="1">
                <a:solidFill>
                  <a:srgbClr val="19354A"/>
                </a:solidFill>
                <a:latin typeface="DejaVu Sans"/>
                <a:ea typeface="DejaVu Sans"/>
                <a:cs typeface="DejaVu Sans"/>
              </a:rPr>
              <a:t>(b) Adapt the proposals</a:t>
            </a:r>
            <a:endParaRPr lang="zh-CN" sz="3300"/>
          </a:p>
        </p:txBody>
      </p:sp>
      <p:sp>
        <p:nvSpPr>
          <p:cNvPr id="93" name="TextBox 93"/>
          <p:cNvSpPr txBox="1"/>
          <p:nvPr/>
        </p:nvSpPr>
        <p:spPr>
          <a:xfrm>
            <a:off x="14097000" y="238125"/>
            <a:ext cx="5362575" cy="685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00" b="1">
                <a:solidFill>
                  <a:srgbClr val="19354A"/>
                </a:solidFill>
                <a:latin typeface="DejaVu Sans"/>
                <a:ea typeface="DejaVu Sans"/>
                <a:cs typeface="DejaVu Sans"/>
              </a:rPr>
              <a:t>(c) Act, then observe</a:t>
            </a:r>
            <a:endParaRPr lang="zh-CN" sz="3300"/>
          </a:p>
        </p:txBody>
      </p:sp>
      <p:sp>
        <p:nvSpPr>
          <p:cNvPr id="94" name="TextBox 94"/>
          <p:cNvSpPr txBox="1"/>
          <p:nvPr/>
        </p:nvSpPr>
        <p:spPr>
          <a:xfrm>
            <a:off x="714375" y="1257300"/>
            <a:ext cx="268605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70">
                <a:solidFill>
                  <a:srgbClr val="BB4937"/>
                </a:solidFill>
                <a:latin typeface="DejaVu Sans"/>
                <a:ea typeface="DejaVu Sans"/>
                <a:cs typeface="DejaVu Sans"/>
              </a:rPr>
              <a:t>Object displaced</a:t>
            </a:r>
            <a:endParaRPr lang="zh-CN" sz="2470"/>
          </a:p>
        </p:txBody>
      </p:sp>
      <p:sp>
        <p:nvSpPr>
          <p:cNvPr id="95" name="TextBox 95"/>
          <p:cNvSpPr txBox="1"/>
          <p:nvPr/>
        </p:nvSpPr>
        <p:spPr>
          <a:xfrm>
            <a:off x="1638300" y="6019800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>
                <a:solidFill>
                  <a:srgbClr val="456377"/>
                </a:solidFill>
                <a:latin typeface="DejaVu Sans"/>
                <a:ea typeface="DejaVu Sans"/>
                <a:cs typeface="DejaVu Sans"/>
              </a:rPr>
              <a:t>Native proposal</a:t>
            </a:r>
            <a:endParaRPr lang="zh-CN" sz="2700"/>
          </a:p>
        </p:txBody>
      </p:sp>
      <p:sp>
        <p:nvSpPr>
          <p:cNvPr id="96" name="TextBox 96"/>
          <p:cNvSpPr txBox="1"/>
          <p:nvPr/>
        </p:nvSpPr>
        <p:spPr>
          <a:xfrm>
            <a:off x="7924800" y="1076325"/>
            <a:ext cx="4019550" cy="523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>
                <a:solidFill>
                  <a:srgbClr val="257F85"/>
                </a:solidFill>
                <a:latin typeface="DejaVu Sans"/>
                <a:ea typeface="DejaVu Sans"/>
                <a:cs typeface="DejaVu Sans"/>
              </a:rPr>
              <a:t>Consequence feedback</a:t>
            </a:r>
            <a:endParaRPr lang="zh-CN" sz="2700"/>
          </a:p>
        </p:txBody>
      </p:sp>
      <p:sp>
        <p:nvSpPr>
          <p:cNvPr id="97" name="TextBox 97"/>
          <p:cNvSpPr txBox="1"/>
          <p:nvPr/>
        </p:nvSpPr>
        <p:spPr>
          <a:xfrm>
            <a:off x="9029700" y="2286000"/>
            <a:ext cx="1524000" cy="619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000" b="1">
                <a:solidFill>
                  <a:srgbClr val="CE922F"/>
                </a:solidFill>
                <a:latin typeface="DejaVu Sans"/>
                <a:ea typeface="DejaVu Sans"/>
                <a:cs typeface="DejaVu Sans"/>
              </a:rPr>
              <a:t>ASBS</a:t>
            </a:r>
            <a:endParaRPr lang="zh-CN" sz="4000"/>
          </a:p>
        </p:txBody>
      </p:sp>
      <p:sp>
        <p:nvSpPr>
          <p:cNvPr id="98" name="TextBox 98"/>
          <p:cNvSpPr txBox="1"/>
          <p:nvPr/>
        </p:nvSpPr>
        <p:spPr>
          <a:xfrm>
            <a:off x="6267450" y="4667250"/>
            <a:ext cx="1362075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9354A"/>
                </a:solidFill>
                <a:latin typeface="DejaVu Sans"/>
                <a:ea typeface="DejaVu Sans"/>
                <a:cs typeface="DejaVu Sans"/>
              </a:rPr>
              <a:t>Native</a:t>
            </a:r>
            <a:endParaRPr lang="zh-CN" sz="2500"/>
          </a:p>
        </p:txBody>
      </p:sp>
      <p:sp>
        <p:nvSpPr>
          <p:cNvPr id="99" name="TextBox 99"/>
          <p:cNvSpPr txBox="1"/>
          <p:nvPr/>
        </p:nvSpPr>
        <p:spPr>
          <a:xfrm>
            <a:off x="11668125" y="4676775"/>
            <a:ext cx="1419225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00">
                <a:solidFill>
                  <a:srgbClr val="19354A"/>
                </a:solidFill>
                <a:latin typeface="DejaVu Sans"/>
                <a:ea typeface="DejaVu Sans"/>
                <a:cs typeface="DejaVu Sans"/>
              </a:rPr>
              <a:t>Adapted</a:t>
            </a:r>
            <a:endParaRPr lang="zh-CN" sz="2500"/>
          </a:p>
        </p:txBody>
      </p:sp>
      <p:sp>
        <p:nvSpPr>
          <p:cNvPr id="100" name="TextBox 100"/>
          <p:cNvSpPr txBox="1"/>
          <p:nvPr/>
        </p:nvSpPr>
        <p:spPr>
          <a:xfrm>
            <a:off x="8620125" y="5676900"/>
            <a:ext cx="2905125" cy="619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>
                <a:solidFill>
                  <a:srgbClr val="19354A"/>
                </a:solidFill>
                <a:latin typeface="DejaVu Sans"/>
                <a:ea typeface="DejaVu Sans"/>
                <a:cs typeface="DejaVu Sans"/>
              </a:rPr>
              <a:t>Same frozen VLA</a:t>
            </a:r>
            <a:endParaRPr lang="zh-CN" sz="2700"/>
          </a:p>
        </p:txBody>
      </p:sp>
      <p:sp>
        <p:nvSpPr>
          <p:cNvPr id="101" name="TextBox 101"/>
          <p:cNvSpPr txBox="1"/>
          <p:nvPr/>
        </p:nvSpPr>
        <p:spPr>
          <a:xfrm>
            <a:off x="17306925" y="1390650"/>
            <a:ext cx="2000250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70">
                <a:solidFill>
                  <a:srgbClr val="CE922F"/>
                </a:solidFill>
                <a:latin typeface="DejaVu Sans"/>
                <a:ea typeface="DejaVu Sans"/>
                <a:cs typeface="DejaVu Sans"/>
              </a:rPr>
              <a:t>Short prefix</a:t>
            </a:r>
            <a:endParaRPr lang="zh-CN" sz="2470"/>
          </a:p>
        </p:txBody>
      </p:sp>
      <p:sp>
        <p:nvSpPr>
          <p:cNvPr id="102" name="TextBox 102"/>
          <p:cNvSpPr txBox="1"/>
          <p:nvPr/>
        </p:nvSpPr>
        <p:spPr>
          <a:xfrm>
            <a:off x="16840200" y="6181725"/>
            <a:ext cx="2390775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00">
                <a:solidFill>
                  <a:srgbClr val="257F85"/>
                </a:solidFill>
                <a:latin typeface="DejaVu Sans"/>
                <a:ea typeface="DejaVu Sans"/>
                <a:cs typeface="DejaVu Sans"/>
              </a:rPr>
              <a:t>Re-observe</a:t>
            </a:r>
            <a:endParaRPr lang="zh-CN" sz="2600"/>
          </a:p>
        </p:txBody>
      </p:sp>
      <p:sp>
        <p:nvSpPr>
          <p:cNvPr id="103" name="TextBox 103"/>
          <p:cNvSpPr txBox="1"/>
          <p:nvPr/>
        </p:nvSpPr>
        <p:spPr>
          <a:xfrm>
            <a:off x="17783175" y="6896100"/>
            <a:ext cx="16192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>
                <a:solidFill>
                  <a:srgbClr val="A5AEB7"/>
                </a:solidFill>
                <a:latin typeface="DejaVu Sans"/>
                <a:ea typeface="DejaVu Sans"/>
                <a:cs typeface="DejaVu Sans"/>
              </a:rPr>
              <a:t>Conceptual schematic</a:t>
            </a:r>
            <a:endParaRPr lang="zh-CN" sz="11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893765" y="0"/>
            <a:ext cx="13805395" cy="7286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7004989" y="159970"/>
            <a:ext cx="0" cy="6222826"/>
          </a:xfrm>
          <a:prstGeom prst="line">
            <a:avLst/>
          </a:prstGeom>
          <a:noFill/>
          <a:ln w="10160">
            <a:solidFill>
              <a:srgbClr val="CFDCE6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12907875" y="159970"/>
            <a:ext cx="0" cy="6222826"/>
          </a:xfrm>
          <a:prstGeom prst="line">
            <a:avLst/>
          </a:prstGeom>
          <a:noFill/>
          <a:ln w="10160">
            <a:solidFill>
              <a:srgbClr val="CFDCE6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309498" y="1871647"/>
            <a:ext cx="2303565" cy="671873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860">
            <a:solidFill>
              <a:srgbClr val="123D61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189521" y="4919072"/>
            <a:ext cx="2527523" cy="599887"/>
          </a:xfrm>
          <a:prstGeom prst="roundRect">
            <a:avLst>
              <a:gd name="adj" fmla="val 12000"/>
            </a:avLst>
          </a:prstGeom>
          <a:solidFill>
            <a:srgbClr val="FBFFFF"/>
          </a:solidFill>
          <a:ln w="22860">
            <a:solidFill>
              <a:srgbClr val="008994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7236945" y="1175778"/>
            <a:ext cx="5446972" cy="3847274"/>
          </a:xfrm>
          <a:prstGeom prst="roundRect">
            <a:avLst>
              <a:gd name="adj" fmla="val 2495"/>
            </a:avLst>
          </a:prstGeom>
          <a:solidFill>
            <a:srgbClr val="FBF8F1"/>
          </a:solidFill>
          <a:ln w="17780">
            <a:solidFill>
              <a:srgbClr val="ECD4AB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13499764" y="1879645"/>
            <a:ext cx="2799472" cy="671873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22860">
            <a:solidFill>
              <a:srgbClr val="123D61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13547755" y="4623128"/>
            <a:ext cx="2695491" cy="575891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2860">
            <a:solidFill>
              <a:srgbClr val="123D61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13531758" y="5630937"/>
            <a:ext cx="2743482" cy="535899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22860">
            <a:solidFill>
              <a:srgbClr val="123D61"/>
            </a:solidFill>
          </a:ln>
        </p:spPr>
        <p:txBody>
          <a:bodyPr/>
          <a:lstStyle/>
          <a:p/>
        </p:txBody>
      </p:sp>
      <p:sp>
        <p:nvSpPr>
          <p:cNvPr id="11" name="Ellipse 11"/>
          <p:cNvSpPr/>
          <p:nvPr/>
        </p:nvSpPr>
        <p:spPr>
          <a:xfrm>
            <a:off x="7540888" y="2895454"/>
            <a:ext cx="935823" cy="1383739"/>
          </a:xfrm>
          <a:prstGeom prst="ellipse">
            <a:avLst/>
          </a:prstGeom>
          <a:noFill/>
          <a:ln w="16510">
            <a:solidFill>
              <a:srgbClr val="C5CFD6"/>
            </a:solidFill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11348170" y="2895454"/>
            <a:ext cx="935823" cy="1383739"/>
          </a:xfrm>
          <a:prstGeom prst="ellipse">
            <a:avLst/>
          </a:prstGeom>
          <a:noFill/>
          <a:ln w="16510">
            <a:solidFill>
              <a:srgbClr val="EAD2AA"/>
            </a:solidFill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5009366" y="1243765"/>
            <a:ext cx="55989" cy="5598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5137342" y="1395737"/>
            <a:ext cx="55989" cy="5598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5201330" y="1179777"/>
            <a:ext cx="55989" cy="5598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5321307" y="1315752"/>
            <a:ext cx="55989" cy="5598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5473278" y="1179777"/>
            <a:ext cx="55989" cy="5598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5489275" y="1371741"/>
            <a:ext cx="55989" cy="5598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5641247" y="1243765"/>
            <a:ext cx="55989" cy="5598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5665242" y="1411734"/>
            <a:ext cx="55989" cy="5598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5809215" y="1275759"/>
            <a:ext cx="55989" cy="5598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3389671" y="2167591"/>
            <a:ext cx="95982" cy="95982"/>
          </a:xfrm>
          <a:prstGeom prst="ellipse">
            <a:avLst/>
          </a:prstGeom>
          <a:solidFill>
            <a:srgbClr val="00899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7988804" y="3007432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7988804" y="3119411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8116779" y="3151405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8140775" y="3255386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8268751" y="3279381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7780843" y="3207395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7860828" y="3295378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7956810" y="3311375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8004801" y="3335371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8068789" y="3351368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7924816" y="3383362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7804838" y="3383362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7860828" y="3447349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7948811" y="3439351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8020798" y="3423354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8124778" y="3359366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7940813" y="3527334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7868826" y="3551330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7812837" y="3519336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7764846" y="3551330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7668864" y="3583324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7604876" y="3439351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7636870" y="3863271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7692859" y="3767289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7828834" y="3687304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7828834" y="3599321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Ellipse 49"/>
          <p:cNvSpPr/>
          <p:nvPr/>
        </p:nvSpPr>
        <p:spPr>
          <a:xfrm>
            <a:off x="7908819" y="3679306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Ellipse 50"/>
          <p:cNvSpPr/>
          <p:nvPr/>
        </p:nvSpPr>
        <p:spPr>
          <a:xfrm>
            <a:off x="7980805" y="3647312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8028796" y="3775288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Ellipse 52"/>
          <p:cNvSpPr/>
          <p:nvPr/>
        </p:nvSpPr>
        <p:spPr>
          <a:xfrm>
            <a:off x="8100782" y="3759291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Ellipse 53"/>
          <p:cNvSpPr/>
          <p:nvPr/>
        </p:nvSpPr>
        <p:spPr>
          <a:xfrm>
            <a:off x="8092784" y="3703301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8260752" y="3647312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8284748" y="3495340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8268751" y="3431352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8196764" y="3863271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7980805" y="3919260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7828834" y="3887266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7828834" y="4015242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7964808" y="4031239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8012799" y="4119223"/>
            <a:ext cx="47991" cy="47991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7676862" y="3615318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8060790" y="3847274"/>
            <a:ext cx="47991" cy="47991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11572127" y="3031428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11700103" y="3031428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11700103" y="3095416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11812082" y="3143407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11972052" y="3255386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Ellipse 70"/>
          <p:cNvSpPr/>
          <p:nvPr/>
        </p:nvSpPr>
        <p:spPr>
          <a:xfrm>
            <a:off x="11844076" y="3311375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11692105" y="3383362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Ellipse 72"/>
          <p:cNvSpPr/>
          <p:nvPr/>
        </p:nvSpPr>
        <p:spPr>
          <a:xfrm>
            <a:off x="11684106" y="3447349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Ellipse 73"/>
          <p:cNvSpPr/>
          <p:nvPr/>
        </p:nvSpPr>
        <p:spPr>
          <a:xfrm>
            <a:off x="11644114" y="3519336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11708102" y="3567327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11772090" y="3615318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11868072" y="3639313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11956055" y="3599321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12028041" y="3679306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11900066" y="3727297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11860073" y="3799283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11788087" y="3775288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11652112" y="3815280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11676108" y="3903263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11788087" y="3999245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11876070" y="3951254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12052037" y="3871269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12068034" y="3727297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12116025" y="3495340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12100028" y="3447349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11972052" y="3351368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11844076" y="3383362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11908064" y="3463346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11604121" y="3559328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11468147" y="3623316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11460149" y="3775288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11540133" y="3919260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11652112" y="4063233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11788087" y="4119223"/>
            <a:ext cx="47991" cy="47991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11972052" y="3791285"/>
            <a:ext cx="47991" cy="47991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13507762" y="3423354"/>
            <a:ext cx="287946" cy="279947"/>
          </a:xfrm>
          <a:prstGeom prst="rect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13859696" y="3423354"/>
            <a:ext cx="287946" cy="279947"/>
          </a:xfrm>
          <a:prstGeom prst="rect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14211629" y="3423354"/>
            <a:ext cx="287946" cy="279947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14563563" y="3423354"/>
            <a:ext cx="287946" cy="279947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14915497" y="3423354"/>
            <a:ext cx="287946" cy="279947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5267430" y="3423354"/>
            <a:ext cx="287946" cy="279947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15619364" y="3423354"/>
            <a:ext cx="287946" cy="279947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15971297" y="3423354"/>
            <a:ext cx="287946" cy="279947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5429287" y="1527712"/>
            <a:ext cx="0" cy="311941"/>
          </a:xfrm>
          <a:prstGeom prst="line">
            <a:avLst/>
          </a:prstGeom>
          <a:noFill/>
          <a:ln w="25400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3437662" y="2215582"/>
            <a:ext cx="863837" cy="0"/>
          </a:xfrm>
          <a:prstGeom prst="line">
            <a:avLst/>
          </a:prstGeom>
          <a:noFill/>
          <a:ln w="25400">
            <a:solidFill>
              <a:srgbClr val="00899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5429287" y="2559517"/>
            <a:ext cx="0" cy="359932"/>
          </a:xfrm>
          <a:prstGeom prst="line">
            <a:avLst/>
          </a:prstGeom>
          <a:noFill/>
          <a:ln w="25400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11" name="Path 111"/>
          <p:cNvSpPr/>
          <p:nvPr/>
        </p:nvSpPr>
        <p:spPr>
          <a:xfrm>
            <a:off x="4437474" y="2999434"/>
            <a:ext cx="1631692" cy="41592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046"/>
                </a:moveTo>
                <a:cubicBezTo>
                  <a:pt x="6776" y="0"/>
                  <a:pt x="13129" y="21600"/>
                  <a:pt x="21600" y="2492"/>
                </a:cubicBezTo>
              </a:path>
            </a:pathLst>
          </a:custGeom>
          <a:noFill/>
          <a:ln w="27940">
            <a:solidFill>
              <a:srgbClr val="123D61"/>
            </a:solidFill>
            <a:tailEnd type="none"/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6077164" y="3047425"/>
            <a:ext cx="447915" cy="0"/>
          </a:xfrm>
          <a:prstGeom prst="line">
            <a:avLst/>
          </a:prstGeom>
          <a:noFill/>
          <a:ln w="17780">
            <a:solidFill>
              <a:srgbClr val="CBD8E4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13" name="Path 113"/>
          <p:cNvSpPr/>
          <p:nvPr/>
        </p:nvSpPr>
        <p:spPr>
          <a:xfrm>
            <a:off x="4437474" y="3327372"/>
            <a:ext cx="1631692" cy="41592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046"/>
                </a:moveTo>
                <a:cubicBezTo>
                  <a:pt x="6776" y="0"/>
                  <a:pt x="13129" y="21600"/>
                  <a:pt x="21600" y="9554"/>
                </a:cubicBezTo>
              </a:path>
            </a:pathLst>
          </a:custGeom>
          <a:noFill/>
          <a:ln w="27940">
            <a:solidFill>
              <a:srgbClr val="597CA0"/>
            </a:solidFill>
            <a:tailEnd type="none"/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6077164" y="3511337"/>
            <a:ext cx="447915" cy="0"/>
          </a:xfrm>
          <a:prstGeom prst="line">
            <a:avLst/>
          </a:prstGeom>
          <a:noFill/>
          <a:ln w="17780">
            <a:solidFill>
              <a:srgbClr val="CBD8E4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15" name="Path 115"/>
          <p:cNvSpPr/>
          <p:nvPr/>
        </p:nvSpPr>
        <p:spPr>
          <a:xfrm>
            <a:off x="4437474" y="3735295"/>
            <a:ext cx="1631692" cy="41592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046"/>
                </a:moveTo>
                <a:cubicBezTo>
                  <a:pt x="6776" y="0"/>
                  <a:pt x="13129" y="21600"/>
                  <a:pt x="21600" y="2908"/>
                </a:cubicBezTo>
              </a:path>
            </a:pathLst>
          </a:custGeom>
          <a:noFill/>
          <a:ln w="27940">
            <a:solidFill>
              <a:srgbClr val="123D61"/>
            </a:solidFill>
            <a:tailEnd type="none"/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6077164" y="3791285"/>
            <a:ext cx="447915" cy="0"/>
          </a:xfrm>
          <a:prstGeom prst="line">
            <a:avLst/>
          </a:prstGeom>
          <a:noFill/>
          <a:ln w="17780">
            <a:solidFill>
              <a:srgbClr val="CBD8E4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5429287" y="4559140"/>
            <a:ext cx="0" cy="335937"/>
          </a:xfrm>
          <a:prstGeom prst="line">
            <a:avLst/>
          </a:prstGeom>
          <a:noFill/>
          <a:ln w="25400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18" name="Path 118"/>
          <p:cNvSpPr/>
          <p:nvPr/>
        </p:nvSpPr>
        <p:spPr>
          <a:xfrm>
            <a:off x="8572693" y="2623505"/>
            <a:ext cx="2679494" cy="87983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015"/>
                </a:moveTo>
                <a:cubicBezTo>
                  <a:pt x="9414" y="0"/>
                  <a:pt x="15604" y="21600"/>
                  <a:pt x="21600" y="12960"/>
                </a:cubicBezTo>
              </a:path>
            </a:pathLst>
          </a:custGeom>
          <a:noFill/>
          <a:ln w="22860">
            <a:solidFill>
              <a:srgbClr val="CF9B42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9" name="Path 119"/>
          <p:cNvSpPr/>
          <p:nvPr/>
        </p:nvSpPr>
        <p:spPr>
          <a:xfrm>
            <a:off x="8572693" y="2839464"/>
            <a:ext cx="2679494" cy="82384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695"/>
                </a:moveTo>
                <a:cubicBezTo>
                  <a:pt x="9414" y="0"/>
                  <a:pt x="15604" y="21600"/>
                  <a:pt x="21600" y="12792"/>
                </a:cubicBezTo>
              </a:path>
            </a:pathLst>
          </a:custGeom>
          <a:noFill/>
          <a:ln w="22860">
            <a:solidFill>
              <a:srgbClr val="CF9B42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0" name="Path 120"/>
          <p:cNvSpPr/>
          <p:nvPr/>
        </p:nvSpPr>
        <p:spPr>
          <a:xfrm>
            <a:off x="8572693" y="3047425"/>
            <a:ext cx="2679494" cy="76785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475"/>
                </a:moveTo>
                <a:cubicBezTo>
                  <a:pt x="9414" y="0"/>
                  <a:pt x="15604" y="21600"/>
                  <a:pt x="21600" y="12600"/>
                </a:cubicBezTo>
              </a:path>
            </a:pathLst>
          </a:custGeom>
          <a:noFill/>
          <a:ln w="22860">
            <a:solidFill>
              <a:srgbClr val="CF9B42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1" name="Path 121"/>
          <p:cNvSpPr/>
          <p:nvPr/>
        </p:nvSpPr>
        <p:spPr>
          <a:xfrm>
            <a:off x="8572693" y="3255386"/>
            <a:ext cx="2679494" cy="71186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378"/>
                </a:moveTo>
                <a:cubicBezTo>
                  <a:pt x="9414" y="0"/>
                  <a:pt x="15604" y="21600"/>
                  <a:pt x="21600" y="12378"/>
                </a:cubicBezTo>
              </a:path>
            </a:pathLst>
          </a:custGeom>
          <a:noFill/>
          <a:ln w="22860">
            <a:solidFill>
              <a:srgbClr val="B776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2" name="Path 122"/>
          <p:cNvSpPr/>
          <p:nvPr/>
        </p:nvSpPr>
        <p:spPr>
          <a:xfrm>
            <a:off x="8572693" y="3471345"/>
            <a:ext cx="2679494" cy="65587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3434"/>
                </a:moveTo>
                <a:cubicBezTo>
                  <a:pt x="9414" y="0"/>
                  <a:pt x="15604" y="21600"/>
                  <a:pt x="21600" y="12117"/>
                </a:cubicBezTo>
              </a:path>
            </a:pathLst>
          </a:custGeom>
          <a:noFill/>
          <a:ln w="22860">
            <a:solidFill>
              <a:srgbClr val="B776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3" name="Path 123"/>
          <p:cNvSpPr/>
          <p:nvPr/>
        </p:nvSpPr>
        <p:spPr>
          <a:xfrm>
            <a:off x="8572693" y="3695303"/>
            <a:ext cx="2679494" cy="59988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4688"/>
                </a:moveTo>
                <a:cubicBezTo>
                  <a:pt x="9414" y="0"/>
                  <a:pt x="15604" y="21600"/>
                  <a:pt x="21600" y="11808"/>
                </a:cubicBezTo>
              </a:path>
            </a:pathLst>
          </a:custGeom>
          <a:noFill/>
          <a:ln w="22860">
            <a:solidFill>
              <a:srgbClr val="B776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4" name="Path 124"/>
          <p:cNvSpPr/>
          <p:nvPr/>
        </p:nvSpPr>
        <p:spPr>
          <a:xfrm>
            <a:off x="6725042" y="5071043"/>
            <a:ext cx="3239389" cy="567893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5780"/>
                </a:moveTo>
                <a:lnTo>
                  <a:pt x="1280" y="5780"/>
                </a:lnTo>
                <a:lnTo>
                  <a:pt x="1280" y="21600"/>
                </a:ln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25400">
            <a:solidFill>
              <a:srgbClr val="00899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5" name="Path 125"/>
          <p:cNvSpPr/>
          <p:nvPr/>
        </p:nvSpPr>
        <p:spPr>
          <a:xfrm>
            <a:off x="12387973" y="2255574"/>
            <a:ext cx="1095793" cy="133574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13717" y="21600"/>
                </a:lnTo>
                <a:lnTo>
                  <a:pt x="13717" y="0"/>
                </a:lnTo>
                <a:lnTo>
                  <a:pt x="21600" y="0"/>
                </a:lnTo>
              </a:path>
            </a:pathLst>
          </a:custGeom>
          <a:noFill/>
          <a:ln w="25400">
            <a:solidFill>
              <a:srgbClr val="B776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14899500" y="2559517"/>
            <a:ext cx="0" cy="367931"/>
          </a:xfrm>
          <a:prstGeom prst="line">
            <a:avLst/>
          </a:prstGeom>
          <a:noFill/>
          <a:ln w="25400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27" name="Path 127"/>
          <p:cNvSpPr/>
          <p:nvPr/>
        </p:nvSpPr>
        <p:spPr>
          <a:xfrm>
            <a:off x="13515761" y="3791285"/>
            <a:ext cx="607885" cy="10398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22860">
            <a:solidFill>
              <a:srgbClr val="B7760A"/>
            </a:solidFill>
            <a:tailEnd type="none"/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>
            <a:off x="13819703" y="3895265"/>
            <a:ext cx="0" cy="103980"/>
          </a:xfrm>
          <a:prstGeom prst="line">
            <a:avLst/>
          </a:prstGeom>
          <a:noFill/>
          <a:ln w="22860">
            <a:solidFill>
              <a:srgbClr val="B7760A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3843699" y="4279193"/>
            <a:ext cx="0" cy="303943"/>
          </a:xfrm>
          <a:prstGeom prst="line">
            <a:avLst/>
          </a:prstGeom>
          <a:noFill/>
          <a:ln w="25400">
            <a:solidFill>
              <a:srgbClr val="B7760A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14899500" y="5215016"/>
            <a:ext cx="0" cy="383928"/>
          </a:xfrm>
          <a:prstGeom prst="line">
            <a:avLst/>
          </a:prstGeom>
          <a:noFill/>
          <a:ln w="25400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31" name="Path 131"/>
          <p:cNvSpPr/>
          <p:nvPr/>
        </p:nvSpPr>
        <p:spPr>
          <a:xfrm>
            <a:off x="11580126" y="6174835"/>
            <a:ext cx="3319374" cy="2639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24130">
            <a:solidFill>
              <a:srgbClr val="00899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 flipH="1">
            <a:off x="10772278" y="6438785"/>
            <a:ext cx="319940" cy="0"/>
          </a:xfrm>
          <a:prstGeom prst="line">
            <a:avLst/>
          </a:prstGeom>
          <a:noFill/>
          <a:ln w="24130">
            <a:solidFill>
              <a:srgbClr val="00899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33" name="Path 133"/>
          <p:cNvSpPr/>
          <p:nvPr/>
        </p:nvSpPr>
        <p:spPr>
          <a:xfrm>
            <a:off x="3437662" y="2263573"/>
            <a:ext cx="5726919" cy="4183211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</a:path>
            </a:pathLst>
          </a:custGeom>
          <a:noFill/>
          <a:ln w="24130">
            <a:solidFill>
              <a:srgbClr val="00899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9948434" y="975816"/>
            <a:ext cx="0" cy="183965"/>
          </a:xfrm>
          <a:prstGeom prst="line">
            <a:avLst/>
          </a:prstGeom>
          <a:noFill/>
          <a:ln w="24130">
            <a:solidFill>
              <a:srgbClr val="00899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14771524" y="1095793"/>
            <a:ext cx="0" cy="759857"/>
          </a:xfrm>
          <a:prstGeom prst="line">
            <a:avLst/>
          </a:prstGeom>
          <a:noFill/>
          <a:ln w="24130">
            <a:solidFill>
              <a:srgbClr val="00899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8540699" y="2999434"/>
            <a:ext cx="63988" cy="63988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8540699" y="3215393"/>
            <a:ext cx="63988" cy="63988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8540699" y="3423354"/>
            <a:ext cx="63988" cy="63988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8540699" y="3631315"/>
            <a:ext cx="63988" cy="63988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8540699" y="3847274"/>
            <a:ext cx="63988" cy="63988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8540699" y="4071232"/>
            <a:ext cx="63988" cy="63988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oundrect 142"/>
          <p:cNvSpPr/>
          <p:nvPr/>
        </p:nvSpPr>
        <p:spPr>
          <a:xfrm>
            <a:off x="9164582" y="6246821"/>
            <a:ext cx="1615695" cy="3999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008994"/>
            </a:solidFill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9756470" y="583890"/>
            <a:ext cx="383928" cy="383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994"/>
            </a:solidFill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14579560" y="695869"/>
            <a:ext cx="383928" cy="383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994"/>
            </a:solidFill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11108215" y="6254820"/>
            <a:ext cx="383928" cy="383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994"/>
            </a:solidFill>
          </a:ln>
        </p:spPr>
        <p:txBody>
          <a:bodyPr/>
          <a:lstStyle/>
          <a:p/>
        </p:txBody>
      </p:sp>
      <p:pic>
        <p:nvPicPr>
          <p:cNvPr id="146" name="frozen-lock"/>
          <p:cNvPicPr/>
          <p:nvPr/>
        </p:nvPicPr>
        <p:blipFill>
          <a:blip r:embed="rId2"/>
          <a:stretch>
            <a:fillRect/>
          </a:stretch>
        </p:blipFill>
        <p:spPr>
          <a:xfrm>
            <a:off x="4589445" y="2063611"/>
            <a:ext cx="215959" cy="295944"/>
          </a:xfrm>
          <a:prstGeom prst="rect">
            <a:avLst/>
          </a:prstGeom>
        </p:spPr>
      </p:pic>
      <p:pic>
        <p:nvPicPr>
          <p:cNvPr id="147" name="frozen-lock"/>
          <p:cNvPicPr/>
          <p:nvPr/>
        </p:nvPicPr>
        <p:blipFill>
          <a:blip r:embed="rId3"/>
          <a:stretch>
            <a:fillRect/>
          </a:stretch>
        </p:blipFill>
        <p:spPr>
          <a:xfrm>
            <a:off x="13739718" y="2063611"/>
            <a:ext cx="223958" cy="295944"/>
          </a:xfrm>
          <a:prstGeom prst="rect">
            <a:avLst/>
          </a:prstGeom>
        </p:spPr>
      </p:pic>
      <p:sp>
        <p:nvSpPr>
          <p:cNvPr id="148" name="TextBox 148"/>
          <p:cNvSpPr txBox="1"/>
          <p:nvPr/>
        </p:nvSpPr>
        <p:spPr>
          <a:xfrm>
            <a:off x="3053735" y="63988"/>
            <a:ext cx="3759291" cy="4399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50" b="1">
                <a:solidFill>
                  <a:srgbClr val="123D61"/>
                </a:solidFill>
                <a:latin typeface="Arial"/>
                <a:ea typeface="Arial"/>
                <a:cs typeface="Arial"/>
              </a:rPr>
              <a:t>(a) Gather feedback</a:t>
            </a:r>
            <a:endParaRPr lang="zh-CN" sz="2550"/>
          </a:p>
        </p:txBody>
      </p:sp>
      <p:sp>
        <p:nvSpPr>
          <p:cNvPr id="149" name="TextBox 149"/>
          <p:cNvSpPr txBox="1"/>
          <p:nvPr/>
        </p:nvSpPr>
        <p:spPr>
          <a:xfrm>
            <a:off x="7196953" y="63988"/>
            <a:ext cx="5438974" cy="4399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50" b="1">
                <a:solidFill>
                  <a:srgbClr val="123D61"/>
                </a:solidFill>
                <a:latin typeface="Arial"/>
                <a:ea typeface="Arial"/>
                <a:cs typeface="Arial"/>
              </a:rPr>
              <a:t>(b) Transport proposals</a:t>
            </a:r>
            <a:endParaRPr lang="zh-CN" sz="2550"/>
          </a:p>
        </p:txBody>
      </p:sp>
      <p:sp>
        <p:nvSpPr>
          <p:cNvPr id="150" name="TextBox 150"/>
          <p:cNvSpPr txBox="1"/>
          <p:nvPr/>
        </p:nvSpPr>
        <p:spPr>
          <a:xfrm>
            <a:off x="13115836" y="63988"/>
            <a:ext cx="3439351" cy="4399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50" b="1">
                <a:solidFill>
                  <a:srgbClr val="123D61"/>
                </a:solidFill>
                <a:latin typeface="Arial"/>
                <a:ea typeface="Arial"/>
                <a:cs typeface="Arial"/>
              </a:rPr>
              <a:t>(c) Execute a prefix</a:t>
            </a:r>
            <a:endParaRPr lang="zh-CN" sz="2550"/>
          </a:p>
        </p:txBody>
      </p:sp>
      <p:sp>
        <p:nvSpPr>
          <p:cNvPr id="151" name="TextBox 151"/>
          <p:cNvSpPr txBox="1"/>
          <p:nvPr/>
        </p:nvSpPr>
        <p:spPr>
          <a:xfrm>
            <a:off x="4477466" y="727863"/>
            <a:ext cx="1263762" cy="3359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60">
                <a:solidFill>
                  <a:srgbClr val="597CA0"/>
                </a:solidFill>
                <a:latin typeface="Arial"/>
                <a:ea typeface="Arial"/>
                <a:cs typeface="Arial"/>
              </a:rPr>
              <a:t>Native noise</a:t>
            </a:r>
            <a:endParaRPr lang="zh-CN" sz="1560"/>
          </a:p>
        </p:txBody>
      </p:sp>
      <p:sp>
        <p:nvSpPr>
          <p:cNvPr id="152" name="TextBox 152"/>
          <p:cNvSpPr txBox="1"/>
          <p:nvPr/>
        </p:nvSpPr>
        <p:spPr>
          <a:xfrm>
            <a:off x="5013365" y="1991624"/>
            <a:ext cx="1479721" cy="4159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>
                <a:solidFill>
                  <a:srgbClr val="123D61"/>
                </a:solidFill>
                <a:latin typeface="Arial"/>
                <a:ea typeface="Arial"/>
                <a:cs typeface="Arial"/>
              </a:rPr>
              <a:t>Frozen VLA</a:t>
            </a:r>
            <a:endParaRPr lang="zh-CN" sz="1850"/>
          </a:p>
        </p:txBody>
      </p:sp>
      <p:sp>
        <p:nvSpPr>
          <p:cNvPr id="153" name="TextBox 153"/>
          <p:cNvSpPr txBox="1"/>
          <p:nvPr/>
        </p:nvSpPr>
        <p:spPr>
          <a:xfrm>
            <a:off x="3053735" y="1519713"/>
            <a:ext cx="1263762" cy="5838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39">
                <a:solidFill>
                  <a:srgbClr val="008994"/>
                </a:solidFill>
                <a:latin typeface="Arial"/>
                <a:ea typeface="Arial"/>
                <a:cs typeface="Arial"/>
              </a:rPr>
              <a:t>Observation</a:t>
            </a:r>
            <a:endParaRPr lang="zh-CN" sz="1639"/>
          </a:p>
          <a:p>
            <a:pPr algn="ctr"/>
            <a:r>
              <a:rPr lang="zh-CN" sz="1639">
                <a:solidFill>
                  <a:srgbClr val="008994"/>
                </a:solidFill>
                <a:latin typeface="Arial"/>
                <a:ea typeface="Arial"/>
                <a:cs typeface="Arial"/>
              </a:rPr>
              <a:t>+ task</a:t>
            </a:r>
            <a:endParaRPr lang="zh-CN" sz="1639"/>
          </a:p>
        </p:txBody>
      </p:sp>
      <p:sp>
        <p:nvSpPr>
          <p:cNvPr id="154" name="TextBox 154"/>
          <p:cNvSpPr txBox="1"/>
          <p:nvPr/>
        </p:nvSpPr>
        <p:spPr>
          <a:xfrm>
            <a:off x="4533456" y="4127221"/>
            <a:ext cx="1975627" cy="3759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20">
                <a:solidFill>
                  <a:srgbClr val="123D61"/>
                </a:solidFill>
                <a:latin typeface="Arial"/>
                <a:ea typeface="Arial"/>
                <a:cs typeface="Arial"/>
              </a:rPr>
              <a:t>Candidate chunks</a:t>
            </a:r>
            <a:endParaRPr lang="zh-CN" sz="1820"/>
          </a:p>
        </p:txBody>
      </p:sp>
      <p:sp>
        <p:nvSpPr>
          <p:cNvPr id="155" name="TextBox 155"/>
          <p:cNvSpPr txBox="1"/>
          <p:nvPr/>
        </p:nvSpPr>
        <p:spPr>
          <a:xfrm>
            <a:off x="4317496" y="5023052"/>
            <a:ext cx="2271571" cy="383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80">
                <a:solidFill>
                  <a:srgbClr val="008994"/>
                </a:solidFill>
                <a:latin typeface="Arial"/>
                <a:ea typeface="Arial"/>
                <a:cs typeface="Arial"/>
              </a:rPr>
              <a:t>Consequence evaluator</a:t>
            </a:r>
            <a:endParaRPr lang="zh-CN" sz="1580"/>
          </a:p>
        </p:txBody>
      </p:sp>
      <p:sp>
        <p:nvSpPr>
          <p:cNvPr id="156" name="TextBox 156"/>
          <p:cNvSpPr txBox="1"/>
          <p:nvPr/>
        </p:nvSpPr>
        <p:spPr>
          <a:xfrm>
            <a:off x="4189521" y="5646934"/>
            <a:ext cx="1095793" cy="4559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30">
                <a:solidFill>
                  <a:srgbClr val="597CA0"/>
                </a:solidFill>
                <a:latin typeface="Arial"/>
                <a:ea typeface="Arial"/>
                <a:cs typeface="Arial"/>
              </a:rPr>
              <a:t>Same</a:t>
            </a:r>
            <a:endParaRPr lang="zh-CN" sz="1430"/>
          </a:p>
          <a:p>
            <a:pPr algn="ctr"/>
            <a:r>
              <a:rPr lang="zh-CN" sz="1430">
                <a:solidFill>
                  <a:srgbClr val="597CA0"/>
                </a:solidFill>
                <a:latin typeface="Arial"/>
                <a:ea typeface="Arial"/>
                <a:cs typeface="Arial"/>
              </a:rPr>
              <a:t>observation</a:t>
            </a:r>
            <a:endParaRPr lang="zh-CN" sz="1430"/>
          </a:p>
        </p:txBody>
      </p:sp>
      <p:sp>
        <p:nvSpPr>
          <p:cNvPr id="157" name="TextBox 157"/>
          <p:cNvSpPr txBox="1"/>
          <p:nvPr/>
        </p:nvSpPr>
        <p:spPr>
          <a:xfrm>
            <a:off x="5525268" y="5646934"/>
            <a:ext cx="1159781" cy="4559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80">
                <a:solidFill>
                  <a:srgbClr val="597CA0"/>
                </a:solidFill>
                <a:latin typeface="Arial"/>
                <a:ea typeface="Arial"/>
                <a:cs typeface="Arial"/>
              </a:rPr>
              <a:t>Fixed</a:t>
            </a:r>
            <a:endParaRPr lang="zh-CN" sz="1380"/>
          </a:p>
          <a:p>
            <a:pPr algn="ctr"/>
            <a:r>
              <a:rPr lang="zh-CN" sz="1380">
                <a:solidFill>
                  <a:srgbClr val="597CA0"/>
                </a:solidFill>
                <a:latin typeface="Arial"/>
                <a:ea typeface="Arial"/>
                <a:cs typeface="Arial"/>
              </a:rPr>
              <a:t>continuation</a:t>
            </a:r>
            <a:endParaRPr lang="zh-CN" sz="1380"/>
          </a:p>
        </p:txBody>
      </p:sp>
      <p:sp>
        <p:nvSpPr>
          <p:cNvPr id="158" name="TextBox 158"/>
          <p:cNvSpPr txBox="1"/>
          <p:nvPr/>
        </p:nvSpPr>
        <p:spPr>
          <a:xfrm>
            <a:off x="9364544" y="1311752"/>
            <a:ext cx="1175778" cy="4879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B7760A"/>
                </a:solidFill>
                <a:latin typeface="Arial"/>
                <a:ea typeface="Arial"/>
                <a:cs typeface="Arial"/>
              </a:rPr>
              <a:t>ASBS</a:t>
            </a:r>
            <a:endParaRPr lang="zh-CN" sz="2900"/>
          </a:p>
        </p:txBody>
      </p:sp>
      <p:sp>
        <p:nvSpPr>
          <p:cNvPr id="159" name="TextBox 159"/>
          <p:cNvSpPr txBox="1"/>
          <p:nvPr/>
        </p:nvSpPr>
        <p:spPr>
          <a:xfrm>
            <a:off x="8180767" y="1759668"/>
            <a:ext cx="3887266" cy="3439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123D61"/>
                </a:solidFill>
                <a:latin typeface="Arial"/>
                <a:ea typeface="Arial"/>
                <a:cs typeface="Arial"/>
              </a:rPr>
              <a:t>Feedback-conditioned sampler</a:t>
            </a:r>
            <a:endParaRPr lang="zh-CN" sz="1950"/>
          </a:p>
        </p:txBody>
      </p:sp>
      <p:sp>
        <p:nvSpPr>
          <p:cNvPr id="160" name="TextBox 160"/>
          <p:cNvSpPr txBox="1"/>
          <p:nvPr/>
        </p:nvSpPr>
        <p:spPr>
          <a:xfrm>
            <a:off x="7484899" y="2247576"/>
            <a:ext cx="1231768" cy="3199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20">
                <a:solidFill>
                  <a:srgbClr val="123D61"/>
                </a:solidFill>
                <a:latin typeface="Arial"/>
                <a:ea typeface="Arial"/>
                <a:cs typeface="Arial"/>
              </a:rPr>
              <a:t>Native prior</a:t>
            </a:r>
            <a:endParaRPr lang="zh-CN" sz="1520"/>
          </a:p>
        </p:txBody>
      </p:sp>
      <p:sp>
        <p:nvSpPr>
          <p:cNvPr id="161" name="TextBox 161"/>
          <p:cNvSpPr txBox="1"/>
          <p:nvPr/>
        </p:nvSpPr>
        <p:spPr>
          <a:xfrm>
            <a:off x="10852263" y="2247576"/>
            <a:ext cx="1743671" cy="3199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>
                <a:solidFill>
                  <a:srgbClr val="B7760A"/>
                </a:solidFill>
                <a:latin typeface="Arial"/>
                <a:ea typeface="Arial"/>
                <a:cs typeface="Arial"/>
              </a:rPr>
              <a:t>Adapted proposal</a:t>
            </a:r>
            <a:endParaRPr lang="zh-CN" sz="1600"/>
          </a:p>
        </p:txBody>
      </p:sp>
      <p:sp>
        <p:nvSpPr>
          <p:cNvPr id="162" name="TextBox 162"/>
          <p:cNvSpPr txBox="1"/>
          <p:nvPr/>
        </p:nvSpPr>
        <p:spPr>
          <a:xfrm>
            <a:off x="8212761" y="4423165"/>
            <a:ext cx="3503339" cy="3599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10">
                <a:solidFill>
                  <a:srgbClr val="123D61"/>
                </a:solidFill>
                <a:latin typeface="Arial"/>
                <a:ea typeface="Arial"/>
                <a:cs typeface="Arial"/>
              </a:rPr>
              <a:t>Noise changes; VLA stays frozen</a:t>
            </a:r>
            <a:endParaRPr lang="zh-CN" sz="1710"/>
          </a:p>
        </p:txBody>
      </p:sp>
      <p:sp>
        <p:nvSpPr>
          <p:cNvPr id="163" name="TextBox 163"/>
          <p:cNvSpPr txBox="1"/>
          <p:nvPr/>
        </p:nvSpPr>
        <p:spPr>
          <a:xfrm>
            <a:off x="7508894" y="5279004"/>
            <a:ext cx="2023618" cy="3439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>
                <a:solidFill>
                  <a:srgbClr val="008994"/>
                </a:solidFill>
                <a:latin typeface="Arial"/>
                <a:ea typeface="Arial"/>
                <a:cs typeface="Arial"/>
              </a:rPr>
              <a:t>Scored evidence</a:t>
            </a:r>
            <a:endParaRPr lang="zh-CN" sz="1850"/>
          </a:p>
        </p:txBody>
      </p:sp>
      <p:sp>
        <p:nvSpPr>
          <p:cNvPr id="164" name="TextBox 164"/>
          <p:cNvSpPr txBox="1"/>
          <p:nvPr/>
        </p:nvSpPr>
        <p:spPr>
          <a:xfrm>
            <a:off x="14227626" y="1999623"/>
            <a:ext cx="1959630" cy="383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>
                <a:solidFill>
                  <a:srgbClr val="123D61"/>
                </a:solidFill>
                <a:latin typeface="Arial"/>
                <a:ea typeface="Arial"/>
                <a:cs typeface="Arial"/>
              </a:rPr>
              <a:t>Same frozen VLA</a:t>
            </a:r>
            <a:endParaRPr lang="zh-CN" sz="1850"/>
          </a:p>
        </p:txBody>
      </p:sp>
      <p:sp>
        <p:nvSpPr>
          <p:cNvPr id="165" name="TextBox 165"/>
          <p:cNvSpPr txBox="1"/>
          <p:nvPr/>
        </p:nvSpPr>
        <p:spPr>
          <a:xfrm>
            <a:off x="14075655" y="2975439"/>
            <a:ext cx="1703679" cy="3599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123D61"/>
                </a:solidFill>
                <a:latin typeface="Arial"/>
                <a:ea typeface="Arial"/>
                <a:cs typeface="Arial"/>
              </a:rPr>
              <a:t>Action chunk</a:t>
            </a:r>
            <a:endParaRPr lang="zh-CN" sz="1950"/>
          </a:p>
        </p:txBody>
      </p:sp>
      <p:sp>
        <p:nvSpPr>
          <p:cNvPr id="166" name="TextBox 166"/>
          <p:cNvSpPr txBox="1"/>
          <p:nvPr/>
        </p:nvSpPr>
        <p:spPr>
          <a:xfrm>
            <a:off x="13275806" y="3991247"/>
            <a:ext cx="1263762" cy="2879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60">
                <a:solidFill>
                  <a:srgbClr val="B7760A"/>
                </a:solidFill>
                <a:latin typeface="Arial"/>
                <a:ea typeface="Arial"/>
                <a:cs typeface="Arial"/>
              </a:rPr>
              <a:t>Short prefix</a:t>
            </a:r>
            <a:endParaRPr lang="zh-CN" sz="1560"/>
          </a:p>
        </p:txBody>
      </p:sp>
      <p:sp>
        <p:nvSpPr>
          <p:cNvPr id="167" name="TextBox 167"/>
          <p:cNvSpPr txBox="1"/>
          <p:nvPr/>
        </p:nvSpPr>
        <p:spPr>
          <a:xfrm>
            <a:off x="13883691" y="4711111"/>
            <a:ext cx="2207583" cy="383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39">
                <a:solidFill>
                  <a:srgbClr val="123D61"/>
                </a:solidFill>
                <a:latin typeface="Arial"/>
                <a:ea typeface="Arial"/>
                <a:cs typeface="Arial"/>
              </a:rPr>
              <a:t>Validate &amp; execute</a:t>
            </a:r>
            <a:endParaRPr lang="zh-CN" sz="1839"/>
          </a:p>
        </p:txBody>
      </p:sp>
      <p:sp>
        <p:nvSpPr>
          <p:cNvPr id="168" name="TextBox 168"/>
          <p:cNvSpPr txBox="1"/>
          <p:nvPr/>
        </p:nvSpPr>
        <p:spPr>
          <a:xfrm>
            <a:off x="13987672" y="5686927"/>
            <a:ext cx="1239766" cy="383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70">
                <a:solidFill>
                  <a:srgbClr val="123D61"/>
                </a:solidFill>
                <a:latin typeface="Arial"/>
                <a:ea typeface="Arial"/>
                <a:cs typeface="Arial"/>
              </a:rPr>
              <a:t>Re-observe</a:t>
            </a:r>
            <a:endParaRPr lang="zh-CN" sz="1770"/>
          </a:p>
        </p:txBody>
      </p:sp>
      <p:sp>
        <p:nvSpPr>
          <p:cNvPr id="169" name="TextBox 169"/>
          <p:cNvSpPr txBox="1"/>
          <p:nvPr/>
        </p:nvSpPr>
        <p:spPr>
          <a:xfrm>
            <a:off x="8284748" y="6678740"/>
            <a:ext cx="3167402" cy="255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0">
                <a:solidFill>
                  <a:srgbClr val="008994"/>
                </a:solidFill>
                <a:latin typeface="Arial"/>
                <a:ea typeface="Arial"/>
                <a:cs typeface="Arial"/>
              </a:rPr>
              <a:t>H: refreshed context for the next call</a:t>
            </a:r>
            <a:endParaRPr lang="zh-CN" sz="1280"/>
          </a:p>
        </p:txBody>
      </p:sp>
      <p:sp>
        <p:nvSpPr>
          <p:cNvPr id="170" name="TextBox 170"/>
          <p:cNvSpPr txBox="1"/>
          <p:nvPr/>
        </p:nvSpPr>
        <p:spPr>
          <a:xfrm>
            <a:off x="8284748" y="6958687"/>
            <a:ext cx="3215393" cy="255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0">
                <a:solidFill>
                  <a:srgbClr val="597CA0"/>
                </a:solidFill>
                <a:latin typeface="Arial"/>
                <a:ea typeface="Arial"/>
                <a:cs typeface="Arial"/>
              </a:rPr>
              <a:t>Online variant · conceptual schematic</a:t>
            </a:r>
            <a:endParaRPr lang="zh-CN" sz="1280"/>
          </a:p>
        </p:txBody>
      </p:sp>
      <p:sp>
        <p:nvSpPr>
          <p:cNvPr id="171" name="TextBox 171"/>
          <p:cNvSpPr txBox="1"/>
          <p:nvPr/>
        </p:nvSpPr>
        <p:spPr>
          <a:xfrm>
            <a:off x="9284559" y="6286814"/>
            <a:ext cx="1415733" cy="31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>
                <a:solidFill>
                  <a:srgbClr val="008994"/>
                </a:solidFill>
                <a:latin typeface="Arial"/>
                <a:ea typeface="Arial"/>
                <a:cs typeface="Arial"/>
              </a:rPr>
              <a:t>Next context</a:t>
            </a:r>
            <a:endParaRPr lang="zh-CN" sz="1750"/>
          </a:p>
        </p:txBody>
      </p:sp>
      <p:sp>
        <p:nvSpPr>
          <p:cNvPr id="172" name="TextBox 172"/>
          <p:cNvSpPr txBox="1"/>
          <p:nvPr/>
        </p:nvSpPr>
        <p:spPr>
          <a:xfrm>
            <a:off x="9756470" y="583890"/>
            <a:ext cx="383928" cy="383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008994"/>
                </a:solidFill>
                <a:latin typeface="Arial"/>
                <a:ea typeface="Arial"/>
                <a:cs typeface="Arial"/>
              </a:rPr>
              <a:t>H</a:t>
            </a:r>
            <a:endParaRPr lang="zh-CN" sz="2100"/>
          </a:p>
        </p:txBody>
      </p:sp>
      <p:sp>
        <p:nvSpPr>
          <p:cNvPr id="173" name="TextBox 173"/>
          <p:cNvSpPr txBox="1"/>
          <p:nvPr/>
        </p:nvSpPr>
        <p:spPr>
          <a:xfrm>
            <a:off x="14579560" y="695869"/>
            <a:ext cx="383928" cy="383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008994"/>
                </a:solidFill>
                <a:latin typeface="Arial"/>
                <a:ea typeface="Arial"/>
                <a:cs typeface="Arial"/>
              </a:rPr>
              <a:t>H</a:t>
            </a:r>
            <a:endParaRPr lang="zh-CN" sz="2100"/>
          </a:p>
        </p:txBody>
      </p:sp>
      <p:sp>
        <p:nvSpPr>
          <p:cNvPr id="174" name="TextBox 174"/>
          <p:cNvSpPr txBox="1"/>
          <p:nvPr/>
        </p:nvSpPr>
        <p:spPr>
          <a:xfrm>
            <a:off x="11108215" y="6254820"/>
            <a:ext cx="383928" cy="383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008994"/>
                </a:solidFill>
                <a:latin typeface="Arial"/>
                <a:ea typeface="Arial"/>
                <a:cs typeface="Arial"/>
              </a:rPr>
              <a:t>H</a:t>
            </a:r>
            <a:endParaRPr lang="zh-CN" sz="2100"/>
          </a:p>
        </p:txBody>
      </p:sp>
      <p:pic>
        <p:nvPicPr>
          <p:cNvPr id="175" name="LaTeX rendered formula noise_math"/>
          <p:cNvPicPr/>
          <p:nvPr/>
        </p:nvPicPr>
        <p:blipFill>
          <a:blip r:embed="rId4"/>
          <a:stretch>
            <a:fillRect/>
          </a:stretch>
        </p:blipFill>
        <p:spPr>
          <a:xfrm>
            <a:off x="5773222" y="751858"/>
            <a:ext cx="687870" cy="311941"/>
          </a:xfrm>
          <a:prstGeom prst="rect">
            <a:avLst/>
          </a:prstGeom>
        </p:spPr>
      </p:pic>
      <p:pic>
        <p:nvPicPr>
          <p:cNvPr id="176" name="LaTeX rendered formula prior_math"/>
          <p:cNvPicPr/>
          <p:nvPr/>
        </p:nvPicPr>
        <p:blipFill>
          <a:blip r:embed="rId5"/>
          <a:stretch>
            <a:fillRect/>
          </a:stretch>
        </p:blipFill>
        <p:spPr>
          <a:xfrm>
            <a:off x="7716855" y="2551519"/>
            <a:ext cx="599887" cy="279947"/>
          </a:xfrm>
          <a:prstGeom prst="rect">
            <a:avLst/>
          </a:prstGeom>
        </p:spPr>
      </p:pic>
      <p:pic>
        <p:nvPicPr>
          <p:cNvPr id="177" name="LaTeX rendered formula proposal_math"/>
          <p:cNvPicPr/>
          <p:nvPr/>
        </p:nvPicPr>
        <p:blipFill>
          <a:blip r:embed="rId6"/>
          <a:stretch>
            <a:fillRect/>
          </a:stretch>
        </p:blipFill>
        <p:spPr>
          <a:xfrm>
            <a:off x="11252188" y="2551519"/>
            <a:ext cx="927825" cy="279947"/>
          </a:xfrm>
          <a:prstGeom prst="rect">
            <a:avLst/>
          </a:prstGeom>
        </p:spPr>
      </p:pic>
      <p:pic>
        <p:nvPicPr>
          <p:cNvPr id="178" name="LaTeX rendered formula adapted_z"/>
          <p:cNvPicPr/>
          <p:nvPr/>
        </p:nvPicPr>
        <p:blipFill>
          <a:blip r:embed="rId7"/>
          <a:stretch>
            <a:fillRect/>
          </a:stretch>
        </p:blipFill>
        <p:spPr>
          <a:xfrm>
            <a:off x="12787898" y="3247387"/>
            <a:ext cx="207961" cy="279947"/>
          </a:xfrm>
          <a:prstGeom prst="rect">
            <a:avLst/>
          </a:prstGeom>
        </p:spPr>
      </p:pic>
      <p:pic>
        <p:nvPicPr>
          <p:cNvPr id="179" name="LaTeX rendered formula next_observation"/>
          <p:cNvPicPr/>
          <p:nvPr/>
        </p:nvPicPr>
        <p:blipFill>
          <a:blip r:embed="rId8"/>
          <a:stretch>
            <a:fillRect/>
          </a:stretch>
        </p:blipFill>
        <p:spPr>
          <a:xfrm>
            <a:off x="15323420" y="5726919"/>
            <a:ext cx="535899" cy="2799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