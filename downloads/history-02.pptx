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8888075" cy="755332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8888075" cy="7553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>
            <a:off x="18192750" y="3552825"/>
            <a:ext cx="95250" cy="95250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lipse 4"/>
          <p:cNvSpPr/>
          <p:nvPr/>
        </p:nvSpPr>
        <p:spPr>
          <a:xfrm>
            <a:off x="6219825" y="2771775"/>
            <a:ext cx="1200150" cy="1981200"/>
          </a:xfrm>
          <a:prstGeom prst="ellipse">
            <a:avLst/>
          </a:prstGeom>
          <a:noFill/>
          <a:ln w="15240">
            <a:solidFill>
              <a:srgbClr val="B4C0D1"/>
            </a:solidFill>
          </a:ln>
        </p:spPr>
        <p:txBody>
          <a:bodyPr/>
          <a:lstStyle/>
          <a:p/>
        </p:txBody>
      </p:sp>
      <p:sp>
        <p:nvSpPr>
          <p:cNvPr id="5" name="Ellipse 5"/>
          <p:cNvSpPr/>
          <p:nvPr/>
        </p:nvSpPr>
        <p:spPr>
          <a:xfrm>
            <a:off x="11430000" y="2771775"/>
            <a:ext cx="1257300" cy="1981200"/>
          </a:xfrm>
          <a:prstGeom prst="ellipse">
            <a:avLst/>
          </a:prstGeom>
          <a:noFill/>
          <a:ln w="15240">
            <a:solidFill>
              <a:srgbClr val="F1C690"/>
            </a:solidFill>
          </a:ln>
        </p:spPr>
        <p:txBody>
          <a:bodyPr/>
          <a:lstStyle/>
          <a:p/>
        </p:txBody>
      </p:sp>
      <p:sp>
        <p:nvSpPr>
          <p:cNvPr id="6" name="Ellipse 6"/>
          <p:cNvSpPr/>
          <p:nvPr/>
        </p:nvSpPr>
        <p:spPr>
          <a:xfrm>
            <a:off x="6738937" y="296703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lipse 7"/>
          <p:cNvSpPr/>
          <p:nvPr/>
        </p:nvSpPr>
        <p:spPr>
          <a:xfrm>
            <a:off x="6510337" y="318611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lipse 8"/>
          <p:cNvSpPr/>
          <p:nvPr/>
        </p:nvSpPr>
        <p:spPr>
          <a:xfrm>
            <a:off x="6738937" y="321468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6929437" y="312896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6919913" y="322421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6672262" y="333851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6634162" y="344328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6748462" y="340518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6805613" y="348138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6929437" y="337661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7091362" y="331946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6567488" y="349091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6376988" y="355758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6729412" y="364331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6862762" y="361473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7034212" y="357663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6672262" y="367188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6757988" y="375761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6891338" y="372903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7015162" y="378618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6367462" y="386238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6557962" y="4024313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6691313" y="397668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6748462" y="4081463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6624637" y="412908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6919913" y="391953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7043738" y="3881437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7148512" y="4024313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6900862" y="411003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6796088" y="426243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6605588" y="4386262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6881812" y="431958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6977062" y="4414838"/>
            <a:ext cx="66675" cy="66675"/>
          </a:xfrm>
          <a:prstGeom prst="ellipse">
            <a:avLst/>
          </a:prstGeom>
          <a:solidFill>
            <a:srgbClr val="17365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11901488" y="2986087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11710988" y="32623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11968162" y="324326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12015788" y="33766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12244388" y="3119437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12206287" y="3195638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12034838" y="347186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11815762" y="350996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11939588" y="370046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12034838" y="3690937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Ellipse 49"/>
          <p:cNvSpPr/>
          <p:nvPr/>
        </p:nvSpPr>
        <p:spPr>
          <a:xfrm>
            <a:off x="12206287" y="33766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12377737" y="3424238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11596688" y="36433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11596688" y="3910013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11796712" y="381476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11930062" y="3938588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12034838" y="3786188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12120562" y="3910013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12234862" y="3786188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12349162" y="37576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12206287" y="36052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12406312" y="3995738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12130087" y="41005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11891962" y="410051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11844338" y="4395787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12111038" y="4310062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12225338" y="4395787"/>
            <a:ext cx="66675" cy="66675"/>
          </a:xfrm>
          <a:prstGeom prst="ellipse">
            <a:avLst/>
          </a:prstGeom>
          <a:solidFill>
            <a:srgbClr val="D78A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7458075" y="3048000"/>
            <a:ext cx="123825" cy="123825"/>
          </a:xfrm>
          <a:prstGeom prst="ellipse">
            <a:avLst/>
          </a:prstGeom>
          <a:solidFill>
            <a:srgbClr val="264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7458075" y="3352800"/>
            <a:ext cx="123825" cy="123825"/>
          </a:xfrm>
          <a:prstGeom prst="ellipse">
            <a:avLst/>
          </a:prstGeom>
          <a:solidFill>
            <a:srgbClr val="264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7458075" y="3657600"/>
            <a:ext cx="123825" cy="123825"/>
          </a:xfrm>
          <a:prstGeom prst="ellipse">
            <a:avLst/>
          </a:prstGeom>
          <a:solidFill>
            <a:srgbClr val="264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7458075" y="3962400"/>
            <a:ext cx="123825" cy="123825"/>
          </a:xfrm>
          <a:prstGeom prst="ellipse">
            <a:avLst/>
          </a:prstGeom>
          <a:solidFill>
            <a:srgbClr val="264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7458075" y="4257675"/>
            <a:ext cx="123825" cy="123825"/>
          </a:xfrm>
          <a:prstGeom prst="ellipse">
            <a:avLst/>
          </a:prstGeom>
          <a:solidFill>
            <a:srgbClr val="264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7429500" y="5591175"/>
            <a:ext cx="4419600" cy="790575"/>
          </a:xfrm>
          <a:prstGeom prst="roundRect">
            <a:avLst>
              <a:gd name="adj" fmla="val 13253"/>
            </a:avLst>
          </a:prstGeom>
          <a:solidFill>
            <a:srgbClr val="F4F6F8"/>
          </a:solidFill>
          <a:ln w="22860">
            <a:solidFill>
              <a:srgbClr val="345575"/>
            </a:solidFill>
          </a:ln>
        </p:spPr>
        <p:txBody>
          <a:bodyPr/>
          <a:lstStyle/>
          <a:p/>
        </p:txBody>
      </p:sp>
      <p:sp>
        <p:nvSpPr>
          <p:cNvPr id="72" name="Path 72"/>
          <p:cNvSpPr/>
          <p:nvPr/>
        </p:nvSpPr>
        <p:spPr>
          <a:xfrm>
            <a:off x="3609975" y="1495425"/>
            <a:ext cx="1019175" cy="30289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8277" y="0"/>
                </a:lnTo>
                <a:lnTo>
                  <a:pt x="21600" y="21600"/>
                </a:lnTo>
              </a:path>
            </a:pathLst>
          </a:custGeom>
          <a:noFill/>
          <a:ln w="16510">
            <a:solidFill>
              <a:srgbClr val="DB3C2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3" name="Path 73"/>
          <p:cNvSpPr/>
          <p:nvPr/>
        </p:nvSpPr>
        <p:spPr>
          <a:xfrm>
            <a:off x="3838575" y="3943350"/>
            <a:ext cx="9525" cy="7334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</a:path>
            </a:pathLst>
          </a:custGeom>
          <a:noFill/>
          <a:ln w="16510">
            <a:solidFill>
              <a:srgbClr val="DB3C24"/>
            </a:solidFill>
            <a:prstDash val="dash"/>
          </a:ln>
        </p:spPr>
        <p:txBody>
          <a:bodyPr/>
          <a:lstStyle/>
          <a:p/>
        </p:txBody>
      </p:sp>
      <p:sp>
        <p:nvSpPr>
          <p:cNvPr id="74" name="Path 74"/>
          <p:cNvSpPr/>
          <p:nvPr/>
        </p:nvSpPr>
        <p:spPr>
          <a:xfrm>
            <a:off x="9458325" y="1762125"/>
            <a:ext cx="9525" cy="5238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</a:path>
            </a:pathLst>
          </a:custGeom>
          <a:noFill/>
          <a:ln w="27940">
            <a:solidFill>
              <a:srgbClr val="007F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5" name="Path 75"/>
          <p:cNvSpPr/>
          <p:nvPr/>
        </p:nvSpPr>
        <p:spPr>
          <a:xfrm>
            <a:off x="18107025" y="2476500"/>
            <a:ext cx="171450" cy="11239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21600" y="11898"/>
                </a:lnTo>
                <a:lnTo>
                  <a:pt x="16800" y="21600"/>
                </a:lnTo>
              </a:path>
            </a:pathLst>
          </a:custGeom>
          <a:noFill/>
          <a:ln w="19050">
            <a:solidFill>
              <a:srgbClr val="D78A1C"/>
            </a:solidFill>
          </a:ln>
        </p:spPr>
        <p:txBody>
          <a:bodyPr/>
          <a:lstStyle/>
          <a:p/>
        </p:txBody>
      </p:sp>
      <p:sp>
        <p:nvSpPr>
          <p:cNvPr id="76" name="Path 76"/>
          <p:cNvSpPr/>
          <p:nvPr/>
        </p:nvSpPr>
        <p:spPr>
          <a:xfrm>
            <a:off x="17849850" y="4019550"/>
            <a:ext cx="9525" cy="4476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</a:path>
            </a:pathLst>
          </a:custGeom>
          <a:noFill/>
          <a:ln w="27940">
            <a:solidFill>
              <a:srgbClr val="D78A1C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77" name="Path 77"/>
          <p:cNvSpPr/>
          <p:nvPr/>
        </p:nvSpPr>
        <p:spPr>
          <a:xfrm>
            <a:off x="17735550" y="5695950"/>
            <a:ext cx="514350" cy="5429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1600" y="4926"/>
                </a:lnTo>
                <a:lnTo>
                  <a:pt x="0" y="21600"/>
                </a:lnTo>
              </a:path>
            </a:pathLst>
          </a:custGeom>
          <a:noFill/>
          <a:ln w="31750">
            <a:solidFill>
              <a:srgbClr val="007F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8" name="Path 78"/>
          <p:cNvSpPr/>
          <p:nvPr/>
        </p:nvSpPr>
        <p:spPr>
          <a:xfrm>
            <a:off x="7581900" y="2552700"/>
            <a:ext cx="3762375" cy="1057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286"/>
                </a:moveTo>
                <a:cubicBezTo>
                  <a:pt x="7929" y="0"/>
                  <a:pt x="13726" y="21600"/>
                  <a:pt x="21600" y="14205"/>
                </a:cubicBezTo>
              </a:path>
            </a:pathLst>
          </a:custGeom>
          <a:noFill/>
          <a:ln w="27940">
            <a:solidFill>
              <a:srgbClr val="D78A1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9" name="Path 79"/>
          <p:cNvSpPr/>
          <p:nvPr/>
        </p:nvSpPr>
        <p:spPr>
          <a:xfrm>
            <a:off x="7581900" y="2857500"/>
            <a:ext cx="3762375" cy="1057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286"/>
                </a:moveTo>
                <a:cubicBezTo>
                  <a:pt x="7929" y="0"/>
                  <a:pt x="13726" y="21600"/>
                  <a:pt x="21600" y="14011"/>
                </a:cubicBezTo>
              </a:path>
            </a:pathLst>
          </a:custGeom>
          <a:noFill/>
          <a:ln w="27940">
            <a:solidFill>
              <a:srgbClr val="D78A1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0" name="Path 80"/>
          <p:cNvSpPr/>
          <p:nvPr/>
        </p:nvSpPr>
        <p:spPr>
          <a:xfrm>
            <a:off x="7581900" y="3162300"/>
            <a:ext cx="3762375" cy="1057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286"/>
                </a:moveTo>
                <a:cubicBezTo>
                  <a:pt x="7929" y="0"/>
                  <a:pt x="13726" y="21600"/>
                  <a:pt x="21600" y="13622"/>
                </a:cubicBezTo>
              </a:path>
            </a:pathLst>
          </a:custGeom>
          <a:noFill/>
          <a:ln w="27940">
            <a:solidFill>
              <a:srgbClr val="D78A1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1" name="Path 81"/>
          <p:cNvSpPr/>
          <p:nvPr/>
        </p:nvSpPr>
        <p:spPr>
          <a:xfrm>
            <a:off x="7581900" y="3467100"/>
            <a:ext cx="3762375" cy="1057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286"/>
                </a:moveTo>
                <a:cubicBezTo>
                  <a:pt x="7929" y="0"/>
                  <a:pt x="13726" y="21600"/>
                  <a:pt x="21600" y="13232"/>
                </a:cubicBezTo>
              </a:path>
            </a:pathLst>
          </a:custGeom>
          <a:noFill/>
          <a:ln w="27940">
            <a:solidFill>
              <a:srgbClr val="D78A1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2" name="Path 82"/>
          <p:cNvSpPr/>
          <p:nvPr/>
        </p:nvSpPr>
        <p:spPr>
          <a:xfrm>
            <a:off x="7581900" y="3762375"/>
            <a:ext cx="3762375" cy="10572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286"/>
                </a:moveTo>
                <a:cubicBezTo>
                  <a:pt x="7929" y="0"/>
                  <a:pt x="13726" y="21600"/>
                  <a:pt x="21600" y="13038"/>
                </a:cubicBezTo>
              </a:path>
            </a:pathLst>
          </a:custGeom>
          <a:noFill/>
          <a:ln w="27940">
            <a:solidFill>
              <a:srgbClr val="D78A1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3" name="Path 83"/>
          <p:cNvSpPr/>
          <p:nvPr/>
        </p:nvSpPr>
        <p:spPr>
          <a:xfrm>
            <a:off x="10229850" y="4752975"/>
            <a:ext cx="1828800" cy="8382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21600" y="7364"/>
                </a:lnTo>
                <a:lnTo>
                  <a:pt x="0" y="7364"/>
                </a:lnTo>
                <a:lnTo>
                  <a:pt x="0" y="21600"/>
                </a:lnTo>
              </a:path>
            </a:pathLst>
          </a:custGeom>
          <a:noFill/>
          <a:ln w="29209">
            <a:solidFill>
              <a:srgbClr val="D78A1C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4" name="Path 84"/>
          <p:cNvSpPr/>
          <p:nvPr/>
        </p:nvSpPr>
        <p:spPr>
          <a:xfrm>
            <a:off x="11849100" y="5734050"/>
            <a:ext cx="2028825" cy="247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18862" y="21600"/>
                </a:lnTo>
                <a:lnTo>
                  <a:pt x="18862" y="0"/>
                </a:lnTo>
                <a:lnTo>
                  <a:pt x="21600" y="0"/>
                </a:lnTo>
              </a:path>
            </a:pathLst>
          </a:custGeom>
          <a:noFill/>
          <a:ln w="35560">
            <a:solidFill>
              <a:srgbClr val="234967"/>
            </a:solidFill>
            <a:tailEnd type="triangle"/>
          </a:ln>
        </p:spPr>
        <p:txBody>
          <a:bodyPr/>
          <a:lstStyle/>
          <a:p/>
        </p:txBody>
      </p:sp>
      <p:pic>
        <p:nvPicPr>
          <p:cNvPr id="85" name="left_scene"/>
          <p:cNvPicPr/>
          <p:nvPr/>
        </p:nvPicPr>
        <p:blipFill>
          <a:blip r:embed="rId2"/>
          <a:stretch>
            <a:fillRect/>
          </a:stretch>
        </p:blipFill>
        <p:spPr>
          <a:xfrm>
            <a:off x="51408" y="1626792"/>
            <a:ext cx="5936033" cy="4699791"/>
          </a:xfrm>
          <a:prstGeom prst="rect">
            <a:avLst/>
          </a:prstGeom>
        </p:spPr>
      </p:pic>
      <p:pic>
        <p:nvPicPr>
          <p:cNvPr id="86" name="right_scene_fixed"/>
          <p:cNvPicPr/>
          <p:nvPr/>
        </p:nvPicPr>
        <p:blipFill>
          <a:blip r:embed="rId3"/>
          <a:stretch>
            <a:fillRect/>
          </a:stretch>
        </p:blipFill>
        <p:spPr>
          <a:xfrm>
            <a:off x="13254140" y="2059459"/>
            <a:ext cx="5456594" cy="4320617"/>
          </a:xfrm>
          <a:prstGeom prst="rect">
            <a:avLst/>
          </a:prstGeom>
        </p:spPr>
      </p:pic>
      <p:pic>
        <p:nvPicPr>
          <p:cNvPr id="87" name="lock"/>
          <p:cNvPicPr/>
          <p:nvPr/>
        </p:nvPicPr>
        <p:blipFill>
          <a:blip r:embed="rId4"/>
          <a:stretch>
            <a:fillRect/>
          </a:stretch>
        </p:blipFill>
        <p:spPr>
          <a:xfrm>
            <a:off x="7900884" y="5686657"/>
            <a:ext cx="514557" cy="609135"/>
          </a:xfrm>
          <a:prstGeom prst="rect">
            <a:avLst/>
          </a:prstGeom>
        </p:spPr>
      </p:pic>
      <p:sp>
        <p:nvSpPr>
          <p:cNvPr id="88" name="TextBox 88"/>
          <p:cNvSpPr txBox="1"/>
          <p:nvPr/>
        </p:nvSpPr>
        <p:spPr>
          <a:xfrm>
            <a:off x="361950" y="314325"/>
            <a:ext cx="5048250" cy="600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>
                <a:solidFill>
                  <a:srgbClr val="173653"/>
                </a:solidFill>
                <a:latin typeface="DejaVu Sans"/>
                <a:ea typeface="DejaVu Sans"/>
                <a:cs typeface="DejaVu Sans"/>
              </a:rPr>
              <a:t>(a) Local mismatch</a:t>
            </a:r>
            <a:endParaRPr lang="zh-CN" sz="2800"/>
          </a:p>
        </p:txBody>
      </p:sp>
      <p:sp>
        <p:nvSpPr>
          <p:cNvPr id="89" name="TextBox 89"/>
          <p:cNvSpPr txBox="1"/>
          <p:nvPr/>
        </p:nvSpPr>
        <p:spPr>
          <a:xfrm>
            <a:off x="6019800" y="314325"/>
            <a:ext cx="6334125" cy="600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>
                <a:solidFill>
                  <a:srgbClr val="173653"/>
                </a:solidFill>
                <a:latin typeface="DejaVu Sans"/>
                <a:ea typeface="DejaVu Sans"/>
                <a:cs typeface="DejaVu Sans"/>
              </a:rPr>
              <a:t>(b) Adapt the proposals</a:t>
            </a:r>
            <a:endParaRPr lang="zh-CN" sz="2800"/>
          </a:p>
        </p:txBody>
      </p:sp>
      <p:sp>
        <p:nvSpPr>
          <p:cNvPr id="90" name="TextBox 90"/>
          <p:cNvSpPr txBox="1"/>
          <p:nvPr/>
        </p:nvSpPr>
        <p:spPr>
          <a:xfrm>
            <a:off x="13373100" y="314325"/>
            <a:ext cx="5238750" cy="600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>
                <a:solidFill>
                  <a:srgbClr val="173653"/>
                </a:solidFill>
                <a:latin typeface="DejaVu Sans"/>
                <a:ea typeface="DejaVu Sans"/>
                <a:cs typeface="DejaVu Sans"/>
              </a:rPr>
              <a:t>(c) Act, then observe</a:t>
            </a:r>
            <a:endParaRPr lang="zh-CN" sz="2800"/>
          </a:p>
        </p:txBody>
      </p:sp>
      <p:sp>
        <p:nvSpPr>
          <p:cNvPr id="91" name="TextBox 91"/>
          <p:cNvSpPr txBox="1"/>
          <p:nvPr/>
        </p:nvSpPr>
        <p:spPr>
          <a:xfrm>
            <a:off x="762000" y="1238250"/>
            <a:ext cx="2781300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DB3C24"/>
                </a:solidFill>
                <a:latin typeface="DejaVu Sans"/>
                <a:ea typeface="DejaVu Sans"/>
                <a:cs typeface="DejaVu Sans"/>
              </a:rPr>
              <a:t>Object displaced</a:t>
            </a:r>
            <a:endParaRPr lang="zh-CN" sz="2650"/>
          </a:p>
        </p:txBody>
      </p:sp>
      <p:sp>
        <p:nvSpPr>
          <p:cNvPr id="92" name="TextBox 92"/>
          <p:cNvSpPr txBox="1"/>
          <p:nvPr/>
        </p:nvSpPr>
        <p:spPr>
          <a:xfrm>
            <a:off x="7429500" y="1200150"/>
            <a:ext cx="4171950" cy="4857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007F91"/>
                </a:solidFill>
                <a:latin typeface="DejaVu Sans"/>
                <a:ea typeface="DejaVu Sans"/>
                <a:cs typeface="DejaVu Sans"/>
              </a:rPr>
              <a:t>Consequence feedback</a:t>
            </a:r>
            <a:endParaRPr lang="zh-CN" sz="2650"/>
          </a:p>
        </p:txBody>
      </p:sp>
      <p:sp>
        <p:nvSpPr>
          <p:cNvPr id="93" name="TextBox 93"/>
          <p:cNvSpPr txBox="1"/>
          <p:nvPr/>
        </p:nvSpPr>
        <p:spPr>
          <a:xfrm>
            <a:off x="8934450" y="2343150"/>
            <a:ext cx="1152525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 b="1">
                <a:solidFill>
                  <a:srgbClr val="D78A1C"/>
                </a:solidFill>
                <a:latin typeface="DejaVu Sans"/>
                <a:ea typeface="DejaVu Sans"/>
                <a:cs typeface="DejaVu Sans"/>
              </a:rPr>
              <a:t>ASBS</a:t>
            </a:r>
            <a:endParaRPr lang="zh-CN" sz="2800"/>
          </a:p>
        </p:txBody>
      </p:sp>
      <p:sp>
        <p:nvSpPr>
          <p:cNvPr id="94" name="TextBox 94"/>
          <p:cNvSpPr txBox="1"/>
          <p:nvPr/>
        </p:nvSpPr>
        <p:spPr>
          <a:xfrm>
            <a:off x="6362700" y="4772025"/>
            <a:ext cx="133350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73653"/>
                </a:solidFill>
                <a:latin typeface="DejaVu Sans"/>
                <a:ea typeface="DejaVu Sans"/>
                <a:cs typeface="DejaVu Sans"/>
              </a:rPr>
              <a:t>Native</a:t>
            </a:r>
            <a:endParaRPr lang="zh-CN" sz="2650"/>
          </a:p>
        </p:txBody>
      </p:sp>
      <p:sp>
        <p:nvSpPr>
          <p:cNvPr id="95" name="TextBox 95"/>
          <p:cNvSpPr txBox="1"/>
          <p:nvPr/>
        </p:nvSpPr>
        <p:spPr>
          <a:xfrm>
            <a:off x="11296650" y="2314575"/>
            <a:ext cx="1628775" cy="5048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73653"/>
                </a:solidFill>
                <a:latin typeface="DejaVu Sans"/>
                <a:ea typeface="DejaVu Sans"/>
                <a:cs typeface="DejaVu Sans"/>
              </a:rPr>
              <a:t>Adapted</a:t>
            </a:r>
            <a:endParaRPr lang="zh-CN" sz="2650"/>
          </a:p>
        </p:txBody>
      </p:sp>
      <p:sp>
        <p:nvSpPr>
          <p:cNvPr id="96" name="TextBox 96"/>
          <p:cNvSpPr txBox="1"/>
          <p:nvPr/>
        </p:nvSpPr>
        <p:spPr>
          <a:xfrm>
            <a:off x="8505825" y="5715000"/>
            <a:ext cx="3209925" cy="561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73653"/>
                </a:solidFill>
                <a:latin typeface="DejaVu Sans"/>
                <a:ea typeface="DejaVu Sans"/>
                <a:cs typeface="DejaVu Sans"/>
              </a:rPr>
              <a:t>Same frozen VLA</a:t>
            </a:r>
            <a:endParaRPr lang="zh-CN" sz="2650"/>
          </a:p>
        </p:txBody>
      </p:sp>
      <p:sp>
        <p:nvSpPr>
          <p:cNvPr id="97" name="TextBox 97"/>
          <p:cNvSpPr txBox="1"/>
          <p:nvPr/>
        </p:nvSpPr>
        <p:spPr>
          <a:xfrm>
            <a:off x="2000250" y="6315075"/>
            <a:ext cx="3238500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173653"/>
                </a:solidFill>
                <a:latin typeface="DejaVu Sans"/>
                <a:ea typeface="DejaVu Sans"/>
                <a:cs typeface="DejaVu Sans"/>
              </a:rPr>
              <a:t>Native proposal</a:t>
            </a:r>
            <a:endParaRPr lang="zh-CN" sz="2650"/>
          </a:p>
        </p:txBody>
      </p:sp>
      <p:sp>
        <p:nvSpPr>
          <p:cNvPr id="98" name="TextBox 98"/>
          <p:cNvSpPr txBox="1"/>
          <p:nvPr/>
        </p:nvSpPr>
        <p:spPr>
          <a:xfrm>
            <a:off x="16859250" y="1866900"/>
            <a:ext cx="1990725" cy="533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D78A1C"/>
                </a:solidFill>
                <a:latin typeface="DejaVu Sans"/>
                <a:ea typeface="DejaVu Sans"/>
                <a:cs typeface="DejaVu Sans"/>
              </a:rPr>
              <a:t>Short prefix</a:t>
            </a:r>
            <a:endParaRPr lang="zh-CN" sz="2650"/>
          </a:p>
        </p:txBody>
      </p:sp>
      <p:sp>
        <p:nvSpPr>
          <p:cNvPr id="99" name="TextBox 99"/>
          <p:cNvSpPr txBox="1"/>
          <p:nvPr/>
        </p:nvSpPr>
        <p:spPr>
          <a:xfrm>
            <a:off x="16383000" y="6276975"/>
            <a:ext cx="2352675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007F91"/>
                </a:solidFill>
                <a:latin typeface="DejaVu Sans"/>
                <a:ea typeface="DejaVu Sans"/>
                <a:cs typeface="DejaVu Sans"/>
              </a:rPr>
              <a:t>Re-observe</a:t>
            </a:r>
            <a:endParaRPr lang="zh-CN" sz="2650"/>
          </a:p>
        </p:txBody>
      </p:sp>
      <p:sp>
        <p:nvSpPr>
          <p:cNvPr id="100" name="TextBox 100"/>
          <p:cNvSpPr txBox="1"/>
          <p:nvPr/>
        </p:nvSpPr>
        <p:spPr>
          <a:xfrm>
            <a:off x="16002000" y="7038975"/>
            <a:ext cx="273367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7B8EA6"/>
                </a:solidFill>
                <a:latin typeface="DejaVu Sans"/>
                <a:ea typeface="DejaVu Sans"/>
                <a:cs typeface="DejaVu Sans"/>
              </a:rPr>
              <a:t>Conceptual illustration</a:t>
            </a:r>
            <a:endParaRPr 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890713" y="0"/>
            <a:ext cx="15106650" cy="7553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3329847" y="2001163"/>
            <a:ext cx="2954908" cy="7238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8796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014770" y="4947556"/>
            <a:ext cx="3355141" cy="894137"/>
          </a:xfrm>
          <a:prstGeom prst="roundRect">
            <a:avLst>
              <a:gd name="adj" fmla="val 8571"/>
            </a:avLst>
          </a:prstGeom>
          <a:solidFill>
            <a:srgbClr val="FBFFFF"/>
          </a:solidFill>
          <a:ln w="18796">
            <a:solidFill>
              <a:srgbClr val="008994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6446551" y="1285854"/>
            <a:ext cx="6224894" cy="4002326"/>
          </a:xfrm>
          <a:prstGeom prst="roundRect">
            <a:avLst>
              <a:gd name="adj" fmla="val 2553"/>
            </a:avLst>
          </a:prstGeom>
          <a:solidFill>
            <a:srgbClr val="FFF9ED"/>
          </a:solidFill>
          <a:ln w="14604">
            <a:solidFill>
              <a:srgbClr val="ECC789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3301598" y="2001163"/>
            <a:ext cx="3644671" cy="7238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8796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3301598" y="4853884"/>
            <a:ext cx="3465844" cy="64718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8796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13301598" y="5816145"/>
            <a:ext cx="3465844" cy="672731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8796">
            <a:solidFill>
              <a:srgbClr val="123D61"/>
            </a:solidFill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7027437" y="3040209"/>
            <a:ext cx="949507" cy="1193749"/>
          </a:xfrm>
          <a:prstGeom prst="ellipse">
            <a:avLst/>
          </a:prstGeom>
          <a:noFill/>
          <a:ln w="22860">
            <a:solidFill>
              <a:srgbClr val="C5CFD6"/>
            </a:solidFill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10890387" y="3040209"/>
            <a:ext cx="949507" cy="1193749"/>
          </a:xfrm>
          <a:prstGeom prst="ellipse">
            <a:avLst/>
          </a:prstGeom>
          <a:noFill/>
          <a:ln w="22860">
            <a:solidFill>
              <a:srgbClr val="EAD2AA"/>
            </a:solidFill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4143085" y="1324174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4279334" y="1485970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4347459" y="1256049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4475193" y="1400814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4636989" y="1256049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4654020" y="1460423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4815816" y="1324174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4841363" y="1503001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4994644" y="1358236"/>
            <a:ext cx="59609" cy="59609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2435710" y="2316239"/>
            <a:ext cx="102187" cy="102187"/>
          </a:xfrm>
          <a:prstGeom prst="ellipse">
            <a:avLst/>
          </a:prstGeom>
          <a:solidFill>
            <a:srgbClr val="00899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7481901" y="3136813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7481901" y="3233417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7611748" y="3261018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7636095" y="3350722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7765942" y="3371423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7270900" y="3309320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7352054" y="3385223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7449440" y="3399024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7498132" y="3419725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7563056" y="3433525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7416978" y="3461127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7295246" y="3461127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7352054" y="3516329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7441324" y="3509429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7514363" y="3495628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7619864" y="3440426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7433209" y="3585332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7360170" y="3606032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7303362" y="3578431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7254669" y="3606032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lipse 41"/>
          <p:cNvSpPr/>
          <p:nvPr/>
        </p:nvSpPr>
        <p:spPr>
          <a:xfrm>
            <a:off x="7157284" y="3633634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7092360" y="3509429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7124822" y="3875143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7181630" y="3792340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7319593" y="3723337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7319593" y="3647434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7400747" y="3716437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7473786" y="3688836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Ellipse 49"/>
          <p:cNvSpPr/>
          <p:nvPr/>
        </p:nvSpPr>
        <p:spPr>
          <a:xfrm>
            <a:off x="7522479" y="3799240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7595518" y="3785440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7587402" y="3737138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7757826" y="3688836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7782173" y="3557730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7765942" y="3502528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7692903" y="3875143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7473786" y="3923445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7319593" y="3895844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7319593" y="4006249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7457555" y="4020049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7506248" y="4095952"/>
            <a:ext cx="48693" cy="41402"/>
          </a:xfrm>
          <a:prstGeom prst="ellipse">
            <a:avLst/>
          </a:prstGeom>
          <a:solidFill>
            <a:srgbClr val="59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7165399" y="3661235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7554940" y="3861343"/>
            <a:ext cx="48693" cy="414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11117619" y="3157514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11247466" y="3157514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11247466" y="3212716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11361082" y="3254118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11523391" y="3350722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11393544" y="3399024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11239351" y="3461127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11231235" y="3516329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11190658" y="3578431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Ellipse 72"/>
          <p:cNvSpPr/>
          <p:nvPr/>
        </p:nvSpPr>
        <p:spPr>
          <a:xfrm>
            <a:off x="11255582" y="3619833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11320505" y="3661235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11417890" y="3681936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11507160" y="3647434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11580199" y="3716437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11450352" y="3757839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11409775" y="3819941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11336736" y="3799240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11198773" y="3833742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11223120" y="3909645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11336736" y="3992448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11426006" y="3951046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11604546" y="3882044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11620776" y="3757839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11669469" y="3557730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1653238" y="3516329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11523391" y="3433525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11393544" y="3461127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11458468" y="3530129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11150081" y="3612933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11012118" y="3668135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11004003" y="3799240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11085157" y="3923445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11198773" y="4047650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11336736" y="4095952"/>
            <a:ext cx="48693" cy="41402"/>
          </a:xfrm>
          <a:prstGeom prst="ellipse">
            <a:avLst/>
          </a:prstGeom>
          <a:solidFill>
            <a:srgbClr val="CF97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1523391" y="3813041"/>
            <a:ext cx="48693" cy="41402"/>
          </a:xfrm>
          <a:prstGeom prst="ellipse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13446363" y="3550999"/>
            <a:ext cx="306561" cy="298046"/>
          </a:xfrm>
          <a:prstGeom prst="rect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13835525" y="3550999"/>
            <a:ext cx="306561" cy="298046"/>
          </a:xfrm>
          <a:prstGeom prst="rect">
            <a:avLst/>
          </a:prstGeom>
          <a:solidFill>
            <a:srgbClr val="B7760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14224688" y="3550999"/>
            <a:ext cx="306561" cy="29804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14613850" y="3550999"/>
            <a:ext cx="306561" cy="29804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15003012" y="3550999"/>
            <a:ext cx="306561" cy="29804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5392174" y="3550999"/>
            <a:ext cx="306561" cy="29804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15781337" y="3550999"/>
            <a:ext cx="306561" cy="29804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6170499" y="3550999"/>
            <a:ext cx="306561" cy="29804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4598669" y="1609446"/>
            <a:ext cx="0" cy="357655"/>
          </a:xfrm>
          <a:prstGeom prst="line">
            <a:avLst/>
          </a:prstGeom>
          <a:noFill/>
          <a:ln w="20828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2486804" y="2367333"/>
            <a:ext cx="817496" cy="0"/>
          </a:xfrm>
          <a:prstGeom prst="line">
            <a:avLst/>
          </a:prstGeom>
          <a:noFill/>
          <a:ln w="20828">
            <a:solidFill>
              <a:srgbClr val="008994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4598669" y="2733503"/>
            <a:ext cx="0" cy="408748"/>
          </a:xfrm>
          <a:prstGeom prst="line">
            <a:avLst/>
          </a:prstGeom>
          <a:noFill/>
          <a:ln w="20828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5305463" y="3244438"/>
            <a:ext cx="527966" cy="0"/>
          </a:xfrm>
          <a:prstGeom prst="line">
            <a:avLst/>
          </a:prstGeom>
          <a:noFill/>
          <a:ln w="14604">
            <a:solidFill>
              <a:srgbClr val="CBD8E4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5305463" y="3661702"/>
            <a:ext cx="527966" cy="0"/>
          </a:xfrm>
          <a:prstGeom prst="line">
            <a:avLst/>
          </a:prstGeom>
          <a:noFill/>
          <a:ln w="14604">
            <a:solidFill>
              <a:srgbClr val="CBD8E4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5305463" y="4010841"/>
            <a:ext cx="527966" cy="0"/>
          </a:xfrm>
          <a:prstGeom prst="line">
            <a:avLst/>
          </a:prstGeom>
          <a:noFill/>
          <a:ln w="14604">
            <a:solidFill>
              <a:srgbClr val="CBD8E4"/>
            </a:solidFill>
            <a:prstDash val="dash"/>
            <a:tailEnd type="none"/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4598669" y="4760213"/>
            <a:ext cx="0" cy="178827"/>
          </a:xfrm>
          <a:prstGeom prst="line">
            <a:avLst/>
          </a:prstGeom>
          <a:noFill/>
          <a:ln w="20828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13" name="Path 113"/>
          <p:cNvSpPr/>
          <p:nvPr/>
        </p:nvSpPr>
        <p:spPr>
          <a:xfrm>
            <a:off x="8074329" y="2805600"/>
            <a:ext cx="2718673" cy="75903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015"/>
                </a:moveTo>
                <a:cubicBezTo>
                  <a:pt x="9414" y="0"/>
                  <a:pt x="15604" y="21600"/>
                  <a:pt x="21600" y="12960"/>
                </a:cubicBezTo>
              </a:path>
            </a:pathLst>
          </a:custGeom>
          <a:noFill/>
          <a:ln w="22860">
            <a:solidFill>
              <a:srgbClr val="CF9B4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4" name="Path 114"/>
          <p:cNvSpPr/>
          <p:nvPr/>
        </p:nvSpPr>
        <p:spPr>
          <a:xfrm>
            <a:off x="8074329" y="2991907"/>
            <a:ext cx="2718673" cy="71072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695"/>
                </a:moveTo>
                <a:cubicBezTo>
                  <a:pt x="9414" y="0"/>
                  <a:pt x="15604" y="21600"/>
                  <a:pt x="21600" y="12792"/>
                </a:cubicBezTo>
              </a:path>
            </a:pathLst>
          </a:custGeom>
          <a:noFill/>
          <a:ln w="22860">
            <a:solidFill>
              <a:srgbClr val="CF9B4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5" name="Path 115"/>
          <p:cNvSpPr/>
          <p:nvPr/>
        </p:nvSpPr>
        <p:spPr>
          <a:xfrm>
            <a:off x="8074329" y="3171315"/>
            <a:ext cx="2718673" cy="6624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475"/>
                </a:moveTo>
                <a:cubicBezTo>
                  <a:pt x="9414" y="0"/>
                  <a:pt x="15604" y="21600"/>
                  <a:pt x="21600" y="12600"/>
                </a:cubicBezTo>
              </a:path>
            </a:pathLst>
          </a:custGeom>
          <a:noFill/>
          <a:ln w="22860">
            <a:solidFill>
              <a:srgbClr val="CF9B4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6" name="Path 116"/>
          <p:cNvSpPr/>
          <p:nvPr/>
        </p:nvSpPr>
        <p:spPr>
          <a:xfrm>
            <a:off x="8074329" y="3350722"/>
            <a:ext cx="2718673" cy="6141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2378"/>
                </a:moveTo>
                <a:cubicBezTo>
                  <a:pt x="9414" y="0"/>
                  <a:pt x="15604" y="21600"/>
                  <a:pt x="21600" y="12378"/>
                </a:cubicBezTo>
              </a:path>
            </a:pathLst>
          </a:custGeom>
          <a:noFill/>
          <a:ln w="2286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7" name="Path 117"/>
          <p:cNvSpPr/>
          <p:nvPr/>
        </p:nvSpPr>
        <p:spPr>
          <a:xfrm>
            <a:off x="8074329" y="3537030"/>
            <a:ext cx="2718673" cy="565823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3434"/>
                </a:moveTo>
                <a:cubicBezTo>
                  <a:pt x="9414" y="0"/>
                  <a:pt x="15604" y="21600"/>
                  <a:pt x="21600" y="12117"/>
                </a:cubicBezTo>
              </a:path>
            </a:pathLst>
          </a:custGeom>
          <a:noFill/>
          <a:ln w="2286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8" name="Path 118"/>
          <p:cNvSpPr/>
          <p:nvPr/>
        </p:nvSpPr>
        <p:spPr>
          <a:xfrm>
            <a:off x="8074329" y="3730238"/>
            <a:ext cx="2718673" cy="51752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4688"/>
                </a:moveTo>
                <a:cubicBezTo>
                  <a:pt x="9414" y="0"/>
                  <a:pt x="15604" y="21600"/>
                  <a:pt x="21600" y="11808"/>
                </a:cubicBezTo>
              </a:path>
            </a:pathLst>
          </a:custGeom>
          <a:noFill/>
          <a:ln w="2286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14974911" y="2709196"/>
            <a:ext cx="0" cy="378562"/>
          </a:xfrm>
          <a:prstGeom prst="line">
            <a:avLst/>
          </a:prstGeom>
          <a:noFill/>
          <a:ln w="20828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3795502" y="4061935"/>
            <a:ext cx="0" cy="127734"/>
          </a:xfrm>
          <a:prstGeom prst="line">
            <a:avLst/>
          </a:prstGeom>
          <a:noFill/>
          <a:ln w="18796">
            <a:solidFill>
              <a:srgbClr val="B7760A"/>
            </a:solidFill>
            <a:prstDash val="solid"/>
            <a:tailEnd type="none"/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3795502" y="4589901"/>
            <a:ext cx="0" cy="221405"/>
          </a:xfrm>
          <a:prstGeom prst="line">
            <a:avLst/>
          </a:prstGeom>
          <a:noFill/>
          <a:ln w="20828">
            <a:solidFill>
              <a:srgbClr val="B7760A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4919559" y="5509584"/>
            <a:ext cx="0" cy="281014"/>
          </a:xfrm>
          <a:prstGeom prst="line">
            <a:avLst/>
          </a:prstGeom>
          <a:noFill/>
          <a:ln w="20828">
            <a:solidFill>
              <a:srgbClr val="123D61"/>
            </a:solidFill>
            <a:prstDash val="solid"/>
            <a:tailEnd type="triangle"/>
          </a:ln>
        </p:spPr>
        <p:txBody>
          <a:bodyPr/>
          <a:lstStyle/>
          <a:p/>
        </p:txBody>
      </p:sp>
      <p:sp>
        <p:nvSpPr>
          <p:cNvPr id="123" name="Path 123"/>
          <p:cNvSpPr/>
          <p:nvPr/>
        </p:nvSpPr>
        <p:spPr>
          <a:xfrm>
            <a:off x="3474612" y="3091158"/>
            <a:ext cx="1822335" cy="57906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3341"/>
                </a:moveTo>
                <a:cubicBezTo>
                  <a:pt x="7772" y="0"/>
                  <a:pt x="11809" y="21600"/>
                  <a:pt x="21600" y="5718"/>
                </a:cubicBezTo>
              </a:path>
            </a:pathLst>
          </a:custGeom>
          <a:noFill/>
          <a:ln w="22860">
            <a:solidFill>
              <a:srgbClr val="123D61"/>
            </a:solidFill>
            <a:tailEnd type="none"/>
          </a:ln>
        </p:spPr>
        <p:txBody>
          <a:bodyPr/>
          <a:lstStyle/>
          <a:p/>
        </p:txBody>
      </p:sp>
      <p:sp>
        <p:nvSpPr>
          <p:cNvPr id="124" name="Path 124"/>
          <p:cNvSpPr/>
          <p:nvPr/>
        </p:nvSpPr>
        <p:spPr>
          <a:xfrm>
            <a:off x="3474612" y="3457328"/>
            <a:ext cx="1822335" cy="57906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3341"/>
                </a:moveTo>
                <a:cubicBezTo>
                  <a:pt x="7772" y="0"/>
                  <a:pt x="11809" y="21600"/>
                  <a:pt x="21600" y="7624"/>
                </a:cubicBezTo>
              </a:path>
            </a:pathLst>
          </a:custGeom>
          <a:noFill/>
          <a:ln w="22860">
            <a:solidFill>
              <a:srgbClr val="597CA0"/>
            </a:solidFill>
            <a:tailEnd type="none"/>
          </a:ln>
        </p:spPr>
        <p:txBody>
          <a:bodyPr/>
          <a:lstStyle/>
          <a:p/>
        </p:txBody>
      </p:sp>
      <p:sp>
        <p:nvSpPr>
          <p:cNvPr id="125" name="Path 125"/>
          <p:cNvSpPr/>
          <p:nvPr/>
        </p:nvSpPr>
        <p:spPr>
          <a:xfrm>
            <a:off x="3474612" y="3883107"/>
            <a:ext cx="1822335" cy="57906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3341"/>
                </a:moveTo>
                <a:cubicBezTo>
                  <a:pt x="7772" y="0"/>
                  <a:pt x="11809" y="21600"/>
                  <a:pt x="21600" y="4765"/>
                </a:cubicBezTo>
              </a:path>
            </a:pathLst>
          </a:custGeom>
          <a:noFill/>
          <a:ln w="22860">
            <a:solidFill>
              <a:srgbClr val="123D61"/>
            </a:solidFill>
            <a:tailEnd type="none"/>
          </a:ln>
        </p:spPr>
        <p:txBody>
          <a:bodyPr/>
          <a:lstStyle/>
          <a:p/>
        </p:txBody>
      </p:sp>
      <p:sp>
        <p:nvSpPr>
          <p:cNvPr id="126" name="Path 126"/>
          <p:cNvSpPr/>
          <p:nvPr/>
        </p:nvSpPr>
        <p:spPr>
          <a:xfrm>
            <a:off x="6369911" y="5305210"/>
            <a:ext cx="3193345" cy="71530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5400"/>
                </a:moveTo>
                <a:lnTo>
                  <a:pt x="634" y="5400"/>
                </a:lnTo>
                <a:lnTo>
                  <a:pt x="634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20955">
            <a:solidFill>
              <a:srgbClr val="0089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7" name="Path 127"/>
          <p:cNvSpPr/>
          <p:nvPr/>
        </p:nvSpPr>
        <p:spPr>
          <a:xfrm>
            <a:off x="11998713" y="2367333"/>
            <a:ext cx="1277338" cy="140507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14400" y="21600"/>
                </a:lnTo>
                <a:lnTo>
                  <a:pt x="14400" y="0"/>
                </a:lnTo>
                <a:lnTo>
                  <a:pt x="21600" y="0"/>
                </a:lnTo>
              </a:path>
            </a:pathLst>
          </a:custGeom>
          <a:noFill/>
          <a:ln w="22860">
            <a:solidFill>
              <a:srgbClr val="B776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8" name="Path 128"/>
          <p:cNvSpPr/>
          <p:nvPr/>
        </p:nvSpPr>
        <p:spPr>
          <a:xfrm>
            <a:off x="13446363" y="3942716"/>
            <a:ext cx="681247" cy="11921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22860">
            <a:solidFill>
              <a:srgbClr val="B7760A"/>
            </a:solidFill>
            <a:tailEnd type="none"/>
          </a:ln>
        </p:spPr>
        <p:txBody>
          <a:bodyPr/>
          <a:lstStyle/>
          <a:p/>
        </p:txBody>
      </p:sp>
      <p:sp>
        <p:nvSpPr>
          <p:cNvPr id="129" name="Path 129"/>
          <p:cNvSpPr/>
          <p:nvPr/>
        </p:nvSpPr>
        <p:spPr>
          <a:xfrm>
            <a:off x="2486804" y="2384364"/>
            <a:ext cx="12432756" cy="440255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20179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noFill/>
          <a:ln w="22860">
            <a:solidFill>
              <a:srgbClr val="0089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9563256" y="1055933"/>
            <a:ext cx="0" cy="195858"/>
          </a:xfrm>
          <a:prstGeom prst="line">
            <a:avLst/>
          </a:prstGeom>
          <a:noFill/>
          <a:ln w="21590">
            <a:solidFill>
              <a:srgbClr val="0089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14919559" y="1200698"/>
            <a:ext cx="0" cy="774918"/>
          </a:xfrm>
          <a:prstGeom prst="line">
            <a:avLst/>
          </a:prstGeom>
          <a:noFill/>
          <a:ln w="21590">
            <a:solidFill>
              <a:srgbClr val="00899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8041867" y="3129913"/>
            <a:ext cx="64924" cy="552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8041867" y="3316221"/>
            <a:ext cx="64924" cy="552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8041867" y="3495628"/>
            <a:ext cx="64924" cy="552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8041867" y="3675035"/>
            <a:ext cx="64924" cy="552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8041867" y="3861343"/>
            <a:ext cx="64924" cy="552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8041867" y="4054551"/>
            <a:ext cx="64924" cy="55202"/>
          </a:xfrm>
          <a:prstGeom prst="ellipse">
            <a:avLst/>
          </a:prstGeom>
          <a:solidFill>
            <a:srgbClr val="123D61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8" name="frozen-lock"/>
          <p:cNvPicPr/>
          <p:nvPr/>
        </p:nvPicPr>
        <p:blipFill>
          <a:blip r:embed="rId2"/>
          <a:stretch>
            <a:fillRect/>
          </a:stretch>
        </p:blipFill>
        <p:spPr>
          <a:xfrm>
            <a:off x="3687501" y="2128897"/>
            <a:ext cx="289530" cy="417264"/>
          </a:xfrm>
          <a:prstGeom prst="rect">
            <a:avLst/>
          </a:prstGeom>
        </p:spPr>
      </p:pic>
      <p:pic>
        <p:nvPicPr>
          <p:cNvPr id="139" name="frozen-lock"/>
          <p:cNvPicPr/>
          <p:nvPr/>
        </p:nvPicPr>
        <p:blipFill>
          <a:blip r:embed="rId3"/>
          <a:stretch>
            <a:fillRect/>
          </a:stretch>
        </p:blipFill>
        <p:spPr>
          <a:xfrm>
            <a:off x="13557066" y="2128897"/>
            <a:ext cx="289530" cy="417264"/>
          </a:xfrm>
          <a:prstGeom prst="rect">
            <a:avLst/>
          </a:prstGeom>
        </p:spPr>
      </p:pic>
      <p:sp>
        <p:nvSpPr>
          <p:cNvPr id="140" name="TextBox 140"/>
          <p:cNvSpPr txBox="1"/>
          <p:nvPr/>
        </p:nvSpPr>
        <p:spPr>
          <a:xfrm>
            <a:off x="2095087" y="17031"/>
            <a:ext cx="4325918" cy="5790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>
                <a:solidFill>
                  <a:srgbClr val="123D61"/>
                </a:solidFill>
                <a:latin typeface="Arial"/>
                <a:ea typeface="Arial"/>
                <a:cs typeface="Arial"/>
              </a:rPr>
              <a:t>(a) Gather feedback</a:t>
            </a:r>
            <a:endParaRPr lang="zh-CN" sz="2800"/>
          </a:p>
        </p:txBody>
      </p:sp>
      <p:sp>
        <p:nvSpPr>
          <p:cNvPr id="141" name="TextBox 141"/>
          <p:cNvSpPr txBox="1"/>
          <p:nvPr/>
        </p:nvSpPr>
        <p:spPr>
          <a:xfrm>
            <a:off x="6761628" y="17031"/>
            <a:ext cx="5935364" cy="5790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>
                <a:solidFill>
                  <a:srgbClr val="123D61"/>
                </a:solidFill>
                <a:latin typeface="Arial"/>
                <a:ea typeface="Arial"/>
                <a:cs typeface="Arial"/>
              </a:rPr>
              <a:t>(b) Transport proposals</a:t>
            </a:r>
            <a:endParaRPr lang="zh-CN" sz="2800"/>
          </a:p>
        </p:txBody>
      </p:sp>
      <p:sp>
        <p:nvSpPr>
          <p:cNvPr id="142" name="TextBox 142"/>
          <p:cNvSpPr txBox="1"/>
          <p:nvPr/>
        </p:nvSpPr>
        <p:spPr>
          <a:xfrm>
            <a:off x="12731054" y="17031"/>
            <a:ext cx="4104513" cy="5790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>
                <a:solidFill>
                  <a:srgbClr val="123D61"/>
                </a:solidFill>
                <a:latin typeface="Arial"/>
                <a:ea typeface="Arial"/>
                <a:cs typeface="Arial"/>
              </a:rPr>
              <a:t>(c) Execute a prefix</a:t>
            </a:r>
            <a:endParaRPr lang="zh-CN" sz="2800"/>
          </a:p>
        </p:txBody>
      </p:sp>
      <p:sp>
        <p:nvSpPr>
          <p:cNvPr id="143" name="TextBox 143"/>
          <p:cNvSpPr txBox="1"/>
          <p:nvPr/>
        </p:nvSpPr>
        <p:spPr>
          <a:xfrm>
            <a:off x="3389456" y="715309"/>
            <a:ext cx="2077803" cy="4768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Native noise</a:t>
            </a:r>
            <a:endParaRPr lang="zh-CN" sz="2650"/>
          </a:p>
        </p:txBody>
      </p:sp>
      <p:sp>
        <p:nvSpPr>
          <p:cNvPr id="144" name="TextBox 144"/>
          <p:cNvSpPr txBox="1"/>
          <p:nvPr/>
        </p:nvSpPr>
        <p:spPr>
          <a:xfrm>
            <a:off x="4215468" y="2043741"/>
            <a:ext cx="1864913" cy="5705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Frozen VLA</a:t>
            </a:r>
            <a:endParaRPr lang="zh-CN" sz="2650"/>
          </a:p>
        </p:txBody>
      </p:sp>
      <p:sp>
        <p:nvSpPr>
          <p:cNvPr id="145" name="TextBox 145"/>
          <p:cNvSpPr txBox="1"/>
          <p:nvPr/>
        </p:nvSpPr>
        <p:spPr>
          <a:xfrm>
            <a:off x="1967353" y="1217729"/>
            <a:ext cx="2171474" cy="774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Observation</a:t>
            </a:r>
            <a:endParaRPr lang="zh-CN" sz="2650"/>
          </a:p>
          <a:p>
            <a:pPr algn="ctr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+ task</a:t>
            </a:r>
            <a:endParaRPr lang="zh-CN" sz="2650"/>
          </a:p>
        </p:txBody>
      </p:sp>
      <p:sp>
        <p:nvSpPr>
          <p:cNvPr id="146" name="TextBox 146"/>
          <p:cNvSpPr txBox="1"/>
          <p:nvPr/>
        </p:nvSpPr>
        <p:spPr>
          <a:xfrm>
            <a:off x="3355393" y="4308887"/>
            <a:ext cx="3125220" cy="5024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Candidate chunks</a:t>
            </a:r>
            <a:endParaRPr lang="zh-CN" sz="2650"/>
          </a:p>
        </p:txBody>
      </p:sp>
      <p:sp>
        <p:nvSpPr>
          <p:cNvPr id="147" name="TextBox 147"/>
          <p:cNvSpPr txBox="1"/>
          <p:nvPr/>
        </p:nvSpPr>
        <p:spPr>
          <a:xfrm>
            <a:off x="3159535" y="4956071"/>
            <a:ext cx="3125220" cy="8430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Consequence</a:t>
            </a:r>
            <a:endParaRPr lang="zh-CN" sz="2650"/>
          </a:p>
          <a:p>
            <a:pPr algn="ctr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evaluator</a:t>
            </a:r>
            <a:endParaRPr lang="zh-CN" sz="2650"/>
          </a:p>
        </p:txBody>
      </p:sp>
      <p:sp>
        <p:nvSpPr>
          <p:cNvPr id="148" name="TextBox 148"/>
          <p:cNvSpPr txBox="1"/>
          <p:nvPr/>
        </p:nvSpPr>
        <p:spPr>
          <a:xfrm>
            <a:off x="2784849" y="5867239"/>
            <a:ext cx="3602093" cy="4257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597CA0"/>
                </a:solidFill>
                <a:latin typeface="Arial"/>
                <a:ea typeface="Arial"/>
                <a:cs typeface="Arial"/>
              </a:rPr>
              <a:t>Same observation</a:t>
            </a:r>
            <a:endParaRPr lang="zh-CN" sz="2650"/>
          </a:p>
        </p:txBody>
      </p:sp>
      <p:sp>
        <p:nvSpPr>
          <p:cNvPr id="149" name="TextBox 149"/>
          <p:cNvSpPr txBox="1"/>
          <p:nvPr/>
        </p:nvSpPr>
        <p:spPr>
          <a:xfrm>
            <a:off x="2588991" y="6293018"/>
            <a:ext cx="3993810" cy="4257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597CA0"/>
                </a:solidFill>
                <a:latin typeface="Arial"/>
                <a:ea typeface="Arial"/>
                <a:cs typeface="Arial"/>
              </a:rPr>
              <a:t>Fixed continuation</a:t>
            </a:r>
            <a:endParaRPr lang="zh-CN" sz="2650"/>
          </a:p>
        </p:txBody>
      </p:sp>
      <p:sp>
        <p:nvSpPr>
          <p:cNvPr id="150" name="TextBox 150"/>
          <p:cNvSpPr txBox="1"/>
          <p:nvPr/>
        </p:nvSpPr>
        <p:spPr>
          <a:xfrm>
            <a:off x="8686150" y="1328431"/>
            <a:ext cx="1771242" cy="53648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B7760A"/>
                </a:solidFill>
                <a:latin typeface="Arial"/>
                <a:ea typeface="Arial"/>
                <a:cs typeface="Arial"/>
              </a:rPr>
              <a:t>ASBS</a:t>
            </a:r>
            <a:endParaRPr lang="zh-CN" sz="3200"/>
          </a:p>
        </p:txBody>
      </p:sp>
      <p:sp>
        <p:nvSpPr>
          <p:cNvPr id="151" name="TextBox 151"/>
          <p:cNvSpPr txBox="1"/>
          <p:nvPr/>
        </p:nvSpPr>
        <p:spPr>
          <a:xfrm>
            <a:off x="6642410" y="1813820"/>
            <a:ext cx="5875755" cy="4853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Feedback-conditioned sampler</a:t>
            </a:r>
            <a:endParaRPr lang="zh-CN" sz="2650"/>
          </a:p>
        </p:txBody>
      </p:sp>
      <p:sp>
        <p:nvSpPr>
          <p:cNvPr id="152" name="TextBox 152"/>
          <p:cNvSpPr txBox="1"/>
          <p:nvPr/>
        </p:nvSpPr>
        <p:spPr>
          <a:xfrm>
            <a:off x="6472098" y="2265146"/>
            <a:ext cx="2137412" cy="4939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Native prior</a:t>
            </a:r>
            <a:endParaRPr lang="zh-CN" sz="2650"/>
          </a:p>
        </p:txBody>
      </p:sp>
      <p:sp>
        <p:nvSpPr>
          <p:cNvPr id="153" name="TextBox 153"/>
          <p:cNvSpPr txBox="1"/>
          <p:nvPr/>
        </p:nvSpPr>
        <p:spPr>
          <a:xfrm>
            <a:off x="9827239" y="2265146"/>
            <a:ext cx="2793112" cy="4939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B7760A"/>
                </a:solidFill>
                <a:latin typeface="Arial"/>
                <a:ea typeface="Arial"/>
                <a:cs typeface="Arial"/>
              </a:rPr>
              <a:t>Adapted proposal</a:t>
            </a:r>
            <a:endParaRPr lang="zh-CN" sz="2650"/>
          </a:p>
        </p:txBody>
      </p:sp>
      <p:sp>
        <p:nvSpPr>
          <p:cNvPr id="154" name="TextBox 154"/>
          <p:cNvSpPr txBox="1"/>
          <p:nvPr/>
        </p:nvSpPr>
        <p:spPr>
          <a:xfrm>
            <a:off x="7076705" y="4419589"/>
            <a:ext cx="5015680" cy="774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Proposal noise changes;</a:t>
            </a:r>
            <a:endParaRPr lang="zh-CN" sz="2650"/>
          </a:p>
          <a:p>
            <a:pPr algn="ctr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VLA stays frozen</a:t>
            </a:r>
            <a:endParaRPr lang="zh-CN" sz="2650"/>
          </a:p>
        </p:txBody>
      </p:sp>
      <p:sp>
        <p:nvSpPr>
          <p:cNvPr id="155" name="TextBox 155"/>
          <p:cNvSpPr txBox="1"/>
          <p:nvPr/>
        </p:nvSpPr>
        <p:spPr>
          <a:xfrm>
            <a:off x="6659441" y="5449975"/>
            <a:ext cx="2852721" cy="4768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Scored evidence</a:t>
            </a:r>
            <a:endParaRPr lang="zh-CN" sz="2650"/>
          </a:p>
        </p:txBody>
      </p:sp>
      <p:sp>
        <p:nvSpPr>
          <p:cNvPr id="156" name="TextBox 156"/>
          <p:cNvSpPr txBox="1"/>
          <p:nvPr/>
        </p:nvSpPr>
        <p:spPr>
          <a:xfrm>
            <a:off x="13982845" y="2043741"/>
            <a:ext cx="2963424" cy="5705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Same frozen VLA</a:t>
            </a:r>
            <a:endParaRPr lang="zh-CN" sz="2650"/>
          </a:p>
        </p:txBody>
      </p:sp>
      <p:sp>
        <p:nvSpPr>
          <p:cNvPr id="157" name="TextBox 157"/>
          <p:cNvSpPr txBox="1"/>
          <p:nvPr/>
        </p:nvSpPr>
        <p:spPr>
          <a:xfrm>
            <a:off x="14016907" y="3057095"/>
            <a:ext cx="2580223" cy="4768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Action chunk</a:t>
            </a:r>
            <a:endParaRPr lang="zh-CN" sz="2650"/>
          </a:p>
        </p:txBody>
      </p:sp>
      <p:sp>
        <p:nvSpPr>
          <p:cNvPr id="158" name="TextBox 158"/>
          <p:cNvSpPr txBox="1"/>
          <p:nvPr/>
        </p:nvSpPr>
        <p:spPr>
          <a:xfrm>
            <a:off x="12909881" y="4121544"/>
            <a:ext cx="2086319" cy="468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B7760A"/>
                </a:solidFill>
                <a:latin typeface="Arial"/>
                <a:ea typeface="Arial"/>
                <a:cs typeface="Arial"/>
              </a:rPr>
              <a:t>Short prefix</a:t>
            </a:r>
            <a:endParaRPr lang="zh-CN" sz="2650"/>
          </a:p>
        </p:txBody>
      </p:sp>
      <p:sp>
        <p:nvSpPr>
          <p:cNvPr id="159" name="TextBox 159"/>
          <p:cNvSpPr txBox="1"/>
          <p:nvPr/>
        </p:nvSpPr>
        <p:spPr>
          <a:xfrm>
            <a:off x="13429332" y="4913493"/>
            <a:ext cx="3167798" cy="527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Validate &amp; execute</a:t>
            </a:r>
            <a:endParaRPr lang="zh-CN" sz="2650"/>
          </a:p>
        </p:txBody>
      </p:sp>
      <p:sp>
        <p:nvSpPr>
          <p:cNvPr id="160" name="TextBox 160"/>
          <p:cNvSpPr txBox="1"/>
          <p:nvPr/>
        </p:nvSpPr>
        <p:spPr>
          <a:xfrm>
            <a:off x="13906205" y="5850208"/>
            <a:ext cx="2001163" cy="5449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123D61"/>
                </a:solidFill>
                <a:latin typeface="Arial"/>
                <a:ea typeface="Arial"/>
                <a:cs typeface="Arial"/>
              </a:rPr>
              <a:t>Re-observe</a:t>
            </a:r>
            <a:endParaRPr lang="zh-CN" sz="2650"/>
          </a:p>
        </p:txBody>
      </p:sp>
      <p:sp>
        <p:nvSpPr>
          <p:cNvPr id="161" name="TextBox 161"/>
          <p:cNvSpPr txBox="1"/>
          <p:nvPr/>
        </p:nvSpPr>
        <p:spPr>
          <a:xfrm>
            <a:off x="8004903" y="7187155"/>
            <a:ext cx="3048580" cy="2810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20">
                <a:solidFill>
                  <a:srgbClr val="597CA0"/>
                </a:solidFill>
                <a:latin typeface="Arial"/>
                <a:ea typeface="Arial"/>
                <a:cs typeface="Arial"/>
              </a:rPr>
              <a:t>Online variant · conceptual schematic</a:t>
            </a:r>
            <a:endParaRPr lang="zh-CN" sz="1220"/>
          </a:p>
        </p:txBody>
      </p:sp>
      <p:sp>
        <p:nvSpPr>
          <p:cNvPr id="162" name="TextBox 162"/>
          <p:cNvSpPr txBox="1"/>
          <p:nvPr/>
        </p:nvSpPr>
        <p:spPr>
          <a:xfrm>
            <a:off x="8626541" y="519451"/>
            <a:ext cx="1515774" cy="4853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History</a:t>
            </a:r>
            <a:endParaRPr lang="zh-CN" sz="2650"/>
          </a:p>
        </p:txBody>
      </p:sp>
      <p:sp>
        <p:nvSpPr>
          <p:cNvPr id="163" name="TextBox 163"/>
          <p:cNvSpPr txBox="1"/>
          <p:nvPr/>
        </p:nvSpPr>
        <p:spPr>
          <a:xfrm>
            <a:off x="13114255" y="672731"/>
            <a:ext cx="3832014" cy="4853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Observation + task</a:t>
            </a:r>
            <a:endParaRPr lang="zh-CN" sz="2650"/>
          </a:p>
        </p:txBody>
      </p:sp>
      <p:sp>
        <p:nvSpPr>
          <p:cNvPr id="164" name="TextBox 164"/>
          <p:cNvSpPr txBox="1"/>
          <p:nvPr/>
        </p:nvSpPr>
        <p:spPr>
          <a:xfrm>
            <a:off x="7000064" y="6820985"/>
            <a:ext cx="5177476" cy="4939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50">
                <a:solidFill>
                  <a:srgbClr val="008994"/>
                </a:solidFill>
                <a:latin typeface="Arial"/>
                <a:ea typeface="Arial"/>
                <a:cs typeface="Arial"/>
              </a:rPr>
              <a:t>Refresh observation and history</a:t>
            </a:r>
            <a:endParaRPr lang="zh-CN" sz="2650"/>
          </a:p>
        </p:txBody>
      </p:sp>
      <p:pic>
        <p:nvPicPr>
          <p:cNvPr id="165" name="LaTeX rendered formula noise_math"/>
          <p:cNvPicPr/>
          <p:nvPr/>
        </p:nvPicPr>
        <p:blipFill>
          <a:blip r:embed="rId4"/>
          <a:stretch>
            <a:fillRect/>
          </a:stretch>
        </p:blipFill>
        <p:spPr>
          <a:xfrm>
            <a:off x="5569446" y="766403"/>
            <a:ext cx="860074" cy="383201"/>
          </a:xfrm>
          <a:prstGeom prst="rect">
            <a:avLst/>
          </a:prstGeom>
        </p:spPr>
      </p:pic>
      <p:pic>
        <p:nvPicPr>
          <p:cNvPr id="166" name="LaTeX rendered formula prior_math"/>
          <p:cNvPicPr/>
          <p:nvPr/>
        </p:nvPicPr>
        <p:blipFill>
          <a:blip r:embed="rId5"/>
          <a:stretch>
            <a:fillRect/>
          </a:stretch>
        </p:blipFill>
        <p:spPr>
          <a:xfrm>
            <a:off x="7085220" y="2597254"/>
            <a:ext cx="800465" cy="340623"/>
          </a:xfrm>
          <a:prstGeom prst="rect">
            <a:avLst/>
          </a:prstGeom>
        </p:spPr>
      </p:pic>
      <p:pic>
        <p:nvPicPr>
          <p:cNvPr id="167" name="LaTeX rendered formula proposal_math"/>
          <p:cNvPicPr/>
          <p:nvPr/>
        </p:nvPicPr>
        <p:blipFill>
          <a:blip r:embed="rId6"/>
          <a:stretch>
            <a:fillRect/>
          </a:stretch>
        </p:blipFill>
        <p:spPr>
          <a:xfrm>
            <a:off x="10678798" y="2597254"/>
            <a:ext cx="1311400" cy="340623"/>
          </a:xfrm>
          <a:prstGeom prst="rect">
            <a:avLst/>
          </a:prstGeom>
        </p:spPr>
      </p:pic>
      <p:pic>
        <p:nvPicPr>
          <p:cNvPr id="168" name="LaTeX rendered formula adapted_z"/>
          <p:cNvPicPr/>
          <p:nvPr/>
        </p:nvPicPr>
        <p:blipFill>
          <a:blip r:embed="rId7"/>
          <a:stretch>
            <a:fillRect/>
          </a:stretch>
        </p:blipFill>
        <p:spPr>
          <a:xfrm>
            <a:off x="12458555" y="3372172"/>
            <a:ext cx="306561" cy="366170"/>
          </a:xfrm>
          <a:prstGeom prst="rect">
            <a:avLst/>
          </a:prstGeom>
        </p:spPr>
      </p:pic>
      <p:pic>
        <p:nvPicPr>
          <p:cNvPr id="169" name="LaTeX rendered formula next_observation"/>
          <p:cNvPicPr/>
          <p:nvPr/>
        </p:nvPicPr>
        <p:blipFill>
          <a:blip r:embed="rId8"/>
          <a:stretch>
            <a:fillRect/>
          </a:stretch>
        </p:blipFill>
        <p:spPr>
          <a:xfrm>
            <a:off x="15924399" y="5960910"/>
            <a:ext cx="672731" cy="366170"/>
          </a:xfrm>
          <a:prstGeom prst="rect">
            <a:avLst/>
          </a:prstGeom>
        </p:spPr>
      </p:pic>
      <p:pic>
        <p:nvPicPr>
          <p:cNvPr id="170" name="LaTeX rendered formula history_h"/>
          <p:cNvPicPr/>
          <p:nvPr/>
        </p:nvPicPr>
        <p:blipFill>
          <a:blip r:embed="rId9"/>
          <a:stretch>
            <a:fillRect/>
          </a:stretch>
        </p:blipFill>
        <p:spPr>
          <a:xfrm>
            <a:off x="10150831" y="553513"/>
            <a:ext cx="315077" cy="3661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