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Experimental-alignment revision of v20, 2026-09-24. Conceptual architecture, not a claim of robot improvement. Current implemented sampler: Dirac-source adjoint matching; no separate corrector or distilled actor. S2-sim v1.1 used prefix 5 + native continuation 100, M=3; all-zero pilot scores require repair. Supervisor round16 queues full-episode scoring v1.2 with M=2 (or versioned M=3); this is not a validated result. Gaussian prior is the uncontrolled endpoint law, not the sampler starting law. Robot is generated illustration, not data. Fonts are not embedded; connectors have fixed endpoints.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Experimental-alignment revision of v20, 2026-09-24. Conceptual architecture, not a claim of robot improvement. Current implemented sampler: Dirac-source adjoint matching; no separate corrector or distilled actor. S2-sim v1.1 used prefix 5 + native continuation 100, M=3; all-zero pilot scores require repair. Supervisor round16 queues full-episode scoring v1.2 with M=2 (or versioned M=3); this is not a validated result. Gaussian prior is the uncontrolled endpoint law, not the sampler starting law. Robot is generated illustration, not data. Fonts are not embedded; connectors have fixed endpoints.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Experimental-alignment revision of v20, 2026-09-24. Conceptual architecture, not a claim of robot improvement. Current implemented sampler: Dirac-source adjoint matching; no separate corrector or distilled actor. S2-sim v1.1 used prefix 5 + native continuation 100, M=3; all-zero pilot scores require repair. Supervisor round16 queues full-episode scoring v1.2 with M=2 (or versioned M=3); this is not a validated result. Gaussian prior is the uncontrolled endpoint law, not the sampler starting law. Robot is generated illustration, not data. Fonts are not embedded; connectors have fixed endpoints.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cene" descr="Editable shape; source id scene"/>
          <p:cNvSpPr/>
          <p:nvPr/>
        </p:nvSpPr>
        <p:spPr>
          <a:xfrm>
            <a:off x="365759" y="1661159"/>
            <a:ext cx="2019299" cy="441959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29">
            <a:solidFill>
              <a:srgbClr val="D9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core" descr="Editable shape; source id score"/>
          <p:cNvSpPr/>
          <p:nvPr/>
        </p:nvSpPr>
        <p:spPr>
          <a:xfrm>
            <a:off x="2636519" y="1661159"/>
            <a:ext cx="2956559" cy="4419599"/>
          </a:xfrm>
          <a:prstGeom prst="roundRect">
            <a:avLst>
              <a:gd name="adj" fmla="val 11999"/>
            </a:avLst>
          </a:prstGeom>
          <a:solidFill>
            <a:srgbClr val="FFFFFF"/>
          </a:solidFill>
          <a:ln w="11429">
            <a:solidFill>
              <a:srgbClr val="D9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earn" descr="Editable shape; source id learn"/>
          <p:cNvSpPr/>
          <p:nvPr/>
        </p:nvSpPr>
        <p:spPr>
          <a:xfrm>
            <a:off x="5753099" y="1661159"/>
            <a:ext cx="2956559" cy="4419599"/>
          </a:xfrm>
          <a:prstGeom prst="roundRect">
            <a:avLst>
              <a:gd name="adj" fmla="val 11999"/>
            </a:avLst>
          </a:prstGeom>
          <a:solidFill>
            <a:srgbClr val="FFFFFF"/>
          </a:solidFill>
          <a:ln w="11429">
            <a:solidFill>
              <a:srgbClr val="D9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use" descr="Editable shape; source id reuse"/>
          <p:cNvSpPr/>
          <p:nvPr/>
        </p:nvSpPr>
        <p:spPr>
          <a:xfrm>
            <a:off x="8869679" y="1661159"/>
            <a:ext cx="2956559" cy="4419599"/>
          </a:xfrm>
          <a:prstGeom prst="roundRect">
            <a:avLst>
              <a:gd name="adj" fmla="val 11999"/>
            </a:avLst>
          </a:prstGeom>
          <a:solidFill>
            <a:srgbClr val="FFFFFF"/>
          </a:solidFill>
          <a:ln w="11429">
            <a:solidFill>
              <a:srgbClr val="D9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la" descr="Editable shape; source id vla"/>
          <p:cNvSpPr/>
          <p:nvPr/>
        </p:nvSpPr>
        <p:spPr>
          <a:xfrm>
            <a:off x="9121139" y="3360419"/>
            <a:ext cx="2453639" cy="708659"/>
          </a:xfrm>
          <a:prstGeom prst="roundRect">
            <a:avLst>
              <a:gd name="adj" fmla="val 12000"/>
            </a:avLst>
          </a:prstGeom>
          <a:solidFill>
            <a:srgbClr val="F3F7F9"/>
          </a:solidFill>
          <a:ln w="9905">
            <a:solidFill>
              <a:srgbClr val="C6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ndidate-0-token-0" descr="Editable shape; source id candidate-0-token-0"/>
          <p:cNvSpPr/>
          <p:nvPr/>
        </p:nvSpPr>
        <p:spPr>
          <a:xfrm>
            <a:off x="2926079" y="2804159"/>
            <a:ext cx="167639" cy="167639"/>
          </a:xfrm>
          <a:prstGeom prst="roundRect">
            <a:avLst>
              <a:gd name="adj" fmla="val 11999"/>
            </a:avLst>
          </a:prstGeom>
          <a:solidFill>
            <a:srgbClr val="B6CCD7"/>
          </a:solidFill>
          <a:ln w="6857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ndidate-0-token-1" descr="Editable shape; source id candidate-0-token-1"/>
          <p:cNvSpPr/>
          <p:nvPr/>
        </p:nvSpPr>
        <p:spPr>
          <a:xfrm>
            <a:off x="3200399" y="2804159"/>
            <a:ext cx="167639" cy="167639"/>
          </a:xfrm>
          <a:prstGeom prst="roundRect">
            <a:avLst>
              <a:gd name="adj" fmla="val 11999"/>
            </a:avLst>
          </a:prstGeom>
          <a:solidFill>
            <a:srgbClr val="B6CCD7"/>
          </a:solidFill>
          <a:ln w="6857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ndidate-0-token-2" descr="Editable shape; source id candidate-0-token-2"/>
          <p:cNvSpPr/>
          <p:nvPr/>
        </p:nvSpPr>
        <p:spPr>
          <a:xfrm>
            <a:off x="3474719" y="2804159"/>
            <a:ext cx="167639" cy="167639"/>
          </a:xfrm>
          <a:prstGeom prst="roundRect">
            <a:avLst>
              <a:gd name="adj" fmla="val 11999"/>
            </a:avLst>
          </a:prstGeom>
          <a:solidFill>
            <a:srgbClr val="B6CCD7"/>
          </a:solidFill>
          <a:ln w="6857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ndidate-0-token-3" descr="Editable shape; source id candidate-0-token-3"/>
          <p:cNvSpPr/>
          <p:nvPr/>
        </p:nvSpPr>
        <p:spPr>
          <a:xfrm>
            <a:off x="3749039" y="2804159"/>
            <a:ext cx="167639" cy="167639"/>
          </a:xfrm>
          <a:prstGeom prst="roundRect">
            <a:avLst>
              <a:gd name="adj" fmla="val 11999"/>
            </a:avLst>
          </a:prstGeom>
          <a:solidFill>
            <a:srgbClr val="B6CCD7"/>
          </a:solidFill>
          <a:ln w="6857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ndidate-0-token-4" descr="Editable shape; source id candidate-0-token-4"/>
          <p:cNvSpPr/>
          <p:nvPr/>
        </p:nvSpPr>
        <p:spPr>
          <a:xfrm>
            <a:off x="4023359" y="2804159"/>
            <a:ext cx="167639" cy="167639"/>
          </a:xfrm>
          <a:prstGeom prst="roundRect">
            <a:avLst>
              <a:gd name="adj" fmla="val 11999"/>
            </a:avLst>
          </a:prstGeom>
          <a:solidFill>
            <a:srgbClr val="B6CCD7"/>
          </a:solidFill>
          <a:ln w="6857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ndidate-0-token-5" descr="Editable shape; source id candidate-0-token-5"/>
          <p:cNvSpPr/>
          <p:nvPr/>
        </p:nvSpPr>
        <p:spPr>
          <a:xfrm>
            <a:off x="4297679" y="2804159"/>
            <a:ext cx="167639" cy="167639"/>
          </a:xfrm>
          <a:prstGeom prst="roundRect">
            <a:avLst>
              <a:gd name="adj" fmla="val 11999"/>
            </a:avLst>
          </a:prstGeom>
          <a:solidFill>
            <a:srgbClr val="B6CCD7"/>
          </a:solidFill>
          <a:ln w="6857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didate-0-token-6" descr="Editable shape; source id candidate-0-token-6"/>
          <p:cNvSpPr/>
          <p:nvPr/>
        </p:nvSpPr>
        <p:spPr>
          <a:xfrm>
            <a:off x="4571999" y="2804159"/>
            <a:ext cx="167639" cy="167639"/>
          </a:xfrm>
          <a:prstGeom prst="roundRect">
            <a:avLst>
              <a:gd name="adj" fmla="val 11999"/>
            </a:avLst>
          </a:prstGeom>
          <a:solidFill>
            <a:srgbClr val="B6CCD7"/>
          </a:solidFill>
          <a:ln w="6857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ndidate-1-token-0" descr="Editable shape; source id candidate-1-token-0"/>
          <p:cNvSpPr/>
          <p:nvPr/>
        </p:nvSpPr>
        <p:spPr>
          <a:xfrm>
            <a:off x="2926079" y="3154679"/>
            <a:ext cx="167639" cy="167639"/>
          </a:xfrm>
          <a:prstGeom prst="roundRect">
            <a:avLst>
              <a:gd name="adj" fmla="val 11999"/>
            </a:avLst>
          </a:prstGeom>
          <a:solidFill>
            <a:srgbClr val="DBBB89"/>
          </a:solidFill>
          <a:ln w="6857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ndidate-1-token-1" descr="Editable shape; source id candidate-1-token-1"/>
          <p:cNvSpPr/>
          <p:nvPr/>
        </p:nvSpPr>
        <p:spPr>
          <a:xfrm>
            <a:off x="3200399" y="3154679"/>
            <a:ext cx="167639" cy="167639"/>
          </a:xfrm>
          <a:prstGeom prst="roundRect">
            <a:avLst>
              <a:gd name="adj" fmla="val 11999"/>
            </a:avLst>
          </a:prstGeom>
          <a:solidFill>
            <a:srgbClr val="DBBB89"/>
          </a:solidFill>
          <a:ln w="6857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ndidate-1-token-2" descr="Editable shape; source id candidate-1-token-2"/>
          <p:cNvSpPr/>
          <p:nvPr/>
        </p:nvSpPr>
        <p:spPr>
          <a:xfrm>
            <a:off x="3474719" y="3154679"/>
            <a:ext cx="167639" cy="167639"/>
          </a:xfrm>
          <a:prstGeom prst="roundRect">
            <a:avLst>
              <a:gd name="adj" fmla="val 11999"/>
            </a:avLst>
          </a:prstGeom>
          <a:solidFill>
            <a:srgbClr val="DBBB89"/>
          </a:solidFill>
          <a:ln w="6857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didate-1-token-3" descr="Editable shape; source id candidate-1-token-3"/>
          <p:cNvSpPr/>
          <p:nvPr/>
        </p:nvSpPr>
        <p:spPr>
          <a:xfrm>
            <a:off x="3749039" y="3154679"/>
            <a:ext cx="167639" cy="167639"/>
          </a:xfrm>
          <a:prstGeom prst="roundRect">
            <a:avLst>
              <a:gd name="adj" fmla="val 11999"/>
            </a:avLst>
          </a:prstGeom>
          <a:solidFill>
            <a:srgbClr val="DBBB89"/>
          </a:solidFill>
          <a:ln w="6857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ndidate-1-token-4" descr="Editable shape; source id candidate-1-token-4"/>
          <p:cNvSpPr/>
          <p:nvPr/>
        </p:nvSpPr>
        <p:spPr>
          <a:xfrm>
            <a:off x="4023359" y="3154679"/>
            <a:ext cx="167639" cy="167639"/>
          </a:xfrm>
          <a:prstGeom prst="roundRect">
            <a:avLst>
              <a:gd name="adj" fmla="val 11999"/>
            </a:avLst>
          </a:prstGeom>
          <a:solidFill>
            <a:srgbClr val="DBBB89"/>
          </a:solidFill>
          <a:ln w="6857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ndidate-1-token-5" descr="Editable shape; source id candidate-1-token-5"/>
          <p:cNvSpPr/>
          <p:nvPr/>
        </p:nvSpPr>
        <p:spPr>
          <a:xfrm>
            <a:off x="4297679" y="3154679"/>
            <a:ext cx="167639" cy="167639"/>
          </a:xfrm>
          <a:prstGeom prst="roundRect">
            <a:avLst>
              <a:gd name="adj" fmla="val 11999"/>
            </a:avLst>
          </a:prstGeom>
          <a:solidFill>
            <a:srgbClr val="DBBB89"/>
          </a:solidFill>
          <a:ln w="6857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ndidate-1-token-6" descr="Editable shape; source id candidate-1-token-6"/>
          <p:cNvSpPr/>
          <p:nvPr/>
        </p:nvSpPr>
        <p:spPr>
          <a:xfrm>
            <a:off x="4571999" y="3154679"/>
            <a:ext cx="167639" cy="167639"/>
          </a:xfrm>
          <a:prstGeom prst="roundRect">
            <a:avLst>
              <a:gd name="adj" fmla="val 11999"/>
            </a:avLst>
          </a:prstGeom>
          <a:solidFill>
            <a:srgbClr val="DBBB89"/>
          </a:solidFill>
          <a:ln w="6857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didate-2-token-0" descr="Editable shape; source id candidate-2-token-0"/>
          <p:cNvSpPr/>
          <p:nvPr/>
        </p:nvSpPr>
        <p:spPr>
          <a:xfrm>
            <a:off x="2926079" y="3505199"/>
            <a:ext cx="167639" cy="167639"/>
          </a:xfrm>
          <a:prstGeom prst="roundRect">
            <a:avLst>
              <a:gd name="adj" fmla="val 11999"/>
            </a:avLst>
          </a:prstGeom>
          <a:solidFill>
            <a:srgbClr val="93BCB0"/>
          </a:solidFill>
          <a:ln w="6857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ndidate-2-token-1" descr="Editable shape; source id candidate-2-token-1"/>
          <p:cNvSpPr/>
          <p:nvPr/>
        </p:nvSpPr>
        <p:spPr>
          <a:xfrm>
            <a:off x="3200399" y="3505199"/>
            <a:ext cx="167639" cy="167639"/>
          </a:xfrm>
          <a:prstGeom prst="roundRect">
            <a:avLst>
              <a:gd name="adj" fmla="val 11999"/>
            </a:avLst>
          </a:prstGeom>
          <a:solidFill>
            <a:srgbClr val="93BCB0"/>
          </a:solidFill>
          <a:ln w="6857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ndidate-2-token-2" descr="Editable shape; source id candidate-2-token-2"/>
          <p:cNvSpPr/>
          <p:nvPr/>
        </p:nvSpPr>
        <p:spPr>
          <a:xfrm>
            <a:off x="3474719" y="3505199"/>
            <a:ext cx="167639" cy="167639"/>
          </a:xfrm>
          <a:prstGeom prst="roundRect">
            <a:avLst>
              <a:gd name="adj" fmla="val 11999"/>
            </a:avLst>
          </a:prstGeom>
          <a:solidFill>
            <a:srgbClr val="93BCB0"/>
          </a:solidFill>
          <a:ln w="6857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ndidate-2-token-3" descr="Editable shape; source id candidate-2-token-3"/>
          <p:cNvSpPr/>
          <p:nvPr/>
        </p:nvSpPr>
        <p:spPr>
          <a:xfrm>
            <a:off x="3749039" y="3505199"/>
            <a:ext cx="167639" cy="167639"/>
          </a:xfrm>
          <a:prstGeom prst="roundRect">
            <a:avLst>
              <a:gd name="adj" fmla="val 11999"/>
            </a:avLst>
          </a:prstGeom>
          <a:solidFill>
            <a:srgbClr val="93BCB0"/>
          </a:solidFill>
          <a:ln w="6857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ndidate-2-token-4" descr="Editable shape; source id candidate-2-token-4"/>
          <p:cNvSpPr/>
          <p:nvPr/>
        </p:nvSpPr>
        <p:spPr>
          <a:xfrm>
            <a:off x="4023359" y="3505199"/>
            <a:ext cx="167639" cy="167639"/>
          </a:xfrm>
          <a:prstGeom prst="roundRect">
            <a:avLst>
              <a:gd name="adj" fmla="val 11999"/>
            </a:avLst>
          </a:prstGeom>
          <a:solidFill>
            <a:srgbClr val="93BCB0"/>
          </a:solidFill>
          <a:ln w="6857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ndidate-2-token-5" descr="Editable shape; source id candidate-2-token-5"/>
          <p:cNvSpPr/>
          <p:nvPr/>
        </p:nvSpPr>
        <p:spPr>
          <a:xfrm>
            <a:off x="4297679" y="3505199"/>
            <a:ext cx="167639" cy="167639"/>
          </a:xfrm>
          <a:prstGeom prst="roundRect">
            <a:avLst>
              <a:gd name="adj" fmla="val 11999"/>
            </a:avLst>
          </a:prstGeom>
          <a:solidFill>
            <a:srgbClr val="93BCB0"/>
          </a:solidFill>
          <a:ln w="6857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ndidate-2-token-6" descr="Editable shape; source id candidate-2-token-6"/>
          <p:cNvSpPr/>
          <p:nvPr/>
        </p:nvSpPr>
        <p:spPr>
          <a:xfrm>
            <a:off x="4571999" y="3505199"/>
            <a:ext cx="167639" cy="167639"/>
          </a:xfrm>
          <a:prstGeom prst="roundRect">
            <a:avLst>
              <a:gd name="adj" fmla="val 11999"/>
            </a:avLst>
          </a:prstGeom>
          <a:solidFill>
            <a:srgbClr val="93BCB0"/>
          </a:solidFill>
          <a:ln w="6857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aser-transport-start" descr="Editable shape; source id teaser-transport-start"/>
          <p:cNvSpPr/>
          <p:nvPr/>
        </p:nvSpPr>
        <p:spPr>
          <a:xfrm>
            <a:off x="6103619" y="3977639"/>
            <a:ext cx="106679" cy="106679"/>
          </a:xfrm>
          <a:prstGeom prst="ellipse">
            <a:avLst/>
          </a:prstGeom>
          <a:solidFill>
            <a:srgbClr val="15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aser-transport-point-0" descr="Editable shape; source id teaser-transport-point-0"/>
          <p:cNvSpPr/>
          <p:nvPr/>
        </p:nvSpPr>
        <p:spPr>
          <a:xfrm>
            <a:off x="8046229" y="4000499"/>
            <a:ext cx="60959" cy="60959"/>
          </a:xfrm>
          <a:prstGeom prst="ellipse">
            <a:avLst/>
          </a:prstGeom>
          <a:solidFill>
            <a:srgbClr val="BB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aser-transport-point-1" descr="Editable shape; source id teaser-transport-point-1"/>
          <p:cNvSpPr/>
          <p:nvPr/>
        </p:nvSpPr>
        <p:spPr>
          <a:xfrm>
            <a:off x="7888556" y="4178618"/>
            <a:ext cx="60959" cy="60959"/>
          </a:xfrm>
          <a:prstGeom prst="ellipse">
            <a:avLst/>
          </a:prstGeom>
          <a:solidFill>
            <a:srgbClr val="BB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aser-transport-point-2" descr="Editable shape; source id teaser-transport-point-2"/>
          <p:cNvSpPr/>
          <p:nvPr/>
        </p:nvSpPr>
        <p:spPr>
          <a:xfrm>
            <a:off x="7972767" y="3706444"/>
            <a:ext cx="60959" cy="60959"/>
          </a:xfrm>
          <a:prstGeom prst="ellipse">
            <a:avLst/>
          </a:prstGeom>
          <a:solidFill>
            <a:srgbClr val="BB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aser-transport-point-3" descr="Editable shape; source id teaser-transport-point-3"/>
          <p:cNvSpPr/>
          <p:nvPr/>
        </p:nvSpPr>
        <p:spPr>
          <a:xfrm>
            <a:off x="8037527" y="4255076"/>
            <a:ext cx="60959" cy="60959"/>
          </a:xfrm>
          <a:prstGeom prst="ellipse">
            <a:avLst/>
          </a:prstGeom>
          <a:solidFill>
            <a:srgbClr val="BB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aser-transport-point-4" descr="Editable shape; source id teaser-transport-point-4"/>
          <p:cNvSpPr/>
          <p:nvPr/>
        </p:nvSpPr>
        <p:spPr>
          <a:xfrm>
            <a:off x="7833785" y="3940768"/>
            <a:ext cx="60959" cy="60959"/>
          </a:xfrm>
          <a:prstGeom prst="ellipse">
            <a:avLst/>
          </a:prstGeom>
          <a:solidFill>
            <a:srgbClr val="BB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aser-transport-point-5" descr="Editable shape; source id teaser-transport-point-5"/>
          <p:cNvSpPr/>
          <p:nvPr/>
        </p:nvSpPr>
        <p:spPr>
          <a:xfrm>
            <a:off x="8079915" y="3805821"/>
            <a:ext cx="60959" cy="60959"/>
          </a:xfrm>
          <a:prstGeom prst="ellipse">
            <a:avLst/>
          </a:prstGeom>
          <a:solidFill>
            <a:srgbClr val="BB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aser-transport-point-6" descr="Editable shape; source id teaser-transport-point-6"/>
          <p:cNvSpPr/>
          <p:nvPr/>
        </p:nvSpPr>
        <p:spPr>
          <a:xfrm>
            <a:off x="7925104" y="4368213"/>
            <a:ext cx="60959" cy="60959"/>
          </a:xfrm>
          <a:prstGeom prst="ellipse">
            <a:avLst/>
          </a:prstGeom>
          <a:solidFill>
            <a:srgbClr val="BB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aser-transport-point-7" descr="Editable shape; source id teaser-transport-point-7"/>
          <p:cNvSpPr/>
          <p:nvPr/>
        </p:nvSpPr>
        <p:spPr>
          <a:xfrm>
            <a:off x="7892851" y="3647757"/>
            <a:ext cx="60959" cy="60959"/>
          </a:xfrm>
          <a:prstGeom prst="ellipse">
            <a:avLst/>
          </a:prstGeom>
          <a:solidFill>
            <a:srgbClr val="BB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aser-transport-point-8" descr="Editable shape; source id teaser-transport-point-8"/>
          <p:cNvSpPr/>
          <p:nvPr/>
        </p:nvSpPr>
        <p:spPr>
          <a:xfrm>
            <a:off x="8111269" y="4142212"/>
            <a:ext cx="60959" cy="60959"/>
          </a:xfrm>
          <a:prstGeom prst="ellipse">
            <a:avLst/>
          </a:prstGeom>
          <a:solidFill>
            <a:srgbClr val="BB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aser-transport-point-9" descr="Editable shape; source id teaser-transport-point-9"/>
          <p:cNvSpPr/>
          <p:nvPr/>
        </p:nvSpPr>
        <p:spPr>
          <a:xfrm>
            <a:off x="7811687" y="4163748"/>
            <a:ext cx="60959" cy="60959"/>
          </a:xfrm>
          <a:prstGeom prst="ellipse">
            <a:avLst/>
          </a:prstGeom>
          <a:solidFill>
            <a:srgbClr val="BB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aser-transport-point-10" descr="Editable shape; source id teaser-transport-point-10"/>
          <p:cNvSpPr/>
          <p:nvPr/>
        </p:nvSpPr>
        <p:spPr>
          <a:xfrm>
            <a:off x="8034500" y="3600324"/>
            <a:ext cx="60959" cy="60959"/>
          </a:xfrm>
          <a:prstGeom prst="ellipse">
            <a:avLst/>
          </a:prstGeom>
          <a:solidFill>
            <a:srgbClr val="BB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aser-transport-point-11" descr="Editable shape; source id teaser-transport-point-11"/>
          <p:cNvSpPr/>
          <p:nvPr/>
        </p:nvSpPr>
        <p:spPr>
          <a:xfrm>
            <a:off x="8014984" y="4434788"/>
            <a:ext cx="60959" cy="60959"/>
          </a:xfrm>
          <a:prstGeom prst="ellipse">
            <a:avLst/>
          </a:prstGeom>
          <a:solidFill>
            <a:srgbClr val="BB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aser-transport-point-12" descr="Editable shape; source id teaser-transport-point-12"/>
          <p:cNvSpPr/>
          <p:nvPr/>
        </p:nvSpPr>
        <p:spPr>
          <a:xfrm>
            <a:off x="7808107" y="3765887"/>
            <a:ext cx="60959" cy="60959"/>
          </a:xfrm>
          <a:prstGeom prst="ellipse">
            <a:avLst/>
          </a:prstGeom>
          <a:solidFill>
            <a:srgbClr val="BB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aser-transport-point-13" descr="Editable shape; source id teaser-transport-point-13"/>
          <p:cNvSpPr/>
          <p:nvPr/>
        </p:nvSpPr>
        <p:spPr>
          <a:xfrm>
            <a:off x="8142211" y="3897397"/>
            <a:ext cx="60959" cy="60959"/>
          </a:xfrm>
          <a:prstGeom prst="ellipse">
            <a:avLst/>
          </a:prstGeom>
          <a:solidFill>
            <a:srgbClr val="BB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aser-transport-point-14" descr="Editable shape; source id teaser-transport-point-14"/>
          <p:cNvSpPr/>
          <p:nvPr/>
        </p:nvSpPr>
        <p:spPr>
          <a:xfrm>
            <a:off x="7854712" y="4402971"/>
            <a:ext cx="60959" cy="60959"/>
          </a:xfrm>
          <a:prstGeom prst="ellipse">
            <a:avLst/>
          </a:prstGeom>
          <a:solidFill>
            <a:srgbClr val="BB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aser-transport-point-15" descr="Editable shape; source id teaser-transport-point-15"/>
          <p:cNvSpPr/>
          <p:nvPr/>
        </p:nvSpPr>
        <p:spPr>
          <a:xfrm>
            <a:off x="7938164" y="3501282"/>
            <a:ext cx="60959" cy="60959"/>
          </a:xfrm>
          <a:prstGeom prst="ellipse">
            <a:avLst/>
          </a:prstGeom>
          <a:solidFill>
            <a:srgbClr val="BB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aser-transport-point-16" descr="Editable shape; source id teaser-transport-point-16"/>
          <p:cNvSpPr/>
          <p:nvPr/>
        </p:nvSpPr>
        <p:spPr>
          <a:xfrm>
            <a:off x="8113304" y="4332027"/>
            <a:ext cx="60959" cy="60959"/>
          </a:xfrm>
          <a:prstGeom prst="ellipse">
            <a:avLst/>
          </a:prstGeom>
          <a:solidFill>
            <a:srgbClr val="BB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aser-transport-point-17" descr="Editable shape; source id teaser-transport-point-17"/>
          <p:cNvSpPr/>
          <p:nvPr/>
        </p:nvSpPr>
        <p:spPr>
          <a:xfrm>
            <a:off x="7762275" y="4022200"/>
            <a:ext cx="60959" cy="60959"/>
          </a:xfrm>
          <a:prstGeom prst="ellipse">
            <a:avLst/>
          </a:prstGeom>
          <a:solidFill>
            <a:srgbClr val="BB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aser-transport-point-18" descr="Editable shape; source id teaser-transport-point-18"/>
          <p:cNvSpPr/>
          <p:nvPr/>
        </p:nvSpPr>
        <p:spPr>
          <a:xfrm>
            <a:off x="8108052" y="3622714"/>
            <a:ext cx="60959" cy="60959"/>
          </a:xfrm>
          <a:prstGeom prst="ellipse">
            <a:avLst/>
          </a:prstGeom>
          <a:solidFill>
            <a:srgbClr val="BB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aser-transport-point-19" descr="Editable shape; source id teaser-transport-point-19"/>
          <p:cNvSpPr/>
          <p:nvPr/>
        </p:nvSpPr>
        <p:spPr>
          <a:xfrm>
            <a:off x="7953262" y="4545630"/>
            <a:ext cx="60959" cy="60959"/>
          </a:xfrm>
          <a:prstGeom prst="ellipse">
            <a:avLst/>
          </a:prstGeom>
          <a:solidFill>
            <a:srgbClr val="BB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aser-transport-point-20" descr="Editable shape; source id teaser-transport-point-20"/>
          <p:cNvSpPr/>
          <p:nvPr/>
        </p:nvSpPr>
        <p:spPr>
          <a:xfrm>
            <a:off x="7826791" y="3573924"/>
            <a:ext cx="60959" cy="60959"/>
          </a:xfrm>
          <a:prstGeom prst="ellipse">
            <a:avLst/>
          </a:prstGeom>
          <a:solidFill>
            <a:srgbClr val="BB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aser-transport-point-21" descr="Editable shape; source id teaser-transport-point-21"/>
          <p:cNvSpPr/>
          <p:nvPr/>
        </p:nvSpPr>
        <p:spPr>
          <a:xfrm>
            <a:off x="8177090" y="4075870"/>
            <a:ext cx="60959" cy="60959"/>
          </a:xfrm>
          <a:prstGeom prst="ellipse">
            <a:avLst/>
          </a:prstGeom>
          <a:solidFill>
            <a:srgbClr val="BB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robot" descr="Unmodified generated illustration crop from v20; not experimental photography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21" y="2110739"/>
            <a:ext cx="1805737" cy="3406139"/>
          </a:xfrm>
          <a:prstGeom prst="rect">
            <a:avLst/>
          </a:prstGeom>
          <a:effectLst/>
        </p:spPr>
      </p:pic>
      <p:cxnSp>
        <p:nvCxnSpPr>
          <p:cNvPr id="52" name="scene-accent-0" descr="Editable line; source id scene-accent-0"/>
          <p:cNvCxnSpPr/>
          <p:nvPr/>
        </p:nvCxnSpPr>
        <p:spPr>
          <a:xfrm>
            <a:off x="533399" y="1676399"/>
            <a:ext cx="1684020" cy="0"/>
          </a:xfrm>
          <a:prstGeom prst="line">
            <a:avLst/>
          </a:prstGeom>
          <a:ln w="22859">
            <a:solidFill>
              <a:srgbClr val="357FA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core-accent-0" descr="Editable line; source id score-accent-0"/>
          <p:cNvCxnSpPr/>
          <p:nvPr/>
        </p:nvCxnSpPr>
        <p:spPr>
          <a:xfrm>
            <a:off x="2804159" y="1676399"/>
            <a:ext cx="2621280" cy="0"/>
          </a:xfrm>
          <a:prstGeom prst="line">
            <a:avLst/>
          </a:prstGeom>
          <a:ln w="22859">
            <a:solidFill>
              <a:srgbClr val="357FA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learn-accent-0" descr="Editable line; source id learn-accent-0"/>
          <p:cNvCxnSpPr/>
          <p:nvPr/>
        </p:nvCxnSpPr>
        <p:spPr>
          <a:xfrm>
            <a:off x="5920739" y="1676399"/>
            <a:ext cx="2621280" cy="0"/>
          </a:xfrm>
          <a:prstGeom prst="line">
            <a:avLst/>
          </a:prstGeom>
          <a:ln w="22859">
            <a:solidFill>
              <a:srgbClr val="BB71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reuse-accent-0" descr="Editable line; source id reuse-accent-0"/>
          <p:cNvCxnSpPr/>
          <p:nvPr/>
        </p:nvCxnSpPr>
        <p:spPr>
          <a:xfrm>
            <a:off x="9037319" y="1676399"/>
            <a:ext cx="2621280" cy="0"/>
          </a:xfrm>
          <a:prstGeom prst="line">
            <a:avLst/>
          </a:prstGeom>
          <a:ln w="22859">
            <a:solidFill>
              <a:srgbClr val="277D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score-down-0" descr="Editable line; source id score-down-0"/>
          <p:cNvSpPr/>
          <p:nvPr/>
        </p:nvSpPr>
        <p:spPr>
          <a:xfrm>
            <a:off x="4072890" y="4282440"/>
            <a:ext cx="83820" cy="297180"/>
          </a:xfrm>
          <a:custGeom>
            <a:avLst/>
            <a:gdLst/>
            <a:ahLst/>
            <a:cxnLst/>
            <a:rect l="l" t="t" r="r" b="b"/>
            <a:pathLst>
              <a:path w="11000" h="39000">
                <a:moveTo>
                  <a:pt x="6750" y="0"/>
                </a:moveTo>
                <a:lnTo>
                  <a:pt x="6750" y="28000"/>
                </a:lnTo>
                <a:lnTo>
                  <a:pt x="11000" y="28000"/>
                </a:lnTo>
                <a:lnTo>
                  <a:pt x="5500" y="39000"/>
                </a:lnTo>
                <a:lnTo>
                  <a:pt x="0" y="28000"/>
                </a:lnTo>
                <a:lnTo>
                  <a:pt x="4250" y="28000"/>
                </a:lnTo>
                <a:lnTo>
                  <a:pt x="4250" y="0"/>
                </a:lnTo>
                <a:close/>
              </a:path>
            </a:pathLst>
          </a:custGeom>
          <a:solidFill>
            <a:srgbClr val="357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teaser-transport-path-0-0" descr="Editable line; source id teaser-transport-path-0-0"/>
          <p:cNvCxnSpPr/>
          <p:nvPr/>
        </p:nvCxnSpPr>
        <p:spPr>
          <a:xfrm flipV="1">
            <a:off x="6217919" y="3918813"/>
            <a:ext cx="580187" cy="112166"/>
          </a:xfrm>
          <a:prstGeom prst="line">
            <a:avLst/>
          </a:prstGeom>
          <a:ln w="13715">
            <a:solidFill>
              <a:srgbClr val="BB71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teaser-transport-path-0-1" descr="Editable line; source id teaser-transport-path-0-1"/>
          <p:cNvCxnSpPr/>
          <p:nvPr/>
        </p:nvCxnSpPr>
        <p:spPr>
          <a:xfrm flipV="1">
            <a:off x="6798106" y="3689603"/>
            <a:ext cx="684886" cy="229210"/>
          </a:xfrm>
          <a:prstGeom prst="line">
            <a:avLst/>
          </a:prstGeom>
          <a:ln w="13715">
            <a:solidFill>
              <a:srgbClr val="BB71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aser-transport-path-0-2" descr="Editable line; source id teaser-transport-path-0-2"/>
          <p:cNvSpPr/>
          <p:nvPr/>
        </p:nvSpPr>
        <p:spPr>
          <a:xfrm>
            <a:off x="7480020" y="3541806"/>
            <a:ext cx="307619" cy="153977"/>
          </a:xfrm>
          <a:custGeom>
            <a:avLst/>
            <a:gdLst/>
            <a:ahLst/>
            <a:cxnLst/>
            <a:rect l="l" t="t" r="r" b="b"/>
            <a:pathLst>
              <a:path w="40370" h="20207">
                <a:moveTo>
                  <a:pt x="0" y="18585"/>
                </a:moveTo>
                <a:lnTo>
                  <a:pt x="30065" y="4147"/>
                </a:lnTo>
                <a:lnTo>
                  <a:pt x="28073" y="0"/>
                </a:lnTo>
                <a:lnTo>
                  <a:pt x="40370" y="196"/>
                </a:lnTo>
                <a:lnTo>
                  <a:pt x="32835" y="9916"/>
                </a:lnTo>
                <a:lnTo>
                  <a:pt x="30844" y="5769"/>
                </a:lnTo>
                <a:lnTo>
                  <a:pt x="780" y="20207"/>
                </a:lnTo>
                <a:close/>
              </a:path>
            </a:pathLst>
          </a:custGeom>
          <a:solidFill>
            <a:srgbClr val="BB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teaser-transport-path-1-0" descr="Editable line; source id teaser-transport-path-1-0"/>
          <p:cNvCxnSpPr/>
          <p:nvPr/>
        </p:nvCxnSpPr>
        <p:spPr>
          <a:xfrm flipV="1">
            <a:off x="6217919" y="3978401"/>
            <a:ext cx="580187" cy="52578"/>
          </a:xfrm>
          <a:prstGeom prst="line">
            <a:avLst/>
          </a:prstGeom>
          <a:ln w="13715">
            <a:solidFill>
              <a:srgbClr val="BB71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teaser-transport-path-1-1" descr="Editable line; source id teaser-transport-path-1-1"/>
          <p:cNvCxnSpPr/>
          <p:nvPr/>
        </p:nvCxnSpPr>
        <p:spPr>
          <a:xfrm flipV="1">
            <a:off x="6798106" y="3870959"/>
            <a:ext cx="684886" cy="107442"/>
          </a:xfrm>
          <a:prstGeom prst="line">
            <a:avLst/>
          </a:prstGeom>
          <a:ln w="13715">
            <a:solidFill>
              <a:srgbClr val="BB71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aser-transport-path-1-2" descr="Editable line; source id teaser-transport-path-1-2"/>
          <p:cNvSpPr/>
          <p:nvPr/>
        </p:nvSpPr>
        <p:spPr>
          <a:xfrm>
            <a:off x="7481483" y="3779901"/>
            <a:ext cx="306156" cy="97749"/>
          </a:xfrm>
          <a:custGeom>
            <a:avLst/>
            <a:gdLst/>
            <a:ahLst/>
            <a:cxnLst/>
            <a:rect l="l" t="t" r="r" b="b"/>
            <a:pathLst>
              <a:path w="40178" h="12828">
                <a:moveTo>
                  <a:pt x="0" y="11072"/>
                </a:moveTo>
                <a:lnTo>
                  <a:pt x="29249" y="4488"/>
                </a:lnTo>
                <a:lnTo>
                  <a:pt x="28239" y="0"/>
                </a:lnTo>
                <a:lnTo>
                  <a:pt x="40178" y="2950"/>
                </a:lnTo>
                <a:lnTo>
                  <a:pt x="30654" y="10732"/>
                </a:lnTo>
                <a:lnTo>
                  <a:pt x="29644" y="6244"/>
                </a:lnTo>
                <a:lnTo>
                  <a:pt x="396" y="12828"/>
                </a:lnTo>
                <a:close/>
              </a:path>
            </a:pathLst>
          </a:custGeom>
          <a:solidFill>
            <a:srgbClr val="BB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teaser-transport-path-2-0" descr="Editable line; source id teaser-transport-path-2-0"/>
          <p:cNvCxnSpPr/>
          <p:nvPr/>
        </p:nvCxnSpPr>
        <p:spPr>
          <a:xfrm>
            <a:off x="6217919" y="4030979"/>
            <a:ext cx="580187" cy="14021"/>
          </a:xfrm>
          <a:prstGeom prst="line">
            <a:avLst/>
          </a:prstGeom>
          <a:ln w="13715">
            <a:solidFill>
              <a:srgbClr val="BB71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teaser-transport-path-2-1" descr="Editable line; source id teaser-transport-path-2-1"/>
          <p:cNvCxnSpPr/>
          <p:nvPr/>
        </p:nvCxnSpPr>
        <p:spPr>
          <a:xfrm>
            <a:off x="6798106" y="4045000"/>
            <a:ext cx="684886" cy="28651"/>
          </a:xfrm>
          <a:prstGeom prst="line">
            <a:avLst/>
          </a:prstGeom>
          <a:ln w="13715">
            <a:solidFill>
              <a:srgbClr val="BB71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aser-transport-path-2-2" descr="Editable line; source id teaser-transport-path-2-2"/>
          <p:cNvSpPr/>
          <p:nvPr/>
        </p:nvSpPr>
        <p:spPr>
          <a:xfrm>
            <a:off x="7482581" y="4045085"/>
            <a:ext cx="305059" cy="83668"/>
          </a:xfrm>
          <a:custGeom>
            <a:avLst/>
            <a:gdLst/>
            <a:ahLst/>
            <a:cxnLst/>
            <a:rect l="l" t="t" r="r" b="b"/>
            <a:pathLst>
              <a:path w="40034" h="10980">
                <a:moveTo>
                  <a:pt x="108" y="2851"/>
                </a:moveTo>
                <a:lnTo>
                  <a:pt x="29108" y="4591"/>
                </a:lnTo>
                <a:lnTo>
                  <a:pt x="29383" y="0"/>
                </a:lnTo>
                <a:lnTo>
                  <a:pt x="40034" y="6149"/>
                </a:lnTo>
                <a:lnTo>
                  <a:pt x="28724" y="10980"/>
                </a:lnTo>
                <a:lnTo>
                  <a:pt x="29000" y="6388"/>
                </a:lnTo>
                <a:lnTo>
                  <a:pt x="0" y="4647"/>
                </a:lnTo>
                <a:close/>
              </a:path>
            </a:pathLst>
          </a:custGeom>
          <a:solidFill>
            <a:srgbClr val="BB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teaser-transport-path-3-0" descr="Editable line; source id teaser-transport-path-3-0"/>
          <p:cNvCxnSpPr/>
          <p:nvPr/>
        </p:nvCxnSpPr>
        <p:spPr>
          <a:xfrm>
            <a:off x="6217919" y="4030979"/>
            <a:ext cx="580187" cy="70104"/>
          </a:xfrm>
          <a:prstGeom prst="line">
            <a:avLst/>
          </a:prstGeom>
          <a:ln w="13715">
            <a:solidFill>
              <a:srgbClr val="BB71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teaser-transport-path-3-1" descr="Editable line; source id teaser-transport-path-3-1"/>
          <p:cNvCxnSpPr/>
          <p:nvPr/>
        </p:nvCxnSpPr>
        <p:spPr>
          <a:xfrm>
            <a:off x="6798106" y="4101083"/>
            <a:ext cx="684886" cy="143256"/>
          </a:xfrm>
          <a:prstGeom prst="line">
            <a:avLst/>
          </a:prstGeom>
          <a:ln w="13715">
            <a:solidFill>
              <a:srgbClr val="BB71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aser-transport-path-3-2" descr="Editable line; source id teaser-transport-path-3-2"/>
          <p:cNvSpPr/>
          <p:nvPr/>
        </p:nvSpPr>
        <p:spPr>
          <a:xfrm>
            <a:off x="7481019" y="4237771"/>
            <a:ext cx="306621" cy="114056"/>
          </a:xfrm>
          <a:custGeom>
            <a:avLst/>
            <a:gdLst/>
            <a:ahLst/>
            <a:cxnLst/>
            <a:rect l="l" t="t" r="r" b="b"/>
            <a:pathLst>
              <a:path w="40239" h="14968">
                <a:moveTo>
                  <a:pt x="518" y="0"/>
                </a:moveTo>
                <a:lnTo>
                  <a:pt x="29962" y="8838"/>
                </a:lnTo>
                <a:lnTo>
                  <a:pt x="31284" y="4432"/>
                </a:lnTo>
                <a:lnTo>
                  <a:pt x="40239" y="12862"/>
                </a:lnTo>
                <a:lnTo>
                  <a:pt x="28122" y="14968"/>
                </a:lnTo>
                <a:lnTo>
                  <a:pt x="29445" y="10562"/>
                </a:lnTo>
                <a:lnTo>
                  <a:pt x="0" y="1724"/>
                </a:lnTo>
                <a:close/>
              </a:path>
            </a:pathLst>
          </a:custGeom>
          <a:solidFill>
            <a:srgbClr val="BB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teaser-transport-path-4-0" descr="Editable line; source id teaser-transport-path-4-0"/>
          <p:cNvCxnSpPr/>
          <p:nvPr/>
        </p:nvCxnSpPr>
        <p:spPr>
          <a:xfrm>
            <a:off x="6217919" y="4030979"/>
            <a:ext cx="580187" cy="120930"/>
          </a:xfrm>
          <a:prstGeom prst="line">
            <a:avLst/>
          </a:prstGeom>
          <a:ln w="13715">
            <a:solidFill>
              <a:srgbClr val="BB71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teaser-transport-path-4-1" descr="Editable line; source id teaser-transport-path-4-1"/>
          <p:cNvCxnSpPr/>
          <p:nvPr/>
        </p:nvCxnSpPr>
        <p:spPr>
          <a:xfrm>
            <a:off x="6798106" y="4151909"/>
            <a:ext cx="684886" cy="247116"/>
          </a:xfrm>
          <a:prstGeom prst="line">
            <a:avLst/>
          </a:prstGeom>
          <a:ln w="13715">
            <a:solidFill>
              <a:srgbClr val="BB71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aser-transport-path-4-2" descr="Editable line; source id teaser-transport-path-4-2"/>
          <p:cNvSpPr/>
          <p:nvPr/>
        </p:nvSpPr>
        <p:spPr>
          <a:xfrm>
            <a:off x="7479838" y="4392938"/>
            <a:ext cx="307802" cy="163822"/>
          </a:xfrm>
          <a:custGeom>
            <a:avLst/>
            <a:gdLst/>
            <a:ahLst/>
            <a:cxnLst/>
            <a:rect l="l" t="t" r="r" b="b"/>
            <a:pathLst>
              <a:path w="40394" h="21499">
                <a:moveTo>
                  <a:pt x="828" y="0"/>
                </a:moveTo>
                <a:lnTo>
                  <a:pt x="31039" y="15642"/>
                </a:lnTo>
                <a:lnTo>
                  <a:pt x="33154" y="11557"/>
                </a:lnTo>
                <a:lnTo>
                  <a:pt x="40394" y="21499"/>
                </a:lnTo>
                <a:lnTo>
                  <a:pt x="28097" y="21326"/>
                </a:lnTo>
                <a:lnTo>
                  <a:pt x="30212" y="17241"/>
                </a:lnTo>
                <a:lnTo>
                  <a:pt x="0" y="1598"/>
                </a:lnTo>
                <a:close/>
              </a:path>
            </a:pathLst>
          </a:custGeom>
          <a:solidFill>
            <a:srgbClr val="BB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use-1-0" descr="Editable line; source id reuse-1-0"/>
          <p:cNvSpPr/>
          <p:nvPr/>
        </p:nvSpPr>
        <p:spPr>
          <a:xfrm>
            <a:off x="10306050" y="2849880"/>
            <a:ext cx="83820" cy="381000"/>
          </a:xfrm>
          <a:custGeom>
            <a:avLst/>
            <a:gdLst/>
            <a:ahLst/>
            <a:cxnLst/>
            <a:rect l="l" t="t" r="r" b="b"/>
            <a:pathLst>
              <a:path w="11000" h="50000">
                <a:moveTo>
                  <a:pt x="6750" y="0"/>
                </a:moveTo>
                <a:lnTo>
                  <a:pt x="6750" y="39000"/>
                </a:lnTo>
                <a:lnTo>
                  <a:pt x="11000" y="39000"/>
                </a:lnTo>
                <a:lnTo>
                  <a:pt x="5500" y="50000"/>
                </a:lnTo>
                <a:lnTo>
                  <a:pt x="0" y="39000"/>
                </a:lnTo>
                <a:lnTo>
                  <a:pt x="4250" y="39000"/>
                </a:lnTo>
                <a:lnTo>
                  <a:pt x="4250" y="0"/>
                </a:lnTo>
                <a:close/>
              </a:path>
            </a:pathLst>
          </a:custGeom>
          <a:solidFill>
            <a:srgbClr val="BB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use-2-0" descr="Editable line; source id reuse-2-0"/>
          <p:cNvSpPr/>
          <p:nvPr/>
        </p:nvSpPr>
        <p:spPr>
          <a:xfrm>
            <a:off x="10306050" y="4160520"/>
            <a:ext cx="83820" cy="373380"/>
          </a:xfrm>
          <a:custGeom>
            <a:avLst/>
            <a:gdLst/>
            <a:ahLst/>
            <a:cxnLst/>
            <a:rect l="l" t="t" r="r" b="b"/>
            <a:pathLst>
              <a:path w="11000" h="49000">
                <a:moveTo>
                  <a:pt x="6750" y="0"/>
                </a:moveTo>
                <a:lnTo>
                  <a:pt x="6750" y="38000"/>
                </a:lnTo>
                <a:lnTo>
                  <a:pt x="11000" y="38000"/>
                </a:lnTo>
                <a:lnTo>
                  <a:pt x="5500" y="49000"/>
                </a:lnTo>
                <a:lnTo>
                  <a:pt x="0" y="38000"/>
                </a:lnTo>
                <a:lnTo>
                  <a:pt x="4250" y="38000"/>
                </a:lnTo>
                <a:lnTo>
                  <a:pt x="4250" y="0"/>
                </a:lnTo>
                <a:close/>
              </a:path>
            </a:pathLst>
          </a:custGeom>
          <a:solidFill>
            <a:srgbClr val="27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orward-0-0" descr="Editable line; source id forward-0-0"/>
          <p:cNvSpPr/>
          <p:nvPr/>
        </p:nvSpPr>
        <p:spPr>
          <a:xfrm>
            <a:off x="5593080" y="3981450"/>
            <a:ext cx="160020" cy="83820"/>
          </a:xfrm>
          <a:custGeom>
            <a:avLst/>
            <a:gdLst/>
            <a:ahLst/>
            <a:cxnLst/>
            <a:rect l="l" t="t" r="r" b="b"/>
            <a:pathLst>
              <a:path w="21000" h="11000">
                <a:moveTo>
                  <a:pt x="0" y="4500"/>
                </a:moveTo>
                <a:lnTo>
                  <a:pt x="10000" y="4500"/>
                </a:lnTo>
                <a:lnTo>
                  <a:pt x="10000" y="0"/>
                </a:lnTo>
                <a:lnTo>
                  <a:pt x="21000" y="5500"/>
                </a:lnTo>
                <a:lnTo>
                  <a:pt x="10000" y="11000"/>
                </a:lnTo>
                <a:lnTo>
                  <a:pt x="10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15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orward-1-0" descr="Editable line; source id forward-1-0"/>
          <p:cNvSpPr/>
          <p:nvPr/>
        </p:nvSpPr>
        <p:spPr>
          <a:xfrm>
            <a:off x="8709660" y="3981450"/>
            <a:ext cx="160020" cy="83820"/>
          </a:xfrm>
          <a:custGeom>
            <a:avLst/>
            <a:gdLst/>
            <a:ahLst/>
            <a:cxnLst/>
            <a:rect l="l" t="t" r="r" b="b"/>
            <a:pathLst>
              <a:path w="21000" h="11000">
                <a:moveTo>
                  <a:pt x="0" y="4500"/>
                </a:moveTo>
                <a:lnTo>
                  <a:pt x="10000" y="4500"/>
                </a:lnTo>
                <a:lnTo>
                  <a:pt x="10000" y="0"/>
                </a:lnTo>
                <a:lnTo>
                  <a:pt x="21000" y="5500"/>
                </a:lnTo>
                <a:lnTo>
                  <a:pt x="10000" y="11000"/>
                </a:lnTo>
                <a:lnTo>
                  <a:pt x="10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15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footer-rule-0" descr="Editable line; source id footer-rule-0"/>
          <p:cNvCxnSpPr/>
          <p:nvPr/>
        </p:nvCxnSpPr>
        <p:spPr>
          <a:xfrm>
            <a:off x="365759" y="6400799"/>
            <a:ext cx="11460480" cy="0"/>
          </a:xfrm>
          <a:prstGeom prst="line">
            <a:avLst/>
          </a:prstGeom>
          <a:ln w="7619">
            <a:solidFill>
              <a:srgbClr val="D7E0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eyebrow" descr="Editable text; source id eyebrow"/>
          <p:cNvSpPr txBox="1"/>
          <p:nvPr/>
        </p:nvSpPr>
        <p:spPr>
          <a:xfrm>
            <a:off x="365759" y="182879"/>
            <a:ext cx="11048999" cy="21335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17"/>
              </a:lnSpc>
              <a:spcBef>
                <a:spcPts val="0"/>
              </a:spcBef>
              <a:spcAft>
                <a:spcPts val="0"/>
              </a:spcAft>
              <a:defRPr sz="1319" b="1" i="0" lang="zh-CN" dirty="0">
                <a:solidFill>
                  <a:srgbClr val="277D7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19" b="1" i="0" lang="zh-CN" dirty="0">
                <a:solidFill>
                  <a:srgbClr val="277D79"/>
                </a:solidFill>
                <a:latin typeface="Liberation Sans"/>
                <a:ea typeface="Liberation Sans"/>
                <a:cs typeface="Liberation Sans"/>
              </a:rPr>
              <a:t>01 / CENTRAL IDEA</a:t>
            </a:r>
          </a:p>
        </p:txBody>
      </p:sp>
      <p:sp>
        <p:nvSpPr>
          <p:cNvPr id="78" name="title" descr="Editable text; source id title"/>
          <p:cNvSpPr txBox="1"/>
          <p:nvPr/>
        </p:nvSpPr>
        <p:spPr>
          <a:xfrm>
            <a:off x="365759" y="480059"/>
            <a:ext cx="11277599" cy="4952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966"/>
              </a:lnSpc>
              <a:spcBef>
                <a:spcPts val="0"/>
              </a:spcBef>
              <a:spcAft>
                <a:spcPts val="0"/>
              </a:spcAft>
              <a:defRPr sz="257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7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rPr>
              <a:t>Turn expensive feedback into a reusable proposal</a:t>
            </a:r>
          </a:p>
        </p:txBody>
      </p:sp>
      <p:sp>
        <p:nvSpPr>
          <p:cNvPr id="79" name="subtitle" descr="Editable text; source id subtitle"/>
          <p:cNvSpPr txBox="1"/>
          <p:nvPr/>
        </p:nvSpPr>
        <p:spPr>
          <a:xfrm>
            <a:off x="365759" y="1043939"/>
            <a:ext cx="11277599" cy="32765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31"/>
              </a:lnSpc>
              <a:spcBef>
                <a:spcPts val="0"/>
              </a:spcBef>
              <a:spcAft>
                <a:spcPts val="0"/>
              </a:spcAft>
              <a:defRPr sz="167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7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rPr>
              <a:t>Score the frozen VLA’s own candidates, then learn where to sample next.</a:t>
            </a:r>
          </a:p>
        </p:txBody>
      </p:sp>
      <p:sp>
        <p:nvSpPr>
          <p:cNvPr id="80" name="scene-title" descr="Editable text; source id scene-title"/>
          <p:cNvSpPr txBox="1"/>
          <p:nvPr/>
        </p:nvSpPr>
        <p:spPr>
          <a:xfrm>
            <a:off x="533399" y="1760219"/>
            <a:ext cx="1714499" cy="25907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24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9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rPr>
              <a:t>A changed scene</a:t>
            </a:r>
          </a:p>
        </p:txBody>
      </p:sp>
      <p:sp>
        <p:nvSpPr>
          <p:cNvPr id="81" name="scene-caption" descr="Editable text; source id scene-caption"/>
          <p:cNvSpPr txBox="1"/>
          <p:nvPr/>
        </p:nvSpPr>
        <p:spPr>
          <a:xfrm>
            <a:off x="510539" y="5577839"/>
            <a:ext cx="1752599" cy="43433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17"/>
              </a:lnSpc>
              <a:spcBef>
                <a:spcPts val="0"/>
              </a:spcBef>
              <a:spcAft>
                <a:spcPts val="0"/>
              </a:spcAft>
              <a:defRPr sz="131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1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rPr>
              <a:t>A recovery may exist</a:t>
            </a:r>
          </a:p>
          <a:p>
            <a:pPr algn="l" fontAlgn="base">
              <a:lnSpc>
                <a:spcPts val="1517"/>
              </a:lnSpc>
              <a:spcBef>
                <a:spcPts val="0"/>
              </a:spcBef>
              <a:spcAft>
                <a:spcPts val="0"/>
              </a:spcAft>
              <a:defRPr sz="131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1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rPr>
              <a:t>in the native proposals.</a:t>
            </a:r>
          </a:p>
        </p:txBody>
      </p:sp>
      <p:sp>
        <p:nvSpPr>
          <p:cNvPr id="82" name="score-title" descr="Editable text; source id score-title"/>
          <p:cNvSpPr txBox="1"/>
          <p:nvPr/>
        </p:nvSpPr>
        <p:spPr>
          <a:xfrm>
            <a:off x="2804159" y="1798319"/>
            <a:ext cx="2636519" cy="32003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62"/>
              </a:lnSpc>
              <a:spcBef>
                <a:spcPts val="0"/>
              </a:spcBef>
              <a:spcAft>
                <a:spcPts val="0"/>
              </a:spcAft>
              <a:defRPr sz="1619" b="1" i="0" lang="zh-CN" dirty="0">
                <a:solidFill>
                  <a:srgbClr val="357FA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19" b="1" i="0" lang="zh-CN" dirty="0">
                <a:solidFill>
                  <a:srgbClr val="357FA1"/>
                </a:solidFill>
                <a:latin typeface="Liberation Sans"/>
                <a:ea typeface="Liberation Sans"/>
                <a:cs typeface="Liberation Sans"/>
              </a:rPr>
              <a:t>1  Evaluate consequences</a:t>
            </a:r>
          </a:p>
        </p:txBody>
      </p:sp>
      <p:sp>
        <p:nvSpPr>
          <p:cNvPr id="83" name="learn-title" descr="Editable text; source id learn-title"/>
          <p:cNvSpPr txBox="1"/>
          <p:nvPr/>
        </p:nvSpPr>
        <p:spPr>
          <a:xfrm>
            <a:off x="5920739" y="1798319"/>
            <a:ext cx="2636519" cy="32003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62"/>
              </a:lnSpc>
              <a:spcBef>
                <a:spcPts val="0"/>
              </a:spcBef>
              <a:spcAft>
                <a:spcPts val="0"/>
              </a:spcAft>
              <a:defRPr sz="1619" b="1" i="0" lang="zh-CN" dirty="0">
                <a:solidFill>
                  <a:srgbClr val="BB711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19" b="1" i="0" lang="zh-CN" dirty="0">
                <a:solidFill>
                  <a:srgbClr val="BB711C"/>
                </a:solidFill>
                <a:latin typeface="Liberation Sans"/>
                <a:ea typeface="Liberation Sans"/>
                <a:cs typeface="Liberation Sans"/>
              </a:rPr>
              <a:t>2  Learn a proposer</a:t>
            </a:r>
          </a:p>
        </p:txBody>
      </p:sp>
      <p:sp>
        <p:nvSpPr>
          <p:cNvPr id="84" name="reuse-title" descr="Editable text; source id reuse-title"/>
          <p:cNvSpPr txBox="1"/>
          <p:nvPr/>
        </p:nvSpPr>
        <p:spPr>
          <a:xfrm>
            <a:off x="9037319" y="1798319"/>
            <a:ext cx="2636519" cy="32003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62"/>
              </a:lnSpc>
              <a:spcBef>
                <a:spcPts val="0"/>
              </a:spcBef>
              <a:spcAft>
                <a:spcPts val="0"/>
              </a:spcAft>
              <a:defRPr sz="1619" b="1" i="0" lang="zh-CN" dirty="0">
                <a:solidFill>
                  <a:srgbClr val="277D7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19" b="1" i="0" lang="zh-CN" dirty="0">
                <a:solidFill>
                  <a:srgbClr val="277D79"/>
                </a:solidFill>
                <a:latin typeface="Liberation Sans"/>
                <a:ea typeface="Liberation Sans"/>
                <a:cs typeface="Liberation Sans"/>
              </a:rPr>
              <a:t>3  Reuse at deployment</a:t>
            </a:r>
          </a:p>
        </p:txBody>
      </p:sp>
      <p:sp>
        <p:nvSpPr>
          <p:cNvPr id="85" name="candidate-label" descr="Editable text; source id candidate-label"/>
          <p:cNvSpPr txBox="1"/>
          <p:nvPr/>
        </p:nvSpPr>
        <p:spPr>
          <a:xfrm>
            <a:off x="2804159" y="2301239"/>
            <a:ext cx="2575559" cy="28955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31"/>
              </a:lnSpc>
              <a:spcBef>
                <a:spcPts val="0"/>
              </a:spcBef>
              <a:spcAft>
                <a:spcPts val="0"/>
              </a:spcAft>
              <a:defRPr sz="167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7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rPr>
              <a:t>Own noise candidates</a:t>
            </a:r>
          </a:p>
        </p:txBody>
      </p:sp>
      <p:sp>
        <p:nvSpPr>
          <p:cNvPr id="86" name="score-context" descr="Editable text; source id score-context"/>
          <p:cNvSpPr txBox="1"/>
          <p:nvPr/>
        </p:nvSpPr>
        <p:spPr>
          <a:xfrm>
            <a:off x="2804159" y="3924299"/>
            <a:ext cx="2590799" cy="25907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24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9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rPr>
              <a:t>Same state and continuation</a:t>
            </a:r>
          </a:p>
        </p:txBody>
      </p:sp>
      <p:sp>
        <p:nvSpPr>
          <p:cNvPr id="87" name="score-description" descr="Editable text; source id score-description"/>
          <p:cNvSpPr txBox="1"/>
          <p:nvPr/>
        </p:nvSpPr>
        <p:spPr>
          <a:xfrm>
            <a:off x="2880359" y="4724399"/>
            <a:ext cx="2491739" cy="61721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73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3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rPr>
              <a:t>Simulated rollouts</a:t>
            </a:r>
          </a:p>
          <a:p>
            <a:pPr algn="l" fontAlgn="base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73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3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rPr>
              <a:t>No teacher actions</a:t>
            </a:r>
          </a:p>
        </p:txBody>
      </p:sp>
      <p:sp>
        <p:nvSpPr>
          <p:cNvPr id="88" name="score-record" descr="Editable text; source id score-record"/>
          <p:cNvSpPr txBox="1"/>
          <p:nvPr/>
        </p:nvSpPr>
        <p:spPr>
          <a:xfrm>
            <a:off x="2811779" y="5615939"/>
            <a:ext cx="2590799" cy="24383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86"/>
              </a:lnSpc>
              <a:spcBef>
                <a:spcPts val="0"/>
              </a:spcBef>
              <a:spcAft>
                <a:spcPts val="0"/>
              </a:spcAft>
              <a:defRPr sz="137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7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rPr>
              <a:t>Store context, noise, outcome</a:t>
            </a:r>
          </a:p>
        </p:txBody>
      </p:sp>
      <p:sp>
        <p:nvSpPr>
          <p:cNvPr id="89" name="learn-description" descr="Editable text; source id learn-description"/>
          <p:cNvSpPr txBox="1"/>
          <p:nvPr/>
        </p:nvSpPr>
        <p:spPr>
          <a:xfrm>
            <a:off x="5928359" y="2339339"/>
            <a:ext cx="2613659" cy="62483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73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3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rPr>
              <a:t>Fit continuation value;</a:t>
            </a:r>
          </a:p>
          <a:p>
            <a:pPr algn="l" fontAlgn="base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73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3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rPr>
              <a:t>train the ASBS drift.</a:t>
            </a:r>
          </a:p>
        </p:txBody>
      </p:sp>
      <p:sp>
        <p:nvSpPr>
          <p:cNvPr id="90" name="point-label" descr="Editable text; source id point-label"/>
          <p:cNvSpPr txBox="1"/>
          <p:nvPr/>
        </p:nvSpPr>
        <p:spPr>
          <a:xfrm>
            <a:off x="5966459" y="4861559"/>
            <a:ext cx="990599" cy="27431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64"/>
              </a:lnSpc>
              <a:spcBef>
                <a:spcPts val="0"/>
              </a:spcBef>
              <a:spcAft>
                <a:spcPts val="0"/>
              </a:spcAft>
              <a:defRPr sz="1679" b="0" i="0" lang="zh-CN" dirty="0">
                <a:solidFill>
                  <a:srgbClr val="153047"/>
                </a:solidFill>
                <a:latin typeface="DejaVu Sans"/>
                <a:ea typeface="DejaVu Sans"/>
                <a:cs typeface="DejaVu Sans"/>
              </a:defRPr>
            </a:pPr>
            <a:r>
              <a:rPr sz="1679" b="0" i="0" lang="zh-CN" dirty="0">
                <a:solidFill>
                  <a:srgbClr val="153047"/>
                </a:solidFill>
                <a:latin typeface="DejaVu Sans"/>
                <a:ea typeface="DejaVu Sans"/>
                <a:cs typeface="DejaVu Sans"/>
              </a:rPr>
              <a:t>Z₀ = 0</a:t>
            </a:r>
          </a:p>
        </p:txBody>
      </p:sp>
      <p:sp>
        <p:nvSpPr>
          <p:cNvPr id="91" name="target-label" descr="Editable text; source id target-label"/>
          <p:cNvSpPr txBox="1"/>
          <p:nvPr/>
        </p:nvSpPr>
        <p:spPr>
          <a:xfrm>
            <a:off x="7338059" y="4861559"/>
            <a:ext cx="1257299" cy="27431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24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99" b="0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rPr>
              <a:t>Learned noise</a:t>
            </a:r>
          </a:p>
        </p:txBody>
      </p:sp>
      <p:sp>
        <p:nvSpPr>
          <p:cNvPr id="92" name="learn-note" descr="Editable text; source id learn-note"/>
          <p:cNvSpPr txBox="1"/>
          <p:nvPr/>
        </p:nvSpPr>
        <p:spPr>
          <a:xfrm>
            <a:off x="5951219" y="5379719"/>
            <a:ext cx="2598419" cy="25907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24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BB711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99" b="1" i="0" lang="zh-CN" dirty="0">
                <a:solidFill>
                  <a:srgbClr val="BB711C"/>
                </a:solidFill>
                <a:latin typeface="Liberation Sans"/>
                <a:ea typeface="Liberation Sans"/>
                <a:cs typeface="Liberation Sans"/>
              </a:rPr>
              <a:t>Point-source ASBS instance</a:t>
            </a:r>
          </a:p>
        </p:txBody>
      </p:sp>
      <p:sp>
        <p:nvSpPr>
          <p:cNvPr id="93" name="prior-note" descr="Editable text; source id prior-note"/>
          <p:cNvSpPr txBox="1"/>
          <p:nvPr/>
        </p:nvSpPr>
        <p:spPr>
          <a:xfrm>
            <a:off x="5935979" y="5669279"/>
            <a:ext cx="2621279" cy="21335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17"/>
              </a:lnSpc>
              <a:spcBef>
                <a:spcPts val="0"/>
              </a:spcBef>
              <a:spcAft>
                <a:spcPts val="0"/>
              </a:spcAft>
              <a:defRPr sz="131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1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rPr>
              <a:t>Reference endpoint: native prior</a:t>
            </a:r>
          </a:p>
        </p:txBody>
      </p:sp>
      <p:sp>
        <p:nvSpPr>
          <p:cNvPr id="94" name="proposer" descr="Editable text; source id proposer"/>
          <p:cNvSpPr txBox="1"/>
          <p:nvPr/>
        </p:nvSpPr>
        <p:spPr>
          <a:xfrm>
            <a:off x="9159239" y="2400299"/>
            <a:ext cx="2407919" cy="33527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207"/>
              </a:lnSpc>
              <a:spcBef>
                <a:spcPts val="0"/>
              </a:spcBef>
              <a:spcAft>
                <a:spcPts val="0"/>
              </a:spcAft>
              <a:defRPr sz="1919" b="1" i="0" lang="zh-CN" dirty="0">
                <a:solidFill>
                  <a:srgbClr val="BB711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19" b="1" i="0" lang="zh-CN" dirty="0">
                <a:solidFill>
                  <a:srgbClr val="BB711C"/>
                </a:solidFill>
                <a:latin typeface="Liberation Sans"/>
                <a:ea typeface="Liberation Sans"/>
                <a:cs typeface="Liberation Sans"/>
              </a:rPr>
              <a:t>ASBS proposer</a:t>
            </a:r>
          </a:p>
        </p:txBody>
      </p:sp>
      <p:sp>
        <p:nvSpPr>
          <p:cNvPr id="95" name="vla-label" descr="Editable text; source id vla-label"/>
          <p:cNvSpPr txBox="1"/>
          <p:nvPr/>
        </p:nvSpPr>
        <p:spPr>
          <a:xfrm>
            <a:off x="9220199" y="3512819"/>
            <a:ext cx="2247899" cy="32765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69"/>
              </a:lnSpc>
              <a:spcBef>
                <a:spcPts val="0"/>
              </a:spcBef>
              <a:spcAft>
                <a:spcPts val="0"/>
              </a:spcAft>
              <a:defRPr sz="179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9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rPr>
              <a:t>Same frozen VLA</a:t>
            </a:r>
          </a:p>
        </p:txBody>
      </p:sp>
      <p:sp>
        <p:nvSpPr>
          <p:cNvPr id="96" name="prefix" descr="Editable text; source id prefix"/>
          <p:cNvSpPr txBox="1"/>
          <p:nvPr/>
        </p:nvSpPr>
        <p:spPr>
          <a:xfrm>
            <a:off x="9174479" y="4632959"/>
            <a:ext cx="2308859" cy="32003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69"/>
              </a:lnSpc>
              <a:spcBef>
                <a:spcPts val="0"/>
              </a:spcBef>
              <a:spcAft>
                <a:spcPts val="0"/>
              </a:spcAft>
              <a:defRPr sz="179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9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rPr>
              <a:t>Execute 5 actions</a:t>
            </a:r>
          </a:p>
        </p:txBody>
      </p:sp>
      <p:sp>
        <p:nvSpPr>
          <p:cNvPr id="97" name="reobserve" descr="Editable text; source id reobserve"/>
          <p:cNvSpPr txBox="1"/>
          <p:nvPr/>
        </p:nvSpPr>
        <p:spPr>
          <a:xfrm>
            <a:off x="9067799" y="5143499"/>
            <a:ext cx="2545079" cy="27431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31"/>
              </a:lnSpc>
              <a:spcBef>
                <a:spcPts val="0"/>
              </a:spcBef>
              <a:spcAft>
                <a:spcPts val="0"/>
              </a:spcAft>
              <a:defRPr sz="1679" b="0" i="0" lang="zh-CN" dirty="0">
                <a:solidFill>
                  <a:srgbClr val="277D7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79" b="0" i="0" lang="zh-CN" dirty="0">
                <a:solidFill>
                  <a:srgbClr val="277D79"/>
                </a:solidFill>
                <a:latin typeface="Liberation Sans"/>
                <a:ea typeface="Liberation Sans"/>
                <a:cs typeface="Liberation Sans"/>
              </a:rPr>
              <a:t>Re-observe and repeat</a:t>
            </a:r>
          </a:p>
        </p:txBody>
      </p:sp>
      <p:sp>
        <p:nvSpPr>
          <p:cNvPr id="98" name="runtime-note" descr="Editable text; source id runtime-note"/>
          <p:cNvSpPr txBox="1"/>
          <p:nvPr/>
        </p:nvSpPr>
        <p:spPr>
          <a:xfrm>
            <a:off x="9067799" y="5669279"/>
            <a:ext cx="2545079" cy="2285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55"/>
              </a:lnSpc>
              <a:spcBef>
                <a:spcPts val="0"/>
              </a:spcBef>
              <a:spcAft>
                <a:spcPts val="0"/>
              </a:spcAft>
              <a:defRPr sz="143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3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rPr>
              <a:t>No rollout scorer or critic</a:t>
            </a:r>
          </a:p>
        </p:txBody>
      </p:sp>
      <p:sp>
        <p:nvSpPr>
          <p:cNvPr id="99" name="footer" descr="Editable text; source id footer"/>
          <p:cNvSpPr txBox="1"/>
          <p:nvPr/>
        </p:nvSpPr>
        <p:spPr>
          <a:xfrm>
            <a:off x="365759" y="6492239"/>
            <a:ext cx="11353799" cy="23621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86"/>
              </a:lnSpc>
              <a:spcBef>
                <a:spcPts val="0"/>
              </a:spcBef>
              <a:spcAft>
                <a:spcPts val="0"/>
              </a:spcAft>
              <a:defRPr sz="137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7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rPr>
              <a:t>Design objective, not an observed recovery result. Illustration is synthetic; feedback quality remains under validation.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quire-0" descr="Editable shape; source id acquire-0"/>
          <p:cNvSpPr/>
          <p:nvPr/>
        </p:nvSpPr>
        <p:spPr>
          <a:xfrm>
            <a:off x="365759" y="1927859"/>
            <a:ext cx="2636519" cy="1112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29">
            <a:solidFill>
              <a:srgbClr val="D9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quire-1" descr="Editable shape; source id acquire-1"/>
          <p:cNvSpPr/>
          <p:nvPr/>
        </p:nvSpPr>
        <p:spPr>
          <a:xfrm>
            <a:off x="3307079" y="1927859"/>
            <a:ext cx="2636519" cy="1112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29">
            <a:solidFill>
              <a:srgbClr val="D9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quire-2" descr="Editable shape; source id acquire-2"/>
          <p:cNvSpPr/>
          <p:nvPr/>
        </p:nvSpPr>
        <p:spPr>
          <a:xfrm>
            <a:off x="6248399" y="1927859"/>
            <a:ext cx="2636519" cy="1112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29">
            <a:solidFill>
              <a:srgbClr val="D9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cquire-3" descr="Editable shape; source id acquire-3"/>
          <p:cNvSpPr/>
          <p:nvPr/>
        </p:nvSpPr>
        <p:spPr>
          <a:xfrm>
            <a:off x="9189719" y="1927859"/>
            <a:ext cx="2636519" cy="1112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29">
            <a:solidFill>
              <a:srgbClr val="D9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ritic" descr="Editable shape; source id critic"/>
          <p:cNvSpPr/>
          <p:nvPr/>
        </p:nvSpPr>
        <p:spPr>
          <a:xfrm>
            <a:off x="365759" y="3627119"/>
            <a:ext cx="4404359" cy="121919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29">
            <a:solidFill>
              <a:srgbClr val="D9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ampler" descr="Editable shape; source id sampler"/>
          <p:cNvSpPr/>
          <p:nvPr/>
        </p:nvSpPr>
        <p:spPr>
          <a:xfrm>
            <a:off x="7086599" y="3627119"/>
            <a:ext cx="4739639" cy="121919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29">
            <a:solidFill>
              <a:srgbClr val="D9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ploy-0" descr="Editable shape; source id deploy-0"/>
          <p:cNvSpPr/>
          <p:nvPr/>
        </p:nvSpPr>
        <p:spPr>
          <a:xfrm>
            <a:off x="365759" y="5417819"/>
            <a:ext cx="2636519" cy="71627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29">
            <a:solidFill>
              <a:srgbClr val="D9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ploy-1" descr="Editable shape; source id deploy-1"/>
          <p:cNvSpPr/>
          <p:nvPr/>
        </p:nvSpPr>
        <p:spPr>
          <a:xfrm>
            <a:off x="3307079" y="5417819"/>
            <a:ext cx="2636519" cy="71627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29">
            <a:solidFill>
              <a:srgbClr val="D9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ploy-2" descr="Editable shape; source id deploy-2"/>
          <p:cNvSpPr/>
          <p:nvPr/>
        </p:nvSpPr>
        <p:spPr>
          <a:xfrm>
            <a:off x="6248399" y="5417819"/>
            <a:ext cx="2636519" cy="71627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29">
            <a:solidFill>
              <a:srgbClr val="D9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ploy-3" descr="Editable shape; source id deploy-3"/>
          <p:cNvSpPr/>
          <p:nvPr/>
        </p:nvSpPr>
        <p:spPr>
          <a:xfrm>
            <a:off x="9189719" y="5417819"/>
            <a:ext cx="2636519" cy="71627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29">
            <a:solidFill>
              <a:srgbClr val="D9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acquire-0-accent-0" descr="Editable line; source id acquire-0-accent-0"/>
          <p:cNvCxnSpPr/>
          <p:nvPr/>
        </p:nvCxnSpPr>
        <p:spPr>
          <a:xfrm>
            <a:off x="533399" y="1943099"/>
            <a:ext cx="2301240" cy="0"/>
          </a:xfrm>
          <a:prstGeom prst="line">
            <a:avLst/>
          </a:prstGeom>
          <a:ln w="22859">
            <a:solidFill>
              <a:srgbClr val="357FA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acquire-1-accent-0" descr="Editable line; source id acquire-1-accent-0"/>
          <p:cNvCxnSpPr/>
          <p:nvPr/>
        </p:nvCxnSpPr>
        <p:spPr>
          <a:xfrm>
            <a:off x="3474719" y="1943099"/>
            <a:ext cx="2301240" cy="0"/>
          </a:xfrm>
          <a:prstGeom prst="line">
            <a:avLst/>
          </a:prstGeom>
          <a:ln w="22859">
            <a:solidFill>
              <a:srgbClr val="357FA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acquire-2-accent-0" descr="Editable line; source id acquire-2-accent-0"/>
          <p:cNvCxnSpPr/>
          <p:nvPr/>
        </p:nvCxnSpPr>
        <p:spPr>
          <a:xfrm>
            <a:off x="6416039" y="1943099"/>
            <a:ext cx="2301240" cy="0"/>
          </a:xfrm>
          <a:prstGeom prst="line">
            <a:avLst/>
          </a:prstGeom>
          <a:ln w="22859">
            <a:solidFill>
              <a:srgbClr val="357FA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acquire-3-accent-0" descr="Editable line; source id acquire-3-accent-0"/>
          <p:cNvCxnSpPr/>
          <p:nvPr/>
        </p:nvCxnSpPr>
        <p:spPr>
          <a:xfrm>
            <a:off x="9357359" y="1943099"/>
            <a:ext cx="2301240" cy="0"/>
          </a:xfrm>
          <a:prstGeom prst="line">
            <a:avLst/>
          </a:prstGeom>
          <a:ln w="22859">
            <a:solidFill>
              <a:srgbClr val="357FA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cquire-arrow-0-0" descr="Editable line; source id acquire-arrow-0-0"/>
          <p:cNvSpPr/>
          <p:nvPr/>
        </p:nvSpPr>
        <p:spPr>
          <a:xfrm>
            <a:off x="3002280" y="2434590"/>
            <a:ext cx="304800" cy="83820"/>
          </a:xfrm>
          <a:custGeom>
            <a:avLst/>
            <a:gdLst/>
            <a:ahLst/>
            <a:cxnLst/>
            <a:rect l="l" t="t" r="r" b="b"/>
            <a:pathLst>
              <a:path w="40000" h="11000">
                <a:moveTo>
                  <a:pt x="0" y="4500"/>
                </a:moveTo>
                <a:lnTo>
                  <a:pt x="29000" y="4500"/>
                </a:lnTo>
                <a:lnTo>
                  <a:pt x="29000" y="0"/>
                </a:lnTo>
                <a:lnTo>
                  <a:pt x="40000" y="5500"/>
                </a:lnTo>
                <a:lnTo>
                  <a:pt x="29000" y="11000"/>
                </a:lnTo>
                <a:lnTo>
                  <a:pt x="29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357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cquire-arrow-1-0" descr="Editable line; source id acquire-arrow-1-0"/>
          <p:cNvSpPr/>
          <p:nvPr/>
        </p:nvSpPr>
        <p:spPr>
          <a:xfrm>
            <a:off x="5943600" y="2434590"/>
            <a:ext cx="304800" cy="83820"/>
          </a:xfrm>
          <a:custGeom>
            <a:avLst/>
            <a:gdLst/>
            <a:ahLst/>
            <a:cxnLst/>
            <a:rect l="l" t="t" r="r" b="b"/>
            <a:pathLst>
              <a:path w="40000" h="11000">
                <a:moveTo>
                  <a:pt x="0" y="4500"/>
                </a:moveTo>
                <a:lnTo>
                  <a:pt x="29000" y="4500"/>
                </a:lnTo>
                <a:lnTo>
                  <a:pt x="29000" y="0"/>
                </a:lnTo>
                <a:lnTo>
                  <a:pt x="40000" y="5500"/>
                </a:lnTo>
                <a:lnTo>
                  <a:pt x="29000" y="11000"/>
                </a:lnTo>
                <a:lnTo>
                  <a:pt x="29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357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cquire-arrow-2-0" descr="Editable line; source id acquire-arrow-2-0"/>
          <p:cNvSpPr/>
          <p:nvPr/>
        </p:nvSpPr>
        <p:spPr>
          <a:xfrm>
            <a:off x="8884920" y="2434590"/>
            <a:ext cx="304800" cy="83820"/>
          </a:xfrm>
          <a:custGeom>
            <a:avLst/>
            <a:gdLst/>
            <a:ahLst/>
            <a:cxnLst/>
            <a:rect l="l" t="t" r="r" b="b"/>
            <a:pathLst>
              <a:path w="40000" h="11000">
                <a:moveTo>
                  <a:pt x="0" y="4500"/>
                </a:moveTo>
                <a:lnTo>
                  <a:pt x="29000" y="4500"/>
                </a:lnTo>
                <a:lnTo>
                  <a:pt x="29000" y="0"/>
                </a:lnTo>
                <a:lnTo>
                  <a:pt x="40000" y="5500"/>
                </a:lnTo>
                <a:lnTo>
                  <a:pt x="29000" y="11000"/>
                </a:lnTo>
                <a:lnTo>
                  <a:pt x="29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357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ritic-accent-0" descr="Editable line; source id critic-accent-0"/>
          <p:cNvCxnSpPr/>
          <p:nvPr/>
        </p:nvCxnSpPr>
        <p:spPr>
          <a:xfrm>
            <a:off x="533399" y="3642359"/>
            <a:ext cx="4069080" cy="0"/>
          </a:xfrm>
          <a:prstGeom prst="line">
            <a:avLst/>
          </a:prstGeom>
          <a:ln w="22859">
            <a:solidFill>
              <a:srgbClr val="357FA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core-to-offline-0" descr="Editable line; source id score-to-offline-0"/>
          <p:cNvCxnSpPr/>
          <p:nvPr/>
        </p:nvCxnSpPr>
        <p:spPr>
          <a:xfrm>
            <a:off x="10507979" y="3131819"/>
            <a:ext cx="0" cy="83820"/>
          </a:xfrm>
          <a:prstGeom prst="line">
            <a:avLst/>
          </a:prstGeom>
          <a:ln w="15239">
            <a:solidFill>
              <a:srgbClr val="357FA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core-to-offline-1" descr="Editable line; source id score-to-offline-1"/>
          <p:cNvCxnSpPr/>
          <p:nvPr/>
        </p:nvCxnSpPr>
        <p:spPr>
          <a:xfrm flipH="1">
            <a:off x="2743199" y="3215639"/>
            <a:ext cx="7764780" cy="0"/>
          </a:xfrm>
          <a:prstGeom prst="line">
            <a:avLst/>
          </a:prstGeom>
          <a:ln w="15239">
            <a:solidFill>
              <a:srgbClr val="357FA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core-to-offline-2" descr="Editable line; source id score-to-offline-2"/>
          <p:cNvSpPr/>
          <p:nvPr/>
        </p:nvSpPr>
        <p:spPr>
          <a:xfrm>
            <a:off x="2701290" y="3215640"/>
            <a:ext cx="83820" cy="365760"/>
          </a:xfrm>
          <a:custGeom>
            <a:avLst/>
            <a:gdLst/>
            <a:ahLst/>
            <a:cxnLst/>
            <a:rect l="l" t="t" r="r" b="b"/>
            <a:pathLst>
              <a:path w="11000" h="48000">
                <a:moveTo>
                  <a:pt x="6500" y="0"/>
                </a:moveTo>
                <a:lnTo>
                  <a:pt x="6500" y="37000"/>
                </a:lnTo>
                <a:lnTo>
                  <a:pt x="11000" y="37000"/>
                </a:lnTo>
                <a:lnTo>
                  <a:pt x="5500" y="48000"/>
                </a:lnTo>
                <a:lnTo>
                  <a:pt x="0" y="37000"/>
                </a:lnTo>
                <a:lnTo>
                  <a:pt x="4500" y="37000"/>
                </a:lnTo>
                <a:lnTo>
                  <a:pt x="4500" y="0"/>
                </a:lnTo>
                <a:close/>
              </a:path>
            </a:pathLst>
          </a:custGeom>
          <a:solidFill>
            <a:srgbClr val="357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radient-arrow-0" descr="Editable line; source id gradient-arrow-0"/>
          <p:cNvSpPr/>
          <p:nvPr/>
        </p:nvSpPr>
        <p:spPr>
          <a:xfrm>
            <a:off x="4907280" y="4187190"/>
            <a:ext cx="2042160" cy="83820"/>
          </a:xfrm>
          <a:custGeom>
            <a:avLst/>
            <a:gdLst/>
            <a:ahLst/>
            <a:cxnLst/>
            <a:rect l="l" t="t" r="r" b="b"/>
            <a:pathLst>
              <a:path w="268000" h="11000">
                <a:moveTo>
                  <a:pt x="0" y="4250"/>
                </a:moveTo>
                <a:lnTo>
                  <a:pt x="257000" y="4250"/>
                </a:lnTo>
                <a:lnTo>
                  <a:pt x="257000" y="0"/>
                </a:lnTo>
                <a:lnTo>
                  <a:pt x="268000" y="5500"/>
                </a:lnTo>
                <a:lnTo>
                  <a:pt x="257000" y="11000"/>
                </a:lnTo>
                <a:lnTo>
                  <a:pt x="257000" y="6750"/>
                </a:lnTo>
                <a:lnTo>
                  <a:pt x="0" y="6750"/>
                </a:lnTo>
                <a:close/>
              </a:path>
            </a:pathLst>
          </a:custGeom>
          <a:solidFill>
            <a:srgbClr val="BB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sampler-accent-0" descr="Editable line; source id sampler-accent-0"/>
          <p:cNvCxnSpPr/>
          <p:nvPr/>
        </p:nvCxnSpPr>
        <p:spPr>
          <a:xfrm>
            <a:off x="7254239" y="3642359"/>
            <a:ext cx="4404360" cy="0"/>
          </a:xfrm>
          <a:prstGeom prst="line">
            <a:avLst/>
          </a:prstGeom>
          <a:ln w="22859">
            <a:solidFill>
              <a:srgbClr val="BB71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actor-transfer-0" descr="Editable line; source id actor-transfer-0"/>
          <p:cNvCxnSpPr/>
          <p:nvPr/>
        </p:nvCxnSpPr>
        <p:spPr>
          <a:xfrm>
            <a:off x="9464039" y="4884419"/>
            <a:ext cx="0" cy="304800"/>
          </a:xfrm>
          <a:prstGeom prst="line">
            <a:avLst/>
          </a:prstGeom>
          <a:ln w="15239">
            <a:solidFill>
              <a:srgbClr val="BB71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actor-transfer-1" descr="Editable line; source id actor-transfer-1"/>
          <p:cNvCxnSpPr/>
          <p:nvPr/>
        </p:nvCxnSpPr>
        <p:spPr>
          <a:xfrm flipH="1">
            <a:off x="4625339" y="5189219"/>
            <a:ext cx="4838700" cy="0"/>
          </a:xfrm>
          <a:prstGeom prst="line">
            <a:avLst/>
          </a:prstGeom>
          <a:ln w="15239">
            <a:solidFill>
              <a:srgbClr val="BB71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actor-transfer-2" descr="Editable line; source id actor-transfer-2"/>
          <p:cNvSpPr/>
          <p:nvPr/>
        </p:nvSpPr>
        <p:spPr>
          <a:xfrm>
            <a:off x="4583430" y="5189220"/>
            <a:ext cx="83820" cy="190500"/>
          </a:xfrm>
          <a:custGeom>
            <a:avLst/>
            <a:gdLst/>
            <a:ahLst/>
            <a:cxnLst/>
            <a:rect l="l" t="t" r="r" b="b"/>
            <a:pathLst>
              <a:path w="11000" h="25000">
                <a:moveTo>
                  <a:pt x="6500" y="0"/>
                </a:moveTo>
                <a:lnTo>
                  <a:pt x="6500" y="14000"/>
                </a:lnTo>
                <a:lnTo>
                  <a:pt x="11000" y="14000"/>
                </a:lnTo>
                <a:lnTo>
                  <a:pt x="5500" y="25000"/>
                </a:lnTo>
                <a:lnTo>
                  <a:pt x="0" y="14000"/>
                </a:lnTo>
                <a:lnTo>
                  <a:pt x="4500" y="14000"/>
                </a:lnTo>
                <a:lnTo>
                  <a:pt x="4500" y="0"/>
                </a:lnTo>
                <a:close/>
              </a:path>
            </a:pathLst>
          </a:custGeom>
          <a:solidFill>
            <a:srgbClr val="BB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deploy-0-accent-0" descr="Editable line; source id deploy-0-accent-0"/>
          <p:cNvCxnSpPr/>
          <p:nvPr/>
        </p:nvCxnSpPr>
        <p:spPr>
          <a:xfrm>
            <a:off x="533399" y="5433059"/>
            <a:ext cx="2301240" cy="0"/>
          </a:xfrm>
          <a:prstGeom prst="line">
            <a:avLst/>
          </a:prstGeom>
          <a:ln w="22859">
            <a:solidFill>
              <a:srgbClr val="277D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deploy-1-accent-0" descr="Editable line; source id deploy-1-accent-0"/>
          <p:cNvCxnSpPr/>
          <p:nvPr/>
        </p:nvCxnSpPr>
        <p:spPr>
          <a:xfrm>
            <a:off x="3474719" y="5433059"/>
            <a:ext cx="2301240" cy="0"/>
          </a:xfrm>
          <a:prstGeom prst="line">
            <a:avLst/>
          </a:prstGeom>
          <a:ln w="22859">
            <a:solidFill>
              <a:srgbClr val="BB71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deploy-2-accent-0" descr="Editable line; source id deploy-2-accent-0"/>
          <p:cNvCxnSpPr/>
          <p:nvPr/>
        </p:nvCxnSpPr>
        <p:spPr>
          <a:xfrm>
            <a:off x="6416039" y="5433059"/>
            <a:ext cx="2301240" cy="0"/>
          </a:xfrm>
          <a:prstGeom prst="line">
            <a:avLst/>
          </a:prstGeom>
          <a:ln w="22859">
            <a:solidFill>
              <a:srgbClr val="277D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deploy-3-accent-0" descr="Editable line; source id deploy-3-accent-0"/>
          <p:cNvCxnSpPr/>
          <p:nvPr/>
        </p:nvCxnSpPr>
        <p:spPr>
          <a:xfrm>
            <a:off x="9357359" y="5433059"/>
            <a:ext cx="2301240" cy="0"/>
          </a:xfrm>
          <a:prstGeom prst="line">
            <a:avLst/>
          </a:prstGeom>
          <a:ln w="22859">
            <a:solidFill>
              <a:srgbClr val="277D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deploy-arrow-0-0" descr="Editable line; source id deploy-arrow-0-0"/>
          <p:cNvSpPr/>
          <p:nvPr/>
        </p:nvSpPr>
        <p:spPr>
          <a:xfrm>
            <a:off x="3002280" y="5756910"/>
            <a:ext cx="304800" cy="83820"/>
          </a:xfrm>
          <a:custGeom>
            <a:avLst/>
            <a:gdLst/>
            <a:ahLst/>
            <a:cxnLst/>
            <a:rect l="l" t="t" r="r" b="b"/>
            <a:pathLst>
              <a:path w="40000" h="11000">
                <a:moveTo>
                  <a:pt x="0" y="4500"/>
                </a:moveTo>
                <a:lnTo>
                  <a:pt x="29000" y="4500"/>
                </a:lnTo>
                <a:lnTo>
                  <a:pt x="29000" y="0"/>
                </a:lnTo>
                <a:lnTo>
                  <a:pt x="40000" y="5500"/>
                </a:lnTo>
                <a:lnTo>
                  <a:pt x="29000" y="11000"/>
                </a:lnTo>
                <a:lnTo>
                  <a:pt x="29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27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eploy-arrow-1-0" descr="Editable line; source id deploy-arrow-1-0"/>
          <p:cNvSpPr/>
          <p:nvPr/>
        </p:nvSpPr>
        <p:spPr>
          <a:xfrm>
            <a:off x="5943600" y="5756910"/>
            <a:ext cx="304800" cy="83820"/>
          </a:xfrm>
          <a:custGeom>
            <a:avLst/>
            <a:gdLst/>
            <a:ahLst/>
            <a:cxnLst/>
            <a:rect l="l" t="t" r="r" b="b"/>
            <a:pathLst>
              <a:path w="40000" h="11000">
                <a:moveTo>
                  <a:pt x="0" y="4500"/>
                </a:moveTo>
                <a:lnTo>
                  <a:pt x="29000" y="4500"/>
                </a:lnTo>
                <a:lnTo>
                  <a:pt x="29000" y="0"/>
                </a:lnTo>
                <a:lnTo>
                  <a:pt x="40000" y="5500"/>
                </a:lnTo>
                <a:lnTo>
                  <a:pt x="29000" y="11000"/>
                </a:lnTo>
                <a:lnTo>
                  <a:pt x="29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27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eploy-arrow-2-0" descr="Editable line; source id deploy-arrow-2-0"/>
          <p:cNvSpPr/>
          <p:nvPr/>
        </p:nvSpPr>
        <p:spPr>
          <a:xfrm>
            <a:off x="8884920" y="5756910"/>
            <a:ext cx="304800" cy="83820"/>
          </a:xfrm>
          <a:custGeom>
            <a:avLst/>
            <a:gdLst/>
            <a:ahLst/>
            <a:cxnLst/>
            <a:rect l="l" t="t" r="r" b="b"/>
            <a:pathLst>
              <a:path w="40000" h="11000">
                <a:moveTo>
                  <a:pt x="0" y="4500"/>
                </a:moveTo>
                <a:lnTo>
                  <a:pt x="29000" y="4500"/>
                </a:lnTo>
                <a:lnTo>
                  <a:pt x="29000" y="0"/>
                </a:lnTo>
                <a:lnTo>
                  <a:pt x="40000" y="5500"/>
                </a:lnTo>
                <a:lnTo>
                  <a:pt x="29000" y="11000"/>
                </a:lnTo>
                <a:lnTo>
                  <a:pt x="29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27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return-0" descr="Editable line; source id return-0"/>
          <p:cNvCxnSpPr/>
          <p:nvPr/>
        </p:nvCxnSpPr>
        <p:spPr>
          <a:xfrm>
            <a:off x="10515599" y="6149339"/>
            <a:ext cx="0" cy="129540"/>
          </a:xfrm>
          <a:prstGeom prst="line">
            <a:avLst/>
          </a:prstGeom>
          <a:ln w="13715">
            <a:solidFill>
              <a:srgbClr val="277D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return-1" descr="Editable line; source id return-1"/>
          <p:cNvCxnSpPr/>
          <p:nvPr/>
        </p:nvCxnSpPr>
        <p:spPr>
          <a:xfrm flipH="1">
            <a:off x="1661159" y="6278879"/>
            <a:ext cx="8854440" cy="0"/>
          </a:xfrm>
          <a:prstGeom prst="line">
            <a:avLst/>
          </a:prstGeom>
          <a:ln w="13715">
            <a:solidFill>
              <a:srgbClr val="277D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turn-2" descr="Editable line; source id return-2"/>
          <p:cNvSpPr/>
          <p:nvPr/>
        </p:nvSpPr>
        <p:spPr>
          <a:xfrm>
            <a:off x="1619250" y="6149340"/>
            <a:ext cx="83820" cy="129540"/>
          </a:xfrm>
          <a:custGeom>
            <a:avLst/>
            <a:gdLst/>
            <a:ahLst/>
            <a:cxnLst/>
            <a:rect l="l" t="t" r="r" b="b"/>
            <a:pathLst>
              <a:path w="11000" h="17000">
                <a:moveTo>
                  <a:pt x="4600" y="17000"/>
                </a:moveTo>
                <a:lnTo>
                  <a:pt x="4600" y="11000"/>
                </a:lnTo>
                <a:lnTo>
                  <a:pt x="0" y="11000"/>
                </a:lnTo>
                <a:lnTo>
                  <a:pt x="5500" y="0"/>
                </a:lnTo>
                <a:lnTo>
                  <a:pt x="11000" y="11000"/>
                </a:lnTo>
                <a:lnTo>
                  <a:pt x="6400" y="11000"/>
                </a:lnTo>
                <a:lnTo>
                  <a:pt x="6400" y="17000"/>
                </a:lnTo>
                <a:close/>
              </a:path>
            </a:pathLst>
          </a:custGeom>
          <a:solidFill>
            <a:srgbClr val="27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footer-rule-0" descr="Editable line; source id footer-rule-0"/>
          <p:cNvCxnSpPr/>
          <p:nvPr/>
        </p:nvCxnSpPr>
        <p:spPr>
          <a:xfrm>
            <a:off x="365759" y="6400799"/>
            <a:ext cx="11460480" cy="0"/>
          </a:xfrm>
          <a:prstGeom prst="line">
            <a:avLst/>
          </a:prstGeom>
          <a:ln w="7619">
            <a:solidFill>
              <a:srgbClr val="D7E0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yebrow" descr="Editable text; source id eyebrow"/>
          <p:cNvSpPr txBox="1"/>
          <p:nvPr/>
        </p:nvSpPr>
        <p:spPr>
          <a:xfrm>
            <a:off x="365759" y="182879"/>
            <a:ext cx="11048999" cy="21335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17"/>
              </a:lnSpc>
              <a:spcBef>
                <a:spcPts val="0"/>
              </a:spcBef>
              <a:spcAft>
                <a:spcPts val="0"/>
              </a:spcAft>
              <a:defRPr sz="1319" b="1" i="0" lang="zh-CN" dirty="0">
                <a:solidFill>
                  <a:srgbClr val="277D7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19" b="1" i="0" lang="zh-CN" dirty="0">
                <a:solidFill>
                  <a:srgbClr val="277D79"/>
                </a:solidFill>
                <a:latin typeface="Liberation Sans"/>
                <a:ea typeface="Liberation Sans"/>
                <a:cs typeface="Liberation Sans"/>
              </a:rPr>
              <a:t>02 / IMPLEMENTED INTERFACES</a:t>
            </a:r>
          </a:p>
        </p:txBody>
      </p:sp>
      <p:sp>
        <p:nvSpPr>
          <p:cNvPr id="40" name="title" descr="Editable text; source id title"/>
          <p:cNvSpPr txBox="1"/>
          <p:nvPr/>
        </p:nvSpPr>
        <p:spPr>
          <a:xfrm>
            <a:off x="365759" y="480059"/>
            <a:ext cx="11277599" cy="4952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966"/>
              </a:lnSpc>
              <a:spcBef>
                <a:spcPts val="0"/>
              </a:spcBef>
              <a:spcAft>
                <a:spcPts val="0"/>
              </a:spcAft>
              <a:defRPr sz="257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7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rPr>
              <a:t>A consequence model trains the sampler—not the VLA</a:t>
            </a:r>
          </a:p>
        </p:txBody>
      </p:sp>
      <p:sp>
        <p:nvSpPr>
          <p:cNvPr id="41" name="subtitle" descr="Editable text; source id subtitle"/>
          <p:cNvSpPr txBox="1"/>
          <p:nvPr/>
        </p:nvSpPr>
        <p:spPr>
          <a:xfrm>
            <a:off x="365759" y="1043939"/>
            <a:ext cx="11277599" cy="32765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31"/>
              </a:lnSpc>
              <a:spcBef>
                <a:spcPts val="0"/>
              </a:spcBef>
              <a:spcAft>
                <a:spcPts val="0"/>
              </a:spcAft>
              <a:defRPr sz="167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7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rPr>
              <a:t>Separate feedback acquisition, offline learning, and closed-loop deployment.</a:t>
            </a:r>
          </a:p>
        </p:txBody>
      </p:sp>
      <p:sp>
        <p:nvSpPr>
          <p:cNvPr id="42" name="acquire-label" descr="Editable text; source id acquire-label"/>
          <p:cNvSpPr txBox="1"/>
          <p:nvPr/>
        </p:nvSpPr>
        <p:spPr>
          <a:xfrm>
            <a:off x="365759" y="1577339"/>
            <a:ext cx="1676399" cy="24383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86"/>
              </a:lnSpc>
              <a:spcBef>
                <a:spcPts val="0"/>
              </a:spcBef>
              <a:spcAft>
                <a:spcPts val="0"/>
              </a:spcAft>
              <a:defRPr sz="1379" b="1" i="0" lang="zh-CN" dirty="0">
                <a:solidFill>
                  <a:srgbClr val="357FA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79" b="1" i="0" lang="zh-CN" dirty="0">
                <a:solidFill>
                  <a:srgbClr val="357FA1"/>
                </a:solidFill>
                <a:latin typeface="Liberation Sans"/>
                <a:ea typeface="Liberation Sans"/>
                <a:cs typeface="Liberation Sans"/>
              </a:rPr>
              <a:t>ACQUIRE</a:t>
            </a:r>
          </a:p>
        </p:txBody>
      </p:sp>
      <p:sp>
        <p:nvSpPr>
          <p:cNvPr id="43" name="acquire-head-0" descr="Editable text; source id acquire-head-0"/>
          <p:cNvSpPr txBox="1"/>
          <p:nvPr/>
        </p:nvSpPr>
        <p:spPr>
          <a:xfrm>
            <a:off x="495299" y="2019299"/>
            <a:ext cx="2377439" cy="29717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31"/>
              </a:lnSpc>
              <a:spcBef>
                <a:spcPts val="0"/>
              </a:spcBef>
              <a:spcAft>
                <a:spcPts val="0"/>
              </a:spcAft>
              <a:defRPr sz="167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7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rPr>
              <a:t>Native candidates</a:t>
            </a:r>
          </a:p>
        </p:txBody>
      </p:sp>
      <p:sp>
        <p:nvSpPr>
          <p:cNvPr id="44" name="acquire-detail-0" descr="Editable text; source id acquire-detail-0"/>
          <p:cNvSpPr txBox="1"/>
          <p:nvPr/>
        </p:nvSpPr>
        <p:spPr>
          <a:xfrm>
            <a:off x="495299" y="2369819"/>
            <a:ext cx="2377439" cy="2285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55"/>
              </a:lnSpc>
              <a:spcBef>
                <a:spcPts val="0"/>
              </a:spcBef>
              <a:spcAft>
                <a:spcPts val="0"/>
              </a:spcAft>
              <a:defRPr sz="143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3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rPr>
              <a:t>K noise draws per context</a:t>
            </a:r>
          </a:p>
        </p:txBody>
      </p:sp>
      <p:sp>
        <p:nvSpPr>
          <p:cNvPr id="45" name="acquire-math-0" descr="Editable text; source id acquire-math-0"/>
          <p:cNvSpPr txBox="1"/>
          <p:nvPr/>
        </p:nvSpPr>
        <p:spPr>
          <a:xfrm>
            <a:off x="495299" y="2697479"/>
            <a:ext cx="2377439" cy="24383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9"/>
              </a:lnSpc>
              <a:spcBef>
                <a:spcPts val="0"/>
              </a:spcBef>
              <a:spcAft>
                <a:spcPts val="0"/>
              </a:spcAft>
              <a:defRPr sz="1559" b="0" i="0" lang="zh-CN" dirty="0">
                <a:solidFill>
                  <a:srgbClr val="153047"/>
                </a:solidFill>
                <a:latin typeface="DejaVu Sans"/>
                <a:ea typeface="DejaVu Sans"/>
                <a:cs typeface="DejaVu Sans"/>
              </a:defRPr>
            </a:pPr>
            <a:r>
              <a:rPr sz="1559" b="0" i="0" lang="zh-CN" dirty="0">
                <a:solidFill>
                  <a:srgbClr val="153047"/>
                </a:solidFill>
                <a:latin typeface="DejaVu Sans"/>
                <a:ea typeface="DejaVu Sans"/>
                <a:cs typeface="DejaVu Sans"/>
              </a:rPr>
              <a:t>z ∼ N(0, I)</a:t>
            </a:r>
          </a:p>
        </p:txBody>
      </p:sp>
      <p:sp>
        <p:nvSpPr>
          <p:cNvPr id="46" name="acquire-head-1" descr="Editable text; source id acquire-head-1"/>
          <p:cNvSpPr txBox="1"/>
          <p:nvPr/>
        </p:nvSpPr>
        <p:spPr>
          <a:xfrm>
            <a:off x="3436619" y="2019299"/>
            <a:ext cx="2377439" cy="29717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31"/>
              </a:lnSpc>
              <a:spcBef>
                <a:spcPts val="0"/>
              </a:spcBef>
              <a:spcAft>
                <a:spcPts val="0"/>
              </a:spcAft>
              <a:defRPr sz="167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7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rPr>
              <a:t>Candidate prefix</a:t>
            </a:r>
          </a:p>
        </p:txBody>
      </p:sp>
      <p:sp>
        <p:nvSpPr>
          <p:cNvPr id="47" name="acquire-detail-1" descr="Editable text; source id acquire-detail-1"/>
          <p:cNvSpPr txBox="1"/>
          <p:nvPr/>
        </p:nvSpPr>
        <p:spPr>
          <a:xfrm>
            <a:off x="3436619" y="2369819"/>
            <a:ext cx="2377439" cy="2285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55"/>
              </a:lnSpc>
              <a:spcBef>
                <a:spcPts val="0"/>
              </a:spcBef>
              <a:spcAft>
                <a:spcPts val="0"/>
              </a:spcAft>
              <a:defRPr sz="143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3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rPr>
              <a:t>Decode; execute 5 actions</a:t>
            </a:r>
          </a:p>
        </p:txBody>
      </p:sp>
      <p:sp>
        <p:nvSpPr>
          <p:cNvPr id="48" name="acquire-math-1" descr="Editable text; source id acquire-math-1"/>
          <p:cNvSpPr txBox="1"/>
          <p:nvPr/>
        </p:nvSpPr>
        <p:spPr>
          <a:xfrm>
            <a:off x="3436619" y="2697479"/>
            <a:ext cx="2377439" cy="24383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9"/>
              </a:lnSpc>
              <a:spcBef>
                <a:spcPts val="0"/>
              </a:spcBef>
              <a:spcAft>
                <a:spcPts val="0"/>
              </a:spcAft>
              <a:defRPr sz="1559" b="0" i="0" lang="zh-CN" dirty="0">
                <a:solidFill>
                  <a:srgbClr val="153047"/>
                </a:solidFill>
                <a:latin typeface="DejaVu Sans"/>
                <a:ea typeface="DejaVu Sans"/>
                <a:cs typeface="DejaVu Sans"/>
              </a:defRPr>
            </a:pPr>
            <a:r>
              <a:rPr sz="1559" b="0" i="0" lang="zh-CN" dirty="0">
                <a:solidFill>
                  <a:srgbClr val="153047"/>
                </a:solidFill>
                <a:latin typeface="DejaVu Sans"/>
                <a:ea typeface="DejaVu Sans"/>
                <a:cs typeface="DejaVu Sans"/>
              </a:rPr>
              <a:t>A = G₀(h, z)</a:t>
            </a:r>
          </a:p>
        </p:txBody>
      </p:sp>
      <p:sp>
        <p:nvSpPr>
          <p:cNvPr id="49" name="acquire-head-2" descr="Editable text; source id acquire-head-2"/>
          <p:cNvSpPr txBox="1"/>
          <p:nvPr/>
        </p:nvSpPr>
        <p:spPr>
          <a:xfrm>
            <a:off x="6377939" y="2019299"/>
            <a:ext cx="2377439" cy="29717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31"/>
              </a:lnSpc>
              <a:spcBef>
                <a:spcPts val="0"/>
              </a:spcBef>
              <a:spcAft>
                <a:spcPts val="0"/>
              </a:spcAft>
              <a:defRPr sz="167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7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rPr>
              <a:t>Native continuation</a:t>
            </a:r>
          </a:p>
        </p:txBody>
      </p:sp>
      <p:sp>
        <p:nvSpPr>
          <p:cNvPr id="50" name="acquire-detail-2" descr="Editable text; source id acquire-detail-2"/>
          <p:cNvSpPr txBox="1"/>
          <p:nvPr/>
        </p:nvSpPr>
        <p:spPr>
          <a:xfrm>
            <a:off x="6377939" y="2369819"/>
            <a:ext cx="2377439" cy="2285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55"/>
              </a:lnSpc>
              <a:spcBef>
                <a:spcPts val="0"/>
              </a:spcBef>
              <a:spcAft>
                <a:spcPts val="0"/>
              </a:spcAft>
              <a:defRPr sz="143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3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rPr>
              <a:t>Roll out to budget H</a:t>
            </a:r>
          </a:p>
        </p:txBody>
      </p:sp>
      <p:sp>
        <p:nvSpPr>
          <p:cNvPr id="51" name="acquire-math-2" descr="Editable text; source id acquire-math-2"/>
          <p:cNvSpPr txBox="1"/>
          <p:nvPr/>
        </p:nvSpPr>
        <p:spPr>
          <a:xfrm>
            <a:off x="6377939" y="2697479"/>
            <a:ext cx="2377439" cy="24383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9"/>
              </a:lnSpc>
              <a:spcBef>
                <a:spcPts val="0"/>
              </a:spcBef>
              <a:spcAft>
                <a:spcPts val="0"/>
              </a:spcAft>
              <a:defRPr sz="1559" b="0" i="0" lang="zh-CN" dirty="0">
                <a:solidFill>
                  <a:srgbClr val="153047"/>
                </a:solidFill>
                <a:latin typeface="DejaVu Sans"/>
                <a:ea typeface="DejaVu Sans"/>
                <a:cs typeface="DejaVu Sans"/>
              </a:defRPr>
            </a:pPr>
            <a:r>
              <a:rPr sz="1559" b="0" i="0" lang="zh-CN" dirty="0">
                <a:solidFill>
                  <a:srgbClr val="153047"/>
                </a:solidFill>
                <a:latin typeface="DejaVu Sans"/>
                <a:ea typeface="DejaVu Sans"/>
                <a:cs typeface="DejaVu Sans"/>
              </a:rPr>
              <a:t>Same frozen student</a:t>
            </a:r>
          </a:p>
        </p:txBody>
      </p:sp>
      <p:sp>
        <p:nvSpPr>
          <p:cNvPr id="52" name="acquire-head-3" descr="Editable text; source id acquire-head-3"/>
          <p:cNvSpPr txBox="1"/>
          <p:nvPr/>
        </p:nvSpPr>
        <p:spPr>
          <a:xfrm>
            <a:off x="9319259" y="2019299"/>
            <a:ext cx="2377439" cy="29717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31"/>
              </a:lnSpc>
              <a:spcBef>
                <a:spcPts val="0"/>
              </a:spcBef>
              <a:spcAft>
                <a:spcPts val="0"/>
              </a:spcAft>
              <a:defRPr sz="167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7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rPr>
              <a:t>Scored records</a:t>
            </a:r>
          </a:p>
        </p:txBody>
      </p:sp>
      <p:sp>
        <p:nvSpPr>
          <p:cNvPr id="53" name="acquire-detail-3" descr="Editable text; source id acquire-detail-3"/>
          <p:cNvSpPr txBox="1"/>
          <p:nvPr/>
        </p:nvSpPr>
        <p:spPr>
          <a:xfrm>
            <a:off x="9319259" y="2369819"/>
            <a:ext cx="2377439" cy="2285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55"/>
              </a:lnSpc>
              <a:spcBef>
                <a:spcPts val="0"/>
              </a:spcBef>
              <a:spcAft>
                <a:spcPts val="0"/>
              </a:spcAft>
              <a:defRPr sz="143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3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rPr>
              <a:t>M repeats per candidate</a:t>
            </a:r>
          </a:p>
        </p:txBody>
      </p:sp>
      <p:sp>
        <p:nvSpPr>
          <p:cNvPr id="54" name="acquire-math-3" descr="Editable text; source id acquire-math-3"/>
          <p:cNvSpPr txBox="1"/>
          <p:nvPr/>
        </p:nvSpPr>
        <p:spPr>
          <a:xfrm>
            <a:off x="9319259" y="2697479"/>
            <a:ext cx="2377439" cy="24383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9"/>
              </a:lnSpc>
              <a:spcBef>
                <a:spcPts val="0"/>
              </a:spcBef>
              <a:spcAft>
                <a:spcPts val="0"/>
              </a:spcAft>
              <a:defRPr sz="1559" b="0" i="0" lang="zh-CN" dirty="0">
                <a:solidFill>
                  <a:srgbClr val="153047"/>
                </a:solidFill>
                <a:latin typeface="DejaVu Sans"/>
                <a:ea typeface="DejaVu Sans"/>
                <a:cs typeface="DejaVu Sans"/>
              </a:defRPr>
            </a:pPr>
            <a:r>
              <a:rPr sz="1559" b="0" i="0" lang="zh-CN" dirty="0">
                <a:solidFill>
                  <a:srgbClr val="153047"/>
                </a:solidFill>
                <a:latin typeface="DejaVu Sans"/>
                <a:ea typeface="DejaVu Sans"/>
                <a:cs typeface="DejaVu Sans"/>
              </a:rPr>
              <a:t>(h, z, score)</a:t>
            </a:r>
          </a:p>
        </p:txBody>
      </p:sp>
      <p:sp>
        <p:nvSpPr>
          <p:cNvPr id="55" name="offline-label" descr="Editable text; source id offline-label"/>
          <p:cNvSpPr txBox="1"/>
          <p:nvPr/>
        </p:nvSpPr>
        <p:spPr>
          <a:xfrm>
            <a:off x="365759" y="3291839"/>
            <a:ext cx="1904999" cy="24383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86"/>
              </a:lnSpc>
              <a:spcBef>
                <a:spcPts val="0"/>
              </a:spcBef>
              <a:spcAft>
                <a:spcPts val="0"/>
              </a:spcAft>
              <a:defRPr sz="1379" b="1" i="0" lang="zh-CN" dirty="0">
                <a:solidFill>
                  <a:srgbClr val="BB711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79" b="1" i="0" lang="zh-CN" dirty="0">
                <a:solidFill>
                  <a:srgbClr val="BB711C"/>
                </a:solidFill>
                <a:latin typeface="Liberation Sans"/>
                <a:ea typeface="Liberation Sans"/>
                <a:cs typeface="Liberation Sans"/>
              </a:rPr>
              <a:t>LEARN OFFLINE</a:t>
            </a:r>
          </a:p>
        </p:txBody>
      </p:sp>
      <p:sp>
        <p:nvSpPr>
          <p:cNvPr id="56" name="critic-heading" descr="Editable text; source id critic-heading"/>
          <p:cNvSpPr txBox="1"/>
          <p:nvPr/>
        </p:nvSpPr>
        <p:spPr>
          <a:xfrm>
            <a:off x="541019" y="3703319"/>
            <a:ext cx="4053839" cy="28193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31"/>
              </a:lnSpc>
              <a:spcBef>
                <a:spcPts val="0"/>
              </a:spcBef>
              <a:spcAft>
                <a:spcPts val="0"/>
              </a:spcAft>
              <a:defRPr sz="167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7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rPr>
              <a:t>Value under native continuation</a:t>
            </a:r>
          </a:p>
        </p:txBody>
      </p:sp>
      <p:sp>
        <p:nvSpPr>
          <p:cNvPr id="57" name="target" descr="Editable text; source id target"/>
          <p:cNvSpPr txBox="1"/>
          <p:nvPr/>
        </p:nvSpPr>
        <p:spPr>
          <a:xfrm>
            <a:off x="556259" y="4076699"/>
            <a:ext cx="4030979" cy="35051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459"/>
              </a:lnSpc>
              <a:spcBef>
                <a:spcPts val="0"/>
              </a:spcBef>
              <a:spcAft>
                <a:spcPts val="0"/>
              </a:spcAft>
              <a:defRPr sz="2099" b="0" i="0" lang="zh-CN" dirty="0">
                <a:solidFill>
                  <a:srgbClr val="153047"/>
                </a:solidFill>
                <a:latin typeface="DejaVu Sans"/>
                <a:ea typeface="DejaVu Sans"/>
                <a:cs typeface="DejaVu Sans"/>
              </a:defRPr>
            </a:pPr>
            <a:r>
              <a:rPr sz="2099" b="0" i="0" lang="zh-CN" dirty="0">
                <a:solidFill>
                  <a:srgbClr val="153047"/>
                </a:solidFill>
                <a:latin typeface="DejaVu Sans"/>
                <a:ea typeface="DejaVu Sans"/>
                <a:cs typeface="DejaVu Sans"/>
              </a:rPr>
              <a:t>q* ∝ ρ₀ · exp(Q̂ / λ)</a:t>
            </a:r>
          </a:p>
        </p:txBody>
      </p:sp>
      <p:sp>
        <p:nvSpPr>
          <p:cNvPr id="58" name="critic-note" descr="Editable text; source id critic-note"/>
          <p:cNvSpPr txBox="1"/>
          <p:nvPr/>
        </p:nvSpPr>
        <p:spPr>
          <a:xfrm>
            <a:off x="541019" y="4495799"/>
            <a:ext cx="4061459" cy="2285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17"/>
              </a:lnSpc>
              <a:spcBef>
                <a:spcPts val="0"/>
              </a:spcBef>
              <a:spcAft>
                <a:spcPts val="0"/>
              </a:spcAft>
              <a:defRPr sz="131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1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rPr>
              <a:t>Frozen decoder; feedback reshapes its latent input.</a:t>
            </a:r>
          </a:p>
        </p:txBody>
      </p:sp>
      <p:sp>
        <p:nvSpPr>
          <p:cNvPr id="59" name="gradient" descr="Editable text; source id gradient"/>
          <p:cNvSpPr txBox="1"/>
          <p:nvPr/>
        </p:nvSpPr>
        <p:spPr>
          <a:xfrm>
            <a:off x="4937759" y="3680459"/>
            <a:ext cx="1866899" cy="27431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24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BB711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99" b="0" i="0" lang="zh-CN" dirty="0">
                <a:solidFill>
                  <a:srgbClr val="BB711C"/>
                </a:solidFill>
                <a:latin typeface="Liberation Sans"/>
                <a:ea typeface="Liberation Sans"/>
                <a:cs typeface="Liberation Sans"/>
              </a:rPr>
              <a:t>Value gradient</a:t>
            </a:r>
          </a:p>
        </p:txBody>
      </p:sp>
      <p:sp>
        <p:nvSpPr>
          <p:cNvPr id="60" name="sampler-heading" descr="Editable text; source id sampler-heading"/>
          <p:cNvSpPr txBox="1"/>
          <p:nvPr/>
        </p:nvSpPr>
        <p:spPr>
          <a:xfrm>
            <a:off x="7261859" y="3703319"/>
            <a:ext cx="4381499" cy="28193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31"/>
              </a:lnSpc>
              <a:spcBef>
                <a:spcPts val="0"/>
              </a:spcBef>
              <a:spcAft>
                <a:spcPts val="0"/>
              </a:spcAft>
              <a:defRPr sz="1679" b="1" i="0" lang="zh-CN" dirty="0">
                <a:solidFill>
                  <a:srgbClr val="BB711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79" b="1" i="0" lang="zh-CN" dirty="0">
                <a:solidFill>
                  <a:srgbClr val="BB711C"/>
                </a:solidFill>
                <a:latin typeface="Liberation Sans"/>
                <a:ea typeface="Liberation Sans"/>
                <a:cs typeface="Liberation Sans"/>
              </a:rPr>
              <a:t>Point-source adjoint matching</a:t>
            </a:r>
          </a:p>
        </p:txBody>
      </p:sp>
      <p:sp>
        <p:nvSpPr>
          <p:cNvPr id="61" name="sampler-equation" descr="Editable text; source id sampler-equation"/>
          <p:cNvSpPr txBox="1"/>
          <p:nvPr/>
        </p:nvSpPr>
        <p:spPr>
          <a:xfrm>
            <a:off x="7269479" y="4076699"/>
            <a:ext cx="4381499" cy="32765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89"/>
              </a:lnSpc>
              <a:spcBef>
                <a:spcPts val="0"/>
              </a:spcBef>
              <a:spcAft>
                <a:spcPts val="0"/>
              </a:spcAft>
              <a:defRPr sz="1859" b="0" i="0" lang="zh-CN" dirty="0">
                <a:solidFill>
                  <a:srgbClr val="153047"/>
                </a:solidFill>
                <a:latin typeface="DejaVu Sans"/>
                <a:ea typeface="DejaVu Sans"/>
                <a:cs typeface="DejaVu Sans"/>
              </a:defRPr>
            </a:pPr>
            <a:r>
              <a:rPr sz="1859" b="0" i="0" lang="zh-CN" dirty="0">
                <a:solidFill>
                  <a:srgbClr val="153047"/>
                </a:solidFill>
                <a:latin typeface="DejaVu Sans"/>
                <a:ea typeface="DejaVu Sans"/>
                <a:cs typeface="DejaVu Sans"/>
              </a:rPr>
              <a:t>dZ = uη ds + dW;  Z₀ = 0</a:t>
            </a:r>
          </a:p>
        </p:txBody>
      </p:sp>
      <p:sp>
        <p:nvSpPr>
          <p:cNvPr id="62" name="sampler-note" descr="Editable text; source id sampler-note"/>
          <p:cNvSpPr txBox="1"/>
          <p:nvPr/>
        </p:nvSpPr>
        <p:spPr>
          <a:xfrm>
            <a:off x="7261859" y="4495799"/>
            <a:ext cx="4411979" cy="2285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17"/>
              </a:lnSpc>
              <a:spcBef>
                <a:spcPts val="0"/>
              </a:spcBef>
              <a:spcAft>
                <a:spcPts val="0"/>
              </a:spcAft>
              <a:defRPr sz="131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1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rPr>
              <a:t>Zero drift → N(0,I) endpoint; learned drift → proposal.</a:t>
            </a:r>
          </a:p>
        </p:txBody>
      </p:sp>
      <p:sp>
        <p:nvSpPr>
          <p:cNvPr id="63" name="deploy-label" descr="Editable text; source id deploy-label"/>
          <p:cNvSpPr txBox="1"/>
          <p:nvPr/>
        </p:nvSpPr>
        <p:spPr>
          <a:xfrm>
            <a:off x="365759" y="5029199"/>
            <a:ext cx="1676399" cy="2285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86"/>
              </a:lnSpc>
              <a:spcBef>
                <a:spcPts val="0"/>
              </a:spcBef>
              <a:spcAft>
                <a:spcPts val="0"/>
              </a:spcAft>
              <a:defRPr sz="1379" b="1" i="0" lang="zh-CN" dirty="0">
                <a:solidFill>
                  <a:srgbClr val="277D7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79" b="1" i="0" lang="zh-CN" dirty="0">
                <a:solidFill>
                  <a:srgbClr val="277D79"/>
                </a:solidFill>
                <a:latin typeface="Liberation Sans"/>
                <a:ea typeface="Liberation Sans"/>
                <a:cs typeface="Liberation Sans"/>
              </a:rPr>
              <a:t>DEPLOY</a:t>
            </a:r>
          </a:p>
        </p:txBody>
      </p:sp>
      <p:sp>
        <p:nvSpPr>
          <p:cNvPr id="64" name="deploy-head-0" descr="Editable text; source id deploy-head-0"/>
          <p:cNvSpPr txBox="1"/>
          <p:nvPr/>
        </p:nvSpPr>
        <p:spPr>
          <a:xfrm>
            <a:off x="495299" y="5455919"/>
            <a:ext cx="2377439" cy="28193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31"/>
              </a:lnSpc>
              <a:spcBef>
                <a:spcPts val="0"/>
              </a:spcBef>
              <a:spcAft>
                <a:spcPts val="0"/>
              </a:spcAft>
              <a:defRPr sz="167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7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rPr>
              <a:t>Context h</a:t>
            </a:r>
          </a:p>
        </p:txBody>
      </p:sp>
      <p:sp>
        <p:nvSpPr>
          <p:cNvPr id="65" name="deploy-detail-0" descr="Editable text; source id deploy-detail-0"/>
          <p:cNvSpPr txBox="1"/>
          <p:nvPr/>
        </p:nvSpPr>
        <p:spPr>
          <a:xfrm>
            <a:off x="495299" y="5783579"/>
            <a:ext cx="2377439" cy="2285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55"/>
              </a:lnSpc>
              <a:spcBef>
                <a:spcPts val="0"/>
              </a:spcBef>
              <a:spcAft>
                <a:spcPts val="0"/>
              </a:spcAft>
              <a:defRPr sz="143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3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rPr>
              <a:t>Vision + proprioception</a:t>
            </a:r>
          </a:p>
        </p:txBody>
      </p:sp>
      <p:sp>
        <p:nvSpPr>
          <p:cNvPr id="66" name="deploy-head-1" descr="Editable text; source id deploy-head-1"/>
          <p:cNvSpPr txBox="1"/>
          <p:nvPr/>
        </p:nvSpPr>
        <p:spPr>
          <a:xfrm>
            <a:off x="3436619" y="5455919"/>
            <a:ext cx="2377439" cy="28193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31"/>
              </a:lnSpc>
              <a:spcBef>
                <a:spcPts val="0"/>
              </a:spcBef>
              <a:spcAft>
                <a:spcPts val="0"/>
              </a:spcAft>
              <a:defRPr sz="167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7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rPr>
              <a:t>ASBS proposer</a:t>
            </a:r>
          </a:p>
        </p:txBody>
      </p:sp>
      <p:sp>
        <p:nvSpPr>
          <p:cNvPr id="67" name="deploy-detail-1" descr="Editable text; source id deploy-detail-1"/>
          <p:cNvSpPr txBox="1"/>
          <p:nvPr/>
        </p:nvSpPr>
        <p:spPr>
          <a:xfrm>
            <a:off x="3436619" y="5783579"/>
            <a:ext cx="2377439" cy="2285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55"/>
              </a:lnSpc>
              <a:spcBef>
                <a:spcPts val="0"/>
              </a:spcBef>
              <a:spcAft>
                <a:spcPts val="0"/>
              </a:spcAft>
              <a:defRPr sz="143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3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rPr>
              <a:t>100 drift steps</a:t>
            </a:r>
          </a:p>
        </p:txBody>
      </p:sp>
      <p:sp>
        <p:nvSpPr>
          <p:cNvPr id="68" name="deploy-head-2" descr="Editable text; source id deploy-head-2"/>
          <p:cNvSpPr txBox="1"/>
          <p:nvPr/>
        </p:nvSpPr>
        <p:spPr>
          <a:xfrm>
            <a:off x="6377939" y="5455919"/>
            <a:ext cx="2377439" cy="28193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31"/>
              </a:lnSpc>
              <a:spcBef>
                <a:spcPts val="0"/>
              </a:spcBef>
              <a:spcAft>
                <a:spcPts val="0"/>
              </a:spcAft>
              <a:defRPr sz="167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7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rPr>
              <a:t>Frozen VLA</a:t>
            </a:r>
          </a:p>
        </p:txBody>
      </p:sp>
      <p:sp>
        <p:nvSpPr>
          <p:cNvPr id="69" name="deploy-detail-2" descr="Editable text; source id deploy-detail-2"/>
          <p:cNvSpPr txBox="1"/>
          <p:nvPr/>
        </p:nvSpPr>
        <p:spPr>
          <a:xfrm>
            <a:off x="6377939" y="5783579"/>
            <a:ext cx="2377439" cy="2285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55"/>
              </a:lnSpc>
              <a:spcBef>
                <a:spcPts val="0"/>
              </a:spcBef>
              <a:spcAft>
                <a:spcPts val="0"/>
              </a:spcAft>
              <a:defRPr sz="143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3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rPr>
              <a:t>+ Images and instruction</a:t>
            </a:r>
          </a:p>
        </p:txBody>
      </p:sp>
      <p:sp>
        <p:nvSpPr>
          <p:cNvPr id="70" name="deploy-head-3" descr="Editable text; source id deploy-head-3"/>
          <p:cNvSpPr txBox="1"/>
          <p:nvPr/>
        </p:nvSpPr>
        <p:spPr>
          <a:xfrm>
            <a:off x="9319259" y="5455919"/>
            <a:ext cx="2377439" cy="28193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31"/>
              </a:lnSpc>
              <a:spcBef>
                <a:spcPts val="0"/>
              </a:spcBef>
              <a:spcAft>
                <a:spcPts val="0"/>
              </a:spcAft>
              <a:defRPr sz="167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7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rPr>
              <a:t>Execute prefix</a:t>
            </a:r>
          </a:p>
        </p:txBody>
      </p:sp>
      <p:sp>
        <p:nvSpPr>
          <p:cNvPr id="71" name="deploy-detail-3" descr="Editable text; source id deploy-detail-3"/>
          <p:cNvSpPr txBox="1"/>
          <p:nvPr/>
        </p:nvSpPr>
        <p:spPr>
          <a:xfrm>
            <a:off x="9319259" y="5783579"/>
            <a:ext cx="2377439" cy="2285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55"/>
              </a:lnSpc>
              <a:spcBef>
                <a:spcPts val="0"/>
              </a:spcBef>
              <a:spcAft>
                <a:spcPts val="0"/>
              </a:spcAft>
              <a:defRPr sz="143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3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rPr>
              <a:t>5 actions; re-observe</a:t>
            </a:r>
          </a:p>
        </p:txBody>
      </p:sp>
      <p:sp>
        <p:nvSpPr>
          <p:cNvPr id="72" name="footer" descr="Editable text; source id footer"/>
          <p:cNvSpPr txBox="1"/>
          <p:nvPr/>
        </p:nvSpPr>
        <p:spPr>
          <a:xfrm>
            <a:off x="365759" y="6492239"/>
            <a:ext cx="11353799" cy="23621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86"/>
              </a:lnSpc>
              <a:spcBef>
                <a:spcPts val="0"/>
              </a:spcBef>
              <a:spcAft>
                <a:spcPts val="0"/>
              </a:spcAft>
              <a:defRPr sz="137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7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rPr>
              <a:t>H and M are versioned acquisition settings. Native-continuation value does not guarantee repeated-use improvement.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mpare-0" descr="Editable shape; source id compare-0"/>
          <p:cNvSpPr/>
          <p:nvPr/>
        </p:nvSpPr>
        <p:spPr>
          <a:xfrm>
            <a:off x="365759" y="1668779"/>
            <a:ext cx="3657599" cy="31013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29">
            <a:solidFill>
              <a:srgbClr val="D9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mpare-1" descr="Editable shape; source id compare-1"/>
          <p:cNvSpPr/>
          <p:nvPr/>
        </p:nvSpPr>
        <p:spPr>
          <a:xfrm>
            <a:off x="4267199" y="1668779"/>
            <a:ext cx="3657599" cy="31013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29">
            <a:solidFill>
              <a:srgbClr val="D9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mpare-2" descr="Editable shape; source id compare-2"/>
          <p:cNvSpPr/>
          <p:nvPr/>
        </p:nvSpPr>
        <p:spPr>
          <a:xfrm>
            <a:off x="8168639" y="1668779"/>
            <a:ext cx="3657599" cy="31013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29">
            <a:solidFill>
              <a:srgbClr val="D9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mpare-0-accent-0" descr="Editable line; source id compare-0-accent-0"/>
          <p:cNvCxnSpPr/>
          <p:nvPr/>
        </p:nvCxnSpPr>
        <p:spPr>
          <a:xfrm>
            <a:off x="533399" y="1684019"/>
            <a:ext cx="3322320" cy="0"/>
          </a:xfrm>
          <a:prstGeom prst="line">
            <a:avLst/>
          </a:prstGeom>
          <a:ln w="22859">
            <a:solidFill>
              <a:srgbClr val="357FA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mpare-1-accent-0" descr="Editable line; source id compare-1-accent-0"/>
          <p:cNvCxnSpPr/>
          <p:nvPr/>
        </p:nvCxnSpPr>
        <p:spPr>
          <a:xfrm>
            <a:off x="4434839" y="1684019"/>
            <a:ext cx="3322320" cy="0"/>
          </a:xfrm>
          <a:prstGeom prst="line">
            <a:avLst/>
          </a:prstGeom>
          <a:ln w="22859">
            <a:solidFill>
              <a:srgbClr val="357FA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mpare-2-accent-0" descr="Editable line; source id compare-2-accent-0"/>
          <p:cNvCxnSpPr/>
          <p:nvPr/>
        </p:nvCxnSpPr>
        <p:spPr>
          <a:xfrm>
            <a:off x="8336279" y="1684019"/>
            <a:ext cx="3322320" cy="0"/>
          </a:xfrm>
          <a:prstGeom prst="line">
            <a:avLst/>
          </a:prstGeom>
          <a:ln w="22859">
            <a:solidFill>
              <a:srgbClr val="BB71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mpare-down-0-0" descr="Editable line; source id compare-down-0-0"/>
          <p:cNvSpPr/>
          <p:nvPr/>
        </p:nvSpPr>
        <p:spPr>
          <a:xfrm>
            <a:off x="2152650" y="2834640"/>
            <a:ext cx="83820" cy="304800"/>
          </a:xfrm>
          <a:custGeom>
            <a:avLst/>
            <a:gdLst/>
            <a:ahLst/>
            <a:cxnLst/>
            <a:rect l="l" t="t" r="r" b="b"/>
            <a:pathLst>
              <a:path w="11000" h="40000">
                <a:moveTo>
                  <a:pt x="6750" y="0"/>
                </a:moveTo>
                <a:lnTo>
                  <a:pt x="6750" y="29000"/>
                </a:lnTo>
                <a:lnTo>
                  <a:pt x="11000" y="29000"/>
                </a:lnTo>
                <a:lnTo>
                  <a:pt x="5500" y="40000"/>
                </a:lnTo>
                <a:lnTo>
                  <a:pt x="0" y="29000"/>
                </a:lnTo>
                <a:lnTo>
                  <a:pt x="4250" y="29000"/>
                </a:lnTo>
                <a:lnTo>
                  <a:pt x="4250" y="0"/>
                </a:lnTo>
                <a:close/>
              </a:path>
            </a:pathLst>
          </a:custGeom>
          <a:solidFill>
            <a:srgbClr val="357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mpare-down-1-0" descr="Editable line; source id compare-down-1-0"/>
          <p:cNvSpPr/>
          <p:nvPr/>
        </p:nvSpPr>
        <p:spPr>
          <a:xfrm>
            <a:off x="6054090" y="2834640"/>
            <a:ext cx="83820" cy="304800"/>
          </a:xfrm>
          <a:custGeom>
            <a:avLst/>
            <a:gdLst/>
            <a:ahLst/>
            <a:cxnLst/>
            <a:rect l="l" t="t" r="r" b="b"/>
            <a:pathLst>
              <a:path w="11000" h="40000">
                <a:moveTo>
                  <a:pt x="6750" y="0"/>
                </a:moveTo>
                <a:lnTo>
                  <a:pt x="6750" y="29000"/>
                </a:lnTo>
                <a:lnTo>
                  <a:pt x="11000" y="29000"/>
                </a:lnTo>
                <a:lnTo>
                  <a:pt x="5500" y="40000"/>
                </a:lnTo>
                <a:lnTo>
                  <a:pt x="0" y="29000"/>
                </a:lnTo>
                <a:lnTo>
                  <a:pt x="4250" y="29000"/>
                </a:lnTo>
                <a:lnTo>
                  <a:pt x="4250" y="0"/>
                </a:lnTo>
                <a:close/>
              </a:path>
            </a:pathLst>
          </a:custGeom>
          <a:solidFill>
            <a:srgbClr val="357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mpare-down-2-0" descr="Editable line; source id compare-down-2-0"/>
          <p:cNvSpPr/>
          <p:nvPr/>
        </p:nvSpPr>
        <p:spPr>
          <a:xfrm>
            <a:off x="9955530" y="2834640"/>
            <a:ext cx="83820" cy="304800"/>
          </a:xfrm>
          <a:custGeom>
            <a:avLst/>
            <a:gdLst/>
            <a:ahLst/>
            <a:cxnLst/>
            <a:rect l="l" t="t" r="r" b="b"/>
            <a:pathLst>
              <a:path w="11000" h="40000">
                <a:moveTo>
                  <a:pt x="6750" y="0"/>
                </a:moveTo>
                <a:lnTo>
                  <a:pt x="6750" y="29000"/>
                </a:lnTo>
                <a:lnTo>
                  <a:pt x="11000" y="29000"/>
                </a:lnTo>
                <a:lnTo>
                  <a:pt x="5500" y="40000"/>
                </a:lnTo>
                <a:lnTo>
                  <a:pt x="0" y="29000"/>
                </a:lnTo>
                <a:lnTo>
                  <a:pt x="4250" y="29000"/>
                </a:lnTo>
                <a:lnTo>
                  <a:pt x="4250" y="0"/>
                </a:lnTo>
                <a:close/>
              </a:path>
            </a:pathLst>
          </a:custGeom>
          <a:solidFill>
            <a:srgbClr val="BB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footer-rule-0" descr="Editable line; source id footer-rule-0"/>
          <p:cNvCxnSpPr/>
          <p:nvPr/>
        </p:nvCxnSpPr>
        <p:spPr>
          <a:xfrm>
            <a:off x="365759" y="6400799"/>
            <a:ext cx="11460480" cy="0"/>
          </a:xfrm>
          <a:prstGeom prst="line">
            <a:avLst/>
          </a:prstGeom>
          <a:ln w="7619">
            <a:solidFill>
              <a:srgbClr val="D7E0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yebrow" descr="Editable text; source id eyebrow"/>
          <p:cNvSpPr txBox="1"/>
          <p:nvPr/>
        </p:nvSpPr>
        <p:spPr>
          <a:xfrm>
            <a:off x="365759" y="182879"/>
            <a:ext cx="11048999" cy="21335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17"/>
              </a:lnSpc>
              <a:spcBef>
                <a:spcPts val="0"/>
              </a:spcBef>
              <a:spcAft>
                <a:spcPts val="0"/>
              </a:spcAft>
              <a:defRPr sz="1319" b="1" i="0" lang="zh-CN" dirty="0">
                <a:solidFill>
                  <a:srgbClr val="277D7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19" b="1" i="0" lang="zh-CN" dirty="0">
                <a:solidFill>
                  <a:srgbClr val="277D79"/>
                </a:solidFill>
                <a:latin typeface="Liberation Sans"/>
                <a:ea typeface="Liberation Sans"/>
                <a:cs typeface="Liberation Sans"/>
              </a:rPr>
              <a:t>03 / WHY THIS SUPERVISION INTERFACE</a:t>
            </a:r>
          </a:p>
        </p:txBody>
      </p:sp>
      <p:sp>
        <p:nvSpPr>
          <p:cNvPr id="13" name="title" descr="Editable text; source id title"/>
          <p:cNvSpPr txBox="1"/>
          <p:nvPr/>
        </p:nvSpPr>
        <p:spPr>
          <a:xfrm>
            <a:off x="365759" y="480059"/>
            <a:ext cx="11277599" cy="4952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966"/>
              </a:lnSpc>
              <a:spcBef>
                <a:spcPts val="0"/>
              </a:spcBef>
              <a:spcAft>
                <a:spcPts val="0"/>
              </a:spcAft>
              <a:defRPr sz="257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7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rPr>
              <a:t>Learn from consequences, without a target action dataset</a:t>
            </a:r>
          </a:p>
        </p:txBody>
      </p:sp>
      <p:sp>
        <p:nvSpPr>
          <p:cNvPr id="14" name="subtitle" descr="Editable text; source id subtitle"/>
          <p:cNvSpPr txBox="1"/>
          <p:nvPr/>
        </p:nvSpPr>
        <p:spPr>
          <a:xfrm>
            <a:off x="365759" y="1043939"/>
            <a:ext cx="11277599" cy="32765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31"/>
              </a:lnSpc>
              <a:spcBef>
                <a:spcPts val="0"/>
              </a:spcBef>
              <a:spcAft>
                <a:spcPts val="0"/>
              </a:spcAft>
              <a:defRPr sz="167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7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rPr>
              <a:t>The distinction is the training signal—not a claim that ASBS beats every diffusion or flow method.</a:t>
            </a:r>
          </a:p>
        </p:txBody>
      </p:sp>
      <p:sp>
        <p:nvSpPr>
          <p:cNvPr id="15" name="head-0" descr="Editable text; source id head-0"/>
          <p:cNvSpPr txBox="1"/>
          <p:nvPr/>
        </p:nvSpPr>
        <p:spPr>
          <a:xfrm>
            <a:off x="533399" y="1813559"/>
            <a:ext cx="3322319" cy="35051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31"/>
              </a:lnSpc>
              <a:spcBef>
                <a:spcPts val="0"/>
              </a:spcBef>
              <a:spcAft>
                <a:spcPts val="0"/>
              </a:spcAft>
              <a:defRPr sz="167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7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rPr>
              <a:t>Sample-trained diffusion</a:t>
            </a:r>
          </a:p>
        </p:txBody>
      </p:sp>
      <p:sp>
        <p:nvSpPr>
          <p:cNvPr id="16" name="head-1" descr="Editable text; source id head-1"/>
          <p:cNvSpPr txBox="1"/>
          <p:nvPr/>
        </p:nvSpPr>
        <p:spPr>
          <a:xfrm>
            <a:off x="4434839" y="1813559"/>
            <a:ext cx="3322319" cy="35051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31"/>
              </a:lnSpc>
              <a:spcBef>
                <a:spcPts val="0"/>
              </a:spcBef>
              <a:spcAft>
                <a:spcPts val="0"/>
              </a:spcAft>
              <a:defRPr sz="167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7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rPr>
              <a:t>Sample-trained flow matching</a:t>
            </a:r>
          </a:p>
        </p:txBody>
      </p:sp>
      <p:sp>
        <p:nvSpPr>
          <p:cNvPr id="17" name="head-2" descr="Editable text; source id head-2"/>
          <p:cNvSpPr txBox="1"/>
          <p:nvPr/>
        </p:nvSpPr>
        <p:spPr>
          <a:xfrm>
            <a:off x="8336279" y="1813559"/>
            <a:ext cx="3322319" cy="35051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31"/>
              </a:lnSpc>
              <a:spcBef>
                <a:spcPts val="0"/>
              </a:spcBef>
              <a:spcAft>
                <a:spcPts val="0"/>
              </a:spcAft>
              <a:defRPr sz="1679" b="1" i="0" lang="zh-CN" dirty="0">
                <a:solidFill>
                  <a:srgbClr val="BB711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79" b="1" i="0" lang="zh-CN" dirty="0">
                <a:solidFill>
                  <a:srgbClr val="BB711C"/>
                </a:solidFill>
                <a:latin typeface="Liberation Sans"/>
                <a:ea typeface="Liberation Sans"/>
                <a:cs typeface="Liberation Sans"/>
              </a:rPr>
              <a:t>Our ASBS instance</a:t>
            </a:r>
          </a:p>
        </p:txBody>
      </p:sp>
      <p:sp>
        <p:nvSpPr>
          <p:cNvPr id="18" name="diff-data" descr="Editable text; source id diff-data"/>
          <p:cNvSpPr txBox="1"/>
          <p:nvPr/>
        </p:nvSpPr>
        <p:spPr>
          <a:xfrm>
            <a:off x="586739" y="2369819"/>
            <a:ext cx="3200399" cy="33527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07"/>
              </a:lnSpc>
              <a:spcBef>
                <a:spcPts val="0"/>
              </a:spcBef>
              <a:spcAft>
                <a:spcPts val="0"/>
              </a:spcAft>
              <a:defRPr sz="191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1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rPr>
              <a:t>Target samples</a:t>
            </a:r>
          </a:p>
        </p:txBody>
      </p:sp>
      <p:sp>
        <p:nvSpPr>
          <p:cNvPr id="19" name="flow-data" descr="Editable text; source id flow-data"/>
          <p:cNvSpPr txBox="1"/>
          <p:nvPr/>
        </p:nvSpPr>
        <p:spPr>
          <a:xfrm>
            <a:off x="4488179" y="2369819"/>
            <a:ext cx="3200399" cy="33527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07"/>
              </a:lnSpc>
              <a:spcBef>
                <a:spcPts val="0"/>
              </a:spcBef>
              <a:spcAft>
                <a:spcPts val="0"/>
              </a:spcAft>
              <a:defRPr sz="191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1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rPr>
              <a:t>Source–target samples</a:t>
            </a:r>
          </a:p>
        </p:txBody>
      </p:sp>
      <p:sp>
        <p:nvSpPr>
          <p:cNvPr id="20" name="asbs-data" descr="Editable text; source id asbs-data"/>
          <p:cNvSpPr txBox="1"/>
          <p:nvPr/>
        </p:nvSpPr>
        <p:spPr>
          <a:xfrm>
            <a:off x="8389619" y="2369819"/>
            <a:ext cx="3200399" cy="33527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07"/>
              </a:lnSpc>
              <a:spcBef>
                <a:spcPts val="0"/>
              </a:spcBef>
              <a:spcAft>
                <a:spcPts val="0"/>
              </a:spcAft>
              <a:defRPr sz="1919" b="1" i="0" lang="zh-CN" dirty="0">
                <a:solidFill>
                  <a:srgbClr val="BB711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19" b="1" i="0" lang="zh-CN" dirty="0">
                <a:solidFill>
                  <a:srgbClr val="BB711C"/>
                </a:solidFill>
                <a:latin typeface="Liberation Sans"/>
                <a:ea typeface="Liberation Sans"/>
                <a:cs typeface="Liberation Sans"/>
              </a:rPr>
              <a:t>A learned value gradient</a:t>
            </a:r>
          </a:p>
        </p:txBody>
      </p:sp>
      <p:sp>
        <p:nvSpPr>
          <p:cNvPr id="21" name="step-0" descr="Editable text; source id step-0"/>
          <p:cNvSpPr txBox="1"/>
          <p:nvPr/>
        </p:nvSpPr>
        <p:spPr>
          <a:xfrm>
            <a:off x="579119" y="3307079"/>
            <a:ext cx="3230879" cy="29717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62"/>
              </a:lnSpc>
              <a:spcBef>
                <a:spcPts val="0"/>
              </a:spcBef>
              <a:spcAft>
                <a:spcPts val="0"/>
              </a:spcAft>
              <a:defRPr sz="1619" b="0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19" b="0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rPr>
              <a:t>Perturb target samples</a:t>
            </a:r>
          </a:p>
        </p:txBody>
      </p:sp>
      <p:sp>
        <p:nvSpPr>
          <p:cNvPr id="22" name="fit-0" descr="Editable text; source id fit-0"/>
          <p:cNvSpPr txBox="1"/>
          <p:nvPr/>
        </p:nvSpPr>
        <p:spPr>
          <a:xfrm>
            <a:off x="579119" y="3680459"/>
            <a:ext cx="3230879" cy="29717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62"/>
              </a:lnSpc>
              <a:spcBef>
                <a:spcPts val="0"/>
              </a:spcBef>
              <a:spcAft>
                <a:spcPts val="0"/>
              </a:spcAft>
              <a:defRPr sz="161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1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rPr>
              <a:t>Fit a score / denoiser</a:t>
            </a:r>
          </a:p>
        </p:txBody>
      </p:sp>
      <p:sp>
        <p:nvSpPr>
          <p:cNvPr id="23" name="generate-0" descr="Editable text; source id generate-0"/>
          <p:cNvSpPr txBox="1"/>
          <p:nvPr/>
        </p:nvSpPr>
        <p:spPr>
          <a:xfrm>
            <a:off x="579119" y="4267199"/>
            <a:ext cx="3238499" cy="27431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93"/>
              </a:lnSpc>
              <a:spcBef>
                <a:spcPts val="0"/>
              </a:spcBef>
              <a:spcAft>
                <a:spcPts val="0"/>
              </a:spcAft>
              <a:defRPr sz="155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5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rPr>
              <a:t>Sample with learned dynamics</a:t>
            </a:r>
          </a:p>
        </p:txBody>
      </p:sp>
      <p:sp>
        <p:nvSpPr>
          <p:cNvPr id="24" name="step-1" descr="Editable text; source id step-1"/>
          <p:cNvSpPr txBox="1"/>
          <p:nvPr/>
        </p:nvSpPr>
        <p:spPr>
          <a:xfrm>
            <a:off x="4480559" y="3307079"/>
            <a:ext cx="3230879" cy="29717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62"/>
              </a:lnSpc>
              <a:spcBef>
                <a:spcPts val="0"/>
              </a:spcBef>
              <a:spcAft>
                <a:spcPts val="0"/>
              </a:spcAft>
              <a:defRPr sz="1619" b="0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19" b="0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rPr>
              <a:t>Interpolate sample pairs</a:t>
            </a:r>
          </a:p>
        </p:txBody>
      </p:sp>
      <p:sp>
        <p:nvSpPr>
          <p:cNvPr id="25" name="fit-1" descr="Editable text; source id fit-1"/>
          <p:cNvSpPr txBox="1"/>
          <p:nvPr/>
        </p:nvSpPr>
        <p:spPr>
          <a:xfrm>
            <a:off x="4480559" y="3680459"/>
            <a:ext cx="3230879" cy="29717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62"/>
              </a:lnSpc>
              <a:spcBef>
                <a:spcPts val="0"/>
              </a:spcBef>
              <a:spcAft>
                <a:spcPts val="0"/>
              </a:spcAft>
              <a:defRPr sz="161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1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rPr>
              <a:t>Fit a velocity field</a:t>
            </a:r>
          </a:p>
        </p:txBody>
      </p:sp>
      <p:sp>
        <p:nvSpPr>
          <p:cNvPr id="26" name="generate-1" descr="Editable text; source id generate-1"/>
          <p:cNvSpPr txBox="1"/>
          <p:nvPr/>
        </p:nvSpPr>
        <p:spPr>
          <a:xfrm>
            <a:off x="4480559" y="4267199"/>
            <a:ext cx="3238499" cy="27431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93"/>
              </a:lnSpc>
              <a:spcBef>
                <a:spcPts val="0"/>
              </a:spcBef>
              <a:spcAft>
                <a:spcPts val="0"/>
              </a:spcAft>
              <a:defRPr sz="155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5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rPr>
              <a:t>Sample with learned dynamics</a:t>
            </a:r>
          </a:p>
        </p:txBody>
      </p:sp>
      <p:sp>
        <p:nvSpPr>
          <p:cNvPr id="27" name="step-2" descr="Editable text; source id step-2"/>
          <p:cNvSpPr txBox="1"/>
          <p:nvPr/>
        </p:nvSpPr>
        <p:spPr>
          <a:xfrm>
            <a:off x="8381999" y="3307079"/>
            <a:ext cx="3230879" cy="29717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62"/>
              </a:lnSpc>
              <a:spcBef>
                <a:spcPts val="0"/>
              </a:spcBef>
              <a:spcAft>
                <a:spcPts val="0"/>
              </a:spcAft>
              <a:defRPr sz="1619" b="0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19" b="0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rPr>
              <a:t>Start a controlled diffusion at 0</a:t>
            </a:r>
          </a:p>
        </p:txBody>
      </p:sp>
      <p:sp>
        <p:nvSpPr>
          <p:cNvPr id="28" name="fit-2" descr="Editable text; source id fit-2"/>
          <p:cNvSpPr txBox="1"/>
          <p:nvPr/>
        </p:nvSpPr>
        <p:spPr>
          <a:xfrm>
            <a:off x="8381999" y="3680459"/>
            <a:ext cx="3230879" cy="29717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62"/>
              </a:lnSpc>
              <a:spcBef>
                <a:spcPts val="0"/>
              </a:spcBef>
              <a:spcAft>
                <a:spcPts val="0"/>
              </a:spcAft>
              <a:defRPr sz="161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1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rPr>
              <a:t>Fit a drift by adjoint matching</a:t>
            </a:r>
          </a:p>
        </p:txBody>
      </p:sp>
      <p:sp>
        <p:nvSpPr>
          <p:cNvPr id="29" name="generate-2" descr="Editable text; source id generate-2"/>
          <p:cNvSpPr txBox="1"/>
          <p:nvPr/>
        </p:nvSpPr>
        <p:spPr>
          <a:xfrm>
            <a:off x="8381999" y="4267199"/>
            <a:ext cx="3238499" cy="27431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93"/>
              </a:lnSpc>
              <a:spcBef>
                <a:spcPts val="0"/>
              </a:spcBef>
              <a:spcAft>
                <a:spcPts val="0"/>
              </a:spcAft>
              <a:defRPr sz="155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5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rPr>
              <a:t>Sample with learned dynamics</a:t>
            </a:r>
          </a:p>
        </p:txBody>
      </p:sp>
      <p:sp>
        <p:nvSpPr>
          <p:cNvPr id="30" name="fair-heading" descr="Editable text; source id fair-heading"/>
          <p:cNvSpPr txBox="1"/>
          <p:nvPr/>
        </p:nvSpPr>
        <p:spPr>
          <a:xfrm>
            <a:off x="365759" y="4960619"/>
            <a:ext cx="11277599" cy="3428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76"/>
              </a:lnSpc>
              <a:spcBef>
                <a:spcPts val="0"/>
              </a:spcBef>
              <a:spcAft>
                <a:spcPts val="0"/>
              </a:spcAft>
              <a:defRPr sz="197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79" b="1" i="0" lang="zh-CN" dirty="0">
                <a:solidFill>
                  <a:srgbClr val="153047"/>
                </a:solidFill>
                <a:latin typeface="Liberation Sans"/>
                <a:ea typeface="Liberation Sans"/>
                <a:cs typeface="Liberation Sans"/>
              </a:rPr>
              <a:t>What would establish the ASBS contribution?</a:t>
            </a:r>
          </a:p>
        </p:txBody>
      </p:sp>
      <p:sp>
        <p:nvSpPr>
          <p:cNvPr id="31" name="fair-data" descr="Editable text; source id fair-data"/>
          <p:cNvSpPr txBox="1"/>
          <p:nvPr/>
        </p:nvSpPr>
        <p:spPr>
          <a:xfrm>
            <a:off x="365759" y="5478779"/>
            <a:ext cx="3291839" cy="29717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739" b="1" i="0" lang="zh-CN" dirty="0">
                <a:solidFill>
                  <a:srgbClr val="277D7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39" b="1" i="0" lang="zh-CN" dirty="0">
                <a:solidFill>
                  <a:srgbClr val="277D79"/>
                </a:solidFill>
                <a:latin typeface="Liberation Sans"/>
                <a:ea typeface="Liberation Sans"/>
                <a:cs typeface="Liberation Sans"/>
              </a:rPr>
              <a:t>Same feedback data</a:t>
            </a:r>
          </a:p>
        </p:txBody>
      </p:sp>
      <p:sp>
        <p:nvSpPr>
          <p:cNvPr id="32" name="fair-data-note" descr="Editable text; source id fair-data-note"/>
          <p:cNvSpPr txBox="1"/>
          <p:nvPr/>
        </p:nvSpPr>
        <p:spPr>
          <a:xfrm>
            <a:off x="365759" y="5821679"/>
            <a:ext cx="3390899" cy="24383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55"/>
              </a:lnSpc>
              <a:spcBef>
                <a:spcPts val="0"/>
              </a:spcBef>
              <a:spcAft>
                <a:spcPts val="0"/>
              </a:spcAft>
              <a:defRPr sz="143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3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rPr>
              <a:t>Match state coverage and continuation.</a:t>
            </a:r>
          </a:p>
        </p:txBody>
      </p:sp>
      <p:sp>
        <p:nvSpPr>
          <p:cNvPr id="33" name="fair-baselines" descr="Editable text; source id fair-baselines"/>
          <p:cNvSpPr txBox="1"/>
          <p:nvPr/>
        </p:nvSpPr>
        <p:spPr>
          <a:xfrm>
            <a:off x="4267199" y="5478779"/>
            <a:ext cx="3657599" cy="29717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739" b="1" i="0" lang="zh-CN" dirty="0">
                <a:solidFill>
                  <a:srgbClr val="277D7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39" b="1" i="0" lang="zh-CN" dirty="0">
                <a:solidFill>
                  <a:srgbClr val="277D79"/>
                </a:solidFill>
                <a:latin typeface="Liberation Sans"/>
                <a:ea typeface="Liberation Sans"/>
                <a:cs typeface="Liberation Sans"/>
              </a:rPr>
              <a:t>Strong no-rollout baselines</a:t>
            </a:r>
          </a:p>
        </p:txBody>
      </p:sp>
      <p:sp>
        <p:nvSpPr>
          <p:cNvPr id="34" name="fair-baselines-note" descr="Editable text; source id fair-baselines-note"/>
          <p:cNvSpPr txBox="1"/>
          <p:nvPr/>
        </p:nvSpPr>
        <p:spPr>
          <a:xfrm>
            <a:off x="4267199" y="5821679"/>
            <a:ext cx="3733799" cy="24383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55"/>
              </a:lnSpc>
              <a:spcBef>
                <a:spcPts val="0"/>
              </a:spcBef>
              <a:spcAft>
                <a:spcPts val="0"/>
              </a:spcAft>
              <a:defRPr sz="143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3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rPr>
              <a:t>Value rerank · weighted fit · latent search</a:t>
            </a:r>
          </a:p>
        </p:txBody>
      </p:sp>
      <p:sp>
        <p:nvSpPr>
          <p:cNvPr id="35" name="fair-cost" descr="Editable text; source id fair-cost"/>
          <p:cNvSpPr txBox="1"/>
          <p:nvPr/>
        </p:nvSpPr>
        <p:spPr>
          <a:xfrm>
            <a:off x="8168639" y="5478779"/>
            <a:ext cx="3657599" cy="29717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739" b="1" i="0" lang="zh-CN" dirty="0">
                <a:solidFill>
                  <a:srgbClr val="277D7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39" b="1" i="0" lang="zh-CN" dirty="0">
                <a:solidFill>
                  <a:srgbClr val="277D79"/>
                </a:solidFill>
                <a:latin typeface="Liberation Sans"/>
                <a:ea typeface="Liberation Sans"/>
                <a:cs typeface="Liberation Sans"/>
              </a:rPr>
              <a:t>Matched deployment and cost</a:t>
            </a:r>
          </a:p>
        </p:txBody>
      </p:sp>
      <p:sp>
        <p:nvSpPr>
          <p:cNvPr id="36" name="fair-cost-note" descr="Editable text; source id fair-cost-note"/>
          <p:cNvSpPr txBox="1"/>
          <p:nvPr/>
        </p:nvSpPr>
        <p:spPr>
          <a:xfrm>
            <a:off x="8168639" y="5821679"/>
            <a:ext cx="3657599" cy="24383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86"/>
              </a:lnSpc>
              <a:spcBef>
                <a:spcPts val="0"/>
              </a:spcBef>
              <a:spcAft>
                <a:spcPts val="0"/>
              </a:spcAft>
              <a:defRPr sz="137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7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rPr>
              <a:t>Reranking noise needs only one VLA decode.</a:t>
            </a:r>
          </a:p>
        </p:txBody>
      </p:sp>
      <p:sp>
        <p:nvSpPr>
          <p:cNvPr id="37" name="footer" descr="Editable text; source id footer"/>
          <p:cNvSpPr txBox="1"/>
          <p:nvPr/>
        </p:nvSpPr>
        <p:spPr>
          <a:xfrm>
            <a:off x="365759" y="6492239"/>
            <a:ext cx="11353799" cy="23621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86"/>
              </a:lnSpc>
              <a:spcBef>
                <a:spcPts val="0"/>
              </a:spcBef>
              <a:spcAft>
                <a:spcPts val="0"/>
              </a:spcAft>
              <a:defRPr sz="137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79" b="0" i="0" lang="zh-CN" dirty="0">
                <a:solidFill>
                  <a:srgbClr val="637784"/>
                </a:solidFill>
                <a:latin typeface="Liberation Sans"/>
                <a:ea typeface="Liberation Sans"/>
                <a:cs typeface="Liberation Sans"/>
              </a:rPr>
              <a:t>ASBS is itself a diffusion sampler. Energy-based diffusion/flow alternatives exist; robot gains are not yet established.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ASBS v21 experimental alignment</dc:title>
  <dc:subject>Reconstructed from source images; see validation and font manifest</dc:subject>
  <dc:creator/>
  <cp:keywords/>
  <dc:description>generated using python-pptx</dc:description>
  <cp:lastModifiedBy>ASBS figure archive</cp:lastModifiedBy>
  <cp:revision>1</cp:revision>
  <dcterms:created xsi:type="dcterms:W3CDTF">2013-01-27T09:14:16Z</dcterms:created>
  <dcterms:modified xsi:type="dcterms:W3CDTF">2013-01-27T09:15:58Z</dcterms:modified>
  <cp:category/>
</cp:coreProperties>
</file>