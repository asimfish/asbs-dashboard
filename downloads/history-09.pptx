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467225" y="1619250"/>
            <a:ext cx="6705600" cy="3219450"/>
          </a:xfrm>
          <a:prstGeom prst="roundRect">
            <a:avLst>
              <a:gd name="adj" fmla="val 4142"/>
            </a:avLst>
          </a:prstGeom>
          <a:solidFill>
            <a:srgbClr val="F2F9F1"/>
          </a:solidFill>
          <a:ln w="25400">
            <a:solidFill>
              <a:srgbClr val="A7C59A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4467225" y="5505450"/>
            <a:ext cx="6686550" cy="2076450"/>
          </a:xfrm>
          <a:prstGeom prst="roundRect">
            <a:avLst>
              <a:gd name="adj" fmla="val 6422"/>
            </a:avLst>
          </a:prstGeom>
          <a:solidFill>
            <a:srgbClr val="FDF5EB"/>
          </a:solidFill>
          <a:ln w="25400">
            <a:solidFill>
              <a:srgbClr val="EFB683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42875" y="2828925"/>
            <a:ext cx="1466850" cy="3324225"/>
          </a:xfrm>
          <a:prstGeom prst="roundRect">
            <a:avLst>
              <a:gd name="adj" fmla="val 7792"/>
            </a:avLst>
          </a:prstGeom>
          <a:solidFill>
            <a:srgbClr val="E8F2FD"/>
          </a:solidFill>
          <a:ln w="31750">
            <a:solidFill>
              <a:srgbClr val="305D9C"/>
            </a:solidFill>
          </a:ln>
        </p:spPr>
        <p:txBody>
          <a:bodyPr/>
          <a:lstStyle/>
          <a:p/>
        </p:txBody>
      </p:sp>
      <p:sp>
        <p:nvSpPr>
          <p:cNvPr id="5" name="Polygon 5"/>
          <p:cNvSpPr/>
          <p:nvPr/>
        </p:nvSpPr>
        <p:spPr>
          <a:xfrm>
            <a:off x="2447925" y="3638550"/>
            <a:ext cx="1733550" cy="23050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close/>
              </a:path>
            </a:pathLst>
          </a:custGeom>
          <a:solidFill>
            <a:srgbClr val="F0F1F2"/>
          </a:solidFill>
          <a:ln w="28575">
            <a:solidFill>
              <a:srgbClr val="4B4C4F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676775" y="2114550"/>
            <a:ext cx="1333500" cy="210502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202020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886575" y="2114550"/>
            <a:ext cx="1609725" cy="2562225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25400">
            <a:solidFill>
              <a:srgbClr val="202020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9315450" y="2124075"/>
            <a:ext cx="1228725" cy="215265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 w="25400">
            <a:solidFill>
              <a:srgbClr val="202020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5676900" y="5676900"/>
            <a:ext cx="2924175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25400">
            <a:solidFill>
              <a:srgbClr val="202020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11477625" y="2828925"/>
            <a:ext cx="1743075" cy="3933825"/>
          </a:xfrm>
          <a:prstGeom prst="roundRect">
            <a:avLst>
              <a:gd name="adj" fmla="val 6557"/>
            </a:avLst>
          </a:prstGeom>
          <a:solidFill>
            <a:srgbClr val="FDEED7"/>
          </a:solidFill>
          <a:ln w="31750">
            <a:solidFill>
              <a:srgbClr val="D76D06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11572875" y="3857625"/>
            <a:ext cx="1562100" cy="600075"/>
          </a:xfrm>
          <a:prstGeom prst="roundRect">
            <a:avLst>
              <a:gd name="adj" fmla="val 12698"/>
            </a:avLst>
          </a:prstGeom>
          <a:solidFill>
            <a:srgbClr val="FFFAF3"/>
          </a:solidFill>
          <a:ln w="19050">
            <a:solidFill>
              <a:srgbClr val="F1B584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11572875" y="4800600"/>
            <a:ext cx="1562100" cy="619125"/>
          </a:xfrm>
          <a:prstGeom prst="roundRect">
            <a:avLst>
              <a:gd name="adj" fmla="val 12308"/>
            </a:avLst>
          </a:prstGeom>
          <a:solidFill>
            <a:srgbClr val="FFFAF3"/>
          </a:solidFill>
          <a:ln w="19050">
            <a:solidFill>
              <a:srgbClr val="F1B584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11572875" y="5514975"/>
            <a:ext cx="1562100" cy="800100"/>
          </a:xfrm>
          <a:prstGeom prst="roundRect">
            <a:avLst>
              <a:gd name="adj" fmla="val 9524"/>
            </a:avLst>
          </a:prstGeom>
          <a:solidFill>
            <a:srgbClr val="FFFAF3"/>
          </a:solidFill>
          <a:ln w="19050">
            <a:solidFill>
              <a:srgbClr val="F1B584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13077825" y="8229600"/>
            <a:ext cx="1333500" cy="847725"/>
          </a:xfrm>
          <a:prstGeom prst="roundRect">
            <a:avLst>
              <a:gd name="adj" fmla="val 11236"/>
            </a:avLst>
          </a:prstGeom>
          <a:solidFill>
            <a:srgbClr val="ECEDEF"/>
          </a:solidFill>
          <a:ln w="25400">
            <a:solidFill>
              <a:srgbClr val="3A3E44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885825" y="695325"/>
            <a:ext cx="12887325" cy="0"/>
          </a:xfrm>
          <a:prstGeom prst="line">
            <a:avLst/>
          </a:prstGeom>
          <a:noFill/>
          <a:ln w="38100">
            <a:solidFill>
              <a:srgbClr val="0A6212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885825" y="695325"/>
            <a:ext cx="0" cy="1838325"/>
          </a:xfrm>
          <a:prstGeom prst="line">
            <a:avLst/>
          </a:prstGeom>
          <a:noFill/>
          <a:ln w="38100">
            <a:solidFill>
              <a:srgbClr val="0A6212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13773150" y="695325"/>
            <a:ext cx="0" cy="828675"/>
          </a:xfrm>
          <a:prstGeom prst="line">
            <a:avLst/>
          </a:prstGeom>
          <a:noFill/>
          <a:ln w="38100">
            <a:solidFill>
              <a:srgbClr val="0A6212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 flipV="1">
            <a:off x="13315950" y="2619375"/>
            <a:ext cx="333375" cy="733425"/>
          </a:xfrm>
          <a:prstGeom prst="line">
            <a:avLst/>
          </a:prstGeom>
          <a:noFill/>
          <a:ln w="38100">
            <a:solidFill>
              <a:srgbClr val="0A6212"/>
            </a:solidFill>
          </a:ln>
        </p:spPr>
        <p:txBody>
          <a:bodyPr/>
          <a:lstStyle/>
          <a:p/>
        </p:txBody>
      </p:sp>
      <p:sp>
        <p:nvSpPr>
          <p:cNvPr id="19" name="Polygon 19"/>
          <p:cNvSpPr/>
          <p:nvPr/>
        </p:nvSpPr>
        <p:spPr>
          <a:xfrm>
            <a:off x="762000" y="2514600"/>
            <a:ext cx="247650" cy="266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0A6212"/>
          </a:solidFill>
          <a:ln w="9525">
            <a:solidFill>
              <a:srgbClr val="0A6212"/>
            </a:solidFill>
          </a:ln>
        </p:spPr>
        <p:txBody>
          <a:bodyPr/>
          <a:lstStyle/>
          <a:p/>
        </p:txBody>
      </p:sp>
      <p:sp>
        <p:nvSpPr>
          <p:cNvPr id="20" name="Polygon 20"/>
          <p:cNvSpPr/>
          <p:nvPr/>
        </p:nvSpPr>
        <p:spPr>
          <a:xfrm>
            <a:off x="13563600" y="2495550"/>
            <a:ext cx="142875" cy="2095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7280" y="21600"/>
                </a:moveTo>
                <a:lnTo>
                  <a:pt x="0" y="15709"/>
                </a:lnTo>
                <a:lnTo>
                  <a:pt x="21600" y="0"/>
                </a:lnTo>
                <a:close/>
              </a:path>
            </a:pathLst>
          </a:custGeom>
          <a:solidFill>
            <a:srgbClr val="0A6212"/>
          </a:solidFill>
          <a:ln w="9525">
            <a:solidFill>
              <a:srgbClr val="0A6212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13249275" y="6181725"/>
            <a:ext cx="523875" cy="0"/>
          </a:xfrm>
          <a:prstGeom prst="line">
            <a:avLst/>
          </a:prstGeom>
          <a:noFill/>
          <a:ln w="38100">
            <a:solidFill>
              <a:srgbClr val="CC0605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13773150" y="6181725"/>
            <a:ext cx="0" cy="1724025"/>
          </a:xfrm>
          <a:prstGeom prst="line">
            <a:avLst/>
          </a:prstGeom>
          <a:noFill/>
          <a:ln w="38100">
            <a:solidFill>
              <a:srgbClr val="CC0605"/>
            </a:solidFill>
          </a:ln>
        </p:spPr>
        <p:txBody>
          <a:bodyPr/>
          <a:lstStyle/>
          <a:p/>
        </p:txBody>
      </p:sp>
      <p:sp>
        <p:nvSpPr>
          <p:cNvPr id="23" name="Polygon 23"/>
          <p:cNvSpPr/>
          <p:nvPr/>
        </p:nvSpPr>
        <p:spPr>
          <a:xfrm>
            <a:off x="13649325" y="7905750"/>
            <a:ext cx="247650" cy="2667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CC0605"/>
          </a:solidFill>
          <a:ln w="9525">
            <a:solidFill>
              <a:srgbClr val="CC0605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1628775" y="4743450"/>
            <a:ext cx="666750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5" name="Polygon 25"/>
          <p:cNvSpPr/>
          <p:nvPr/>
        </p:nvSpPr>
        <p:spPr>
          <a:xfrm>
            <a:off x="2295525" y="4667250"/>
            <a:ext cx="142875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4181475" y="4791075"/>
            <a:ext cx="257175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4429125" y="3209925"/>
            <a:ext cx="0" cy="3190875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4429125" y="3209925"/>
            <a:ext cx="104775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9" name="Polygon 29"/>
          <p:cNvSpPr/>
          <p:nvPr/>
        </p:nvSpPr>
        <p:spPr>
          <a:xfrm>
            <a:off x="4533900" y="3143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4429125" y="6400800"/>
            <a:ext cx="1076325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1" name="Polygon 31"/>
          <p:cNvSpPr/>
          <p:nvPr/>
        </p:nvSpPr>
        <p:spPr>
          <a:xfrm>
            <a:off x="5505450" y="6334125"/>
            <a:ext cx="15240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6010275" y="3209925"/>
            <a:ext cx="714375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3" name="Polygon 33"/>
          <p:cNvSpPr/>
          <p:nvPr/>
        </p:nvSpPr>
        <p:spPr>
          <a:xfrm>
            <a:off x="6724650" y="3143250"/>
            <a:ext cx="142875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8496300" y="3209925"/>
            <a:ext cx="647700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5" name="Polygon 35"/>
          <p:cNvSpPr/>
          <p:nvPr/>
        </p:nvSpPr>
        <p:spPr>
          <a:xfrm>
            <a:off x="9144000" y="3143250"/>
            <a:ext cx="142875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10544175" y="3209925"/>
            <a:ext cx="771525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7" name="Polygon 37"/>
          <p:cNvSpPr/>
          <p:nvPr/>
        </p:nvSpPr>
        <p:spPr>
          <a:xfrm>
            <a:off x="11315700" y="3143250"/>
            <a:ext cx="142875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8620125" y="6400800"/>
            <a:ext cx="2686050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9" name="Polygon 39"/>
          <p:cNvSpPr/>
          <p:nvPr/>
        </p:nvSpPr>
        <p:spPr>
          <a:xfrm>
            <a:off x="11306175" y="6334125"/>
            <a:ext cx="152400" cy="133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4495800" y="5114925"/>
            <a:ext cx="1057275" cy="0"/>
          </a:xfrm>
          <a:prstGeom prst="line">
            <a:avLst/>
          </a:prstGeom>
          <a:noFill/>
          <a:ln w="22225">
            <a:solidFill>
              <a:srgbClr val="777777"/>
            </a:solidFill>
            <a:prstDash val="dash"/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9610725" y="5114925"/>
            <a:ext cx="1533525" cy="0"/>
          </a:xfrm>
          <a:prstGeom prst="line">
            <a:avLst/>
          </a:prstGeom>
          <a:noFill/>
          <a:ln w="22225">
            <a:solidFill>
              <a:srgbClr val="777777"/>
            </a:solidFill>
            <a:prstDash val="dash"/>
          </a:ln>
        </p:spPr>
        <p:txBody>
          <a:bodyPr/>
          <a:lstStyle/>
          <a:p/>
        </p:txBody>
      </p:sp>
      <p:pic>
        <p:nvPicPr>
          <p:cNvPr id="42" name="snowflake"/>
          <p:cNvPicPr/>
          <p:nvPr/>
        </p:nvPicPr>
        <p:blipFill>
          <a:blip r:embed="rId2"/>
          <a:stretch>
            <a:fillRect/>
          </a:stretch>
        </p:blipFill>
        <p:spPr>
          <a:xfrm>
            <a:off x="628650" y="5105400"/>
            <a:ext cx="533400" cy="609600"/>
          </a:xfrm>
          <a:prstGeom prst="rect">
            <a:avLst/>
          </a:prstGeom>
        </p:spPr>
      </p:pic>
      <p:pic>
        <p:nvPicPr>
          <p:cNvPr id="43" name="multimode curves"/>
          <p:cNvPicPr/>
          <p:nvPr/>
        </p:nvPicPr>
        <p:blipFill>
          <a:blip r:embed="rId3"/>
          <a:stretch>
            <a:fillRect/>
          </a:stretch>
        </p:blipFill>
        <p:spPr>
          <a:xfrm>
            <a:off x="6962775" y="4076700"/>
            <a:ext cx="1447800" cy="428625"/>
          </a:xfrm>
          <a:prstGeom prst="rect">
            <a:avLst/>
          </a:prstGeom>
        </p:spPr>
      </p:pic>
      <p:pic>
        <p:nvPicPr>
          <p:cNvPr id="44" name="check row1"/>
          <p:cNvPicPr/>
          <p:nvPr/>
        </p:nvPicPr>
        <p:blipFill>
          <a:blip r:embed="rId4"/>
          <a:stretch>
            <a:fillRect/>
          </a:stretch>
        </p:blipFill>
        <p:spPr>
          <a:xfrm>
            <a:off x="11649075" y="4029075"/>
            <a:ext cx="247650" cy="257175"/>
          </a:xfrm>
          <a:prstGeom prst="rect">
            <a:avLst/>
          </a:prstGeom>
        </p:spPr>
      </p:pic>
      <p:pic>
        <p:nvPicPr>
          <p:cNvPr id="45" name="check row2"/>
          <p:cNvPicPr/>
          <p:nvPr/>
        </p:nvPicPr>
        <p:blipFill>
          <a:blip r:embed="rId5"/>
          <a:stretch>
            <a:fillRect/>
          </a:stretch>
        </p:blipFill>
        <p:spPr>
          <a:xfrm>
            <a:off x="11649075" y="4972050"/>
            <a:ext cx="247650" cy="257175"/>
          </a:xfrm>
          <a:prstGeom prst="rect">
            <a:avLst/>
          </a:prstGeom>
        </p:spPr>
      </p:pic>
      <p:pic>
        <p:nvPicPr>
          <p:cNvPr id="46" name="check row3"/>
          <p:cNvPicPr/>
          <p:nvPr/>
        </p:nvPicPr>
        <p:blipFill>
          <a:blip r:embed="rId6"/>
          <a:stretch>
            <a:fillRect/>
          </a:stretch>
        </p:blipFill>
        <p:spPr>
          <a:xfrm>
            <a:off x="11649075" y="5791200"/>
            <a:ext cx="247650" cy="257175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6362700" y="266700"/>
            <a:ext cx="1504950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0A6212"/>
                </a:solidFill>
                <a:latin typeface="Arial"/>
                <a:ea typeface="Arial"/>
                <a:cs typeface="Arial"/>
              </a:rPr>
              <a:t>round </a:t>
            </a:r>
            <a:r>
              <a:rPr lang="zh-CN" sz="1500" b="1" i="1">
                <a:solidFill>
                  <a:srgbClr val="0A6212"/>
                </a:solidFill>
                <a:latin typeface="Arial"/>
                <a:ea typeface="Arial"/>
                <a:cs typeface="Arial"/>
              </a:rPr>
              <a:t>m</a:t>
            </a:r>
            <a:r>
              <a:rPr lang="zh-CN" sz="1500" b="1">
                <a:solidFill>
                  <a:srgbClr val="0A6212"/>
                </a:solidFill>
                <a:latin typeface="Arial"/>
                <a:ea typeface="Arial"/>
                <a:cs typeface="Arial"/>
              </a:rPr>
              <a:t> + 1</a:t>
            </a:r>
            <a:endParaRPr lang="zh-CN" sz="1500"/>
          </a:p>
        </p:txBody>
      </p:sp>
      <p:sp>
        <p:nvSpPr>
          <p:cNvPr id="48" name="TextBox 48"/>
          <p:cNvSpPr txBox="1"/>
          <p:nvPr/>
        </p:nvSpPr>
        <p:spPr>
          <a:xfrm>
            <a:off x="6324600" y="1009650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3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Round </a:t>
            </a:r>
            <a:r>
              <a:rPr lang="zh-CN" sz="232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</a:t>
            </a:r>
            <a:endParaRPr lang="zh-CN" sz="2320"/>
          </a:p>
        </p:txBody>
      </p:sp>
      <p:sp>
        <p:nvSpPr>
          <p:cNvPr id="49" name="TextBox 49"/>
          <p:cNvSpPr txBox="1"/>
          <p:nvPr/>
        </p:nvSpPr>
        <p:spPr>
          <a:xfrm>
            <a:off x="190500" y="3028950"/>
            <a:ext cx="1371600" cy="1047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101F4E"/>
                </a:solidFill>
                <a:latin typeface="Arial"/>
                <a:ea typeface="Arial"/>
                <a:cs typeface="Arial"/>
              </a:rPr>
              <a:t>Frozen</a:t>
            </a:r>
            <a:endParaRPr lang="zh-CN" sz="1550"/>
          </a:p>
          <a:p>
            <a:pPr algn="ctr"/>
            <a:r>
              <a:rPr lang="zh-CN" sz="1550" b="1">
                <a:solidFill>
                  <a:srgbClr val="101F4E"/>
                </a:solidFill>
                <a:latin typeface="Arial"/>
                <a:ea typeface="Arial"/>
                <a:cs typeface="Arial"/>
              </a:rPr>
              <a:t>incumbent</a:t>
            </a:r>
            <a:endParaRPr lang="zh-CN" sz="1550"/>
          </a:p>
          <a:p>
            <a:pPr algn="ctr"/>
            <a:r>
              <a:rPr lang="zh-CN" sz="1550" b="1">
                <a:solidFill>
                  <a:srgbClr val="101F4E"/>
                </a:solidFill>
                <a:latin typeface="Arial"/>
                <a:ea typeface="Arial"/>
                <a:cs typeface="Arial"/>
              </a:rPr>
              <a:t>policy </a:t>
            </a:r>
            <a:r>
              <a:rPr lang="zh-CN" sz="1550" b="1" i="1">
                <a:solidFill>
                  <a:srgbClr val="101F4E"/>
                </a:solidFill>
                <a:latin typeface="Arial"/>
                <a:ea typeface="Arial"/>
                <a:cs typeface="Arial"/>
              </a:rPr>
              <a:t>π(m)</a:t>
            </a:r>
            <a:endParaRPr lang="zh-CN" sz="1550"/>
          </a:p>
        </p:txBody>
      </p:sp>
      <p:sp>
        <p:nvSpPr>
          <p:cNvPr id="50" name="TextBox 50"/>
          <p:cNvSpPr txBox="1"/>
          <p:nvPr/>
        </p:nvSpPr>
        <p:spPr>
          <a:xfrm>
            <a:off x="209550" y="4267200"/>
            <a:ext cx="1333500" cy="762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2E3D63"/>
                </a:solidFill>
                <a:latin typeface="Arial"/>
                <a:ea typeface="Arial"/>
                <a:cs typeface="Arial"/>
              </a:rPr>
              <a:t>generative,</a:t>
            </a:r>
            <a:endParaRPr lang="zh-CN" sz="1000"/>
          </a:p>
          <a:p>
            <a:pPr algn="ctr"/>
            <a:r>
              <a:rPr lang="zh-CN" sz="1000">
                <a:solidFill>
                  <a:srgbClr val="2E3D63"/>
                </a:solidFill>
                <a:latin typeface="Arial"/>
                <a:ea typeface="Arial"/>
                <a:cs typeface="Arial"/>
              </a:rPr>
              <a:t>sample-only</a:t>
            </a:r>
            <a:endParaRPr lang="zh-CN" sz="1000"/>
          </a:p>
          <a:p>
            <a:pPr algn="ctr"/>
            <a:r>
              <a:rPr lang="zh-CN" sz="1000">
                <a:solidFill>
                  <a:srgbClr val="2E3D63"/>
                </a:solidFill>
                <a:latin typeface="Arial"/>
                <a:ea typeface="Arial"/>
                <a:cs typeface="Arial"/>
              </a:rPr>
              <a:t>access</a:t>
            </a:r>
            <a:endParaRPr lang="zh-CN" sz="1000"/>
          </a:p>
        </p:txBody>
      </p:sp>
      <p:sp>
        <p:nvSpPr>
          <p:cNvPr id="51" name="TextBox 51"/>
          <p:cNvSpPr txBox="1"/>
          <p:nvPr/>
        </p:nvSpPr>
        <p:spPr>
          <a:xfrm>
            <a:off x="1600200" y="4095750"/>
            <a:ext cx="876300" cy="457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paired</a:t>
            </a:r>
            <a:endParaRPr lang="zh-CN" sz="950"/>
          </a:p>
          <a:p>
            <a:pPr algn="ctr"/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CRN forking</a:t>
            </a:r>
            <a:endParaRPr lang="zh-CN" sz="950"/>
          </a:p>
        </p:txBody>
      </p:sp>
      <p:sp>
        <p:nvSpPr>
          <p:cNvPr id="52" name="TextBox 52"/>
          <p:cNvSpPr txBox="1"/>
          <p:nvPr/>
        </p:nvSpPr>
        <p:spPr>
          <a:xfrm>
            <a:off x="2590800" y="4191000"/>
            <a:ext cx="1447800" cy="142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1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Fork engine:</a:t>
            </a:r>
            <a:endParaRPr lang="zh-CN" sz="1100"/>
          </a:p>
          <a:p>
            <a:pPr algn="ctr"/>
            <a:r>
              <a:rPr lang="zh-CN"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coupled</a:t>
            </a:r>
            <a:endParaRPr lang="zh-CN" sz="1100"/>
          </a:p>
          <a:p>
            <a:pPr algn="ctr"/>
            <a:r>
              <a:rPr lang="zh-CN"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episodes</a:t>
            </a:r>
            <a:endParaRPr lang="zh-CN" sz="1100"/>
          </a:p>
          <a:p>
            <a:pPr algn="ctr"/>
            <a:r>
              <a:rPr lang="zh-CN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(same seed,</a:t>
            </a:r>
            <a:endParaRPr lang="zh-CN" sz="1100"/>
          </a:p>
          <a:p>
            <a:pPr algn="ctr"/>
            <a:r>
              <a:rPr lang="zh-CN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same initial</a:t>
            </a:r>
            <a:endParaRPr lang="zh-CN" sz="1100"/>
          </a:p>
          <a:p>
            <a:pPr algn="ctr"/>
            <a:r>
              <a:rPr lang="zh-CN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state)</a:t>
            </a:r>
            <a:endParaRPr lang="zh-CN" sz="1100"/>
          </a:p>
        </p:txBody>
      </p:sp>
      <p:sp>
        <p:nvSpPr>
          <p:cNvPr id="53" name="TextBox 53"/>
          <p:cNvSpPr txBox="1"/>
          <p:nvPr/>
        </p:nvSpPr>
        <p:spPr>
          <a:xfrm>
            <a:off x="7772400" y="1657350"/>
            <a:ext cx="1428750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0C6A13"/>
                </a:solidFill>
                <a:latin typeface="Arial"/>
                <a:ea typeface="Arial"/>
                <a:cs typeface="Arial"/>
              </a:rPr>
              <a:t>TRAIN SPLIT</a:t>
            </a:r>
            <a:endParaRPr lang="zh-CN" sz="1300"/>
          </a:p>
        </p:txBody>
      </p:sp>
      <p:sp>
        <p:nvSpPr>
          <p:cNvPr id="54" name="TextBox 54"/>
          <p:cNvSpPr txBox="1"/>
          <p:nvPr/>
        </p:nvSpPr>
        <p:spPr>
          <a:xfrm>
            <a:off x="4705350" y="2228850"/>
            <a:ext cx="1276350" cy="628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1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Success</a:t>
            </a:r>
            <a:endParaRPr lang="zh-CN" sz="1160"/>
          </a:p>
          <a:p>
            <a:pPr algn="ctr"/>
            <a:r>
              <a:rPr lang="zh-CN" sz="11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posterior </a:t>
            </a:r>
            <a:r>
              <a:rPr lang="zh-CN" sz="116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ĥ(x)</a:t>
            </a:r>
            <a:endParaRPr lang="zh-CN" sz="1160"/>
          </a:p>
        </p:txBody>
      </p:sp>
      <p:sp>
        <p:nvSpPr>
          <p:cNvPr id="55" name="TextBox 55"/>
          <p:cNvSpPr txBox="1"/>
          <p:nvPr/>
        </p:nvSpPr>
        <p:spPr>
          <a:xfrm>
            <a:off x="4705350" y="2895600"/>
            <a:ext cx="1276350" cy="1181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binary success</a:t>
            </a:r>
            <a:endParaRPr lang="zh-CN" sz="1050"/>
          </a:p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labels →</a:t>
            </a:r>
            <a:endParaRPr lang="zh-CN" sz="1050"/>
          </a:p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calibrated</a:t>
            </a:r>
            <a:endParaRPr lang="zh-CN" sz="1050"/>
          </a:p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classifier</a:t>
            </a:r>
            <a:endParaRPr lang="zh-CN" sz="1050"/>
          </a:p>
        </p:txBody>
      </p:sp>
      <p:sp>
        <p:nvSpPr>
          <p:cNvPr id="56" name="TextBox 56"/>
          <p:cNvSpPr txBox="1"/>
          <p:nvPr/>
        </p:nvSpPr>
        <p:spPr>
          <a:xfrm>
            <a:off x="5981700" y="2609850"/>
            <a:ext cx="895350" cy="514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energy</a:t>
            </a:r>
            <a:endParaRPr lang="zh-CN" sz="950"/>
          </a:p>
          <a:p>
            <a:pPr algn="ctr"/>
            <a:r>
              <a:rPr lang="zh-CN" sz="950" i="1">
                <a:solidFill>
                  <a:srgbClr val="333333"/>
                </a:solidFill>
                <a:latin typeface="Arial"/>
                <a:ea typeface="Arial"/>
                <a:cs typeface="Arial"/>
              </a:rPr>
              <a:t>E</a:t>
            </a:r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 = −log </a:t>
            </a:r>
            <a:r>
              <a:rPr lang="zh-CN" sz="950" i="1">
                <a:solidFill>
                  <a:srgbClr val="333333"/>
                </a:solidFill>
                <a:latin typeface="Arial"/>
                <a:ea typeface="Arial"/>
                <a:cs typeface="Arial"/>
              </a:rPr>
              <a:t>ĥ</a:t>
            </a:r>
            <a:endParaRPr lang="zh-CN" sz="950"/>
          </a:p>
        </p:txBody>
      </p:sp>
      <p:sp>
        <p:nvSpPr>
          <p:cNvPr id="57" name="TextBox 57"/>
          <p:cNvSpPr txBox="1"/>
          <p:nvPr/>
        </p:nvSpPr>
        <p:spPr>
          <a:xfrm>
            <a:off x="6915150" y="2190750"/>
            <a:ext cx="1552575" cy="914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Annealed</a:t>
            </a:r>
            <a:endParaRPr lang="zh-CN" sz="1250"/>
          </a:p>
          <a:p>
            <a:pPr algn="ctr"/>
            <a:r>
              <a:rPr lang="zh-CN" sz="1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multimode</a:t>
            </a:r>
            <a:endParaRPr lang="zh-CN" sz="1250"/>
          </a:p>
          <a:p>
            <a:pPr algn="ctr"/>
            <a:r>
              <a:rPr lang="zh-CN" sz="1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sampling</a:t>
            </a:r>
            <a:endParaRPr lang="zh-CN" sz="1250"/>
          </a:p>
        </p:txBody>
      </p:sp>
      <p:sp>
        <p:nvSpPr>
          <p:cNvPr id="58" name="TextBox 58"/>
          <p:cNvSpPr txBox="1"/>
          <p:nvPr/>
        </p:nvSpPr>
        <p:spPr>
          <a:xfrm>
            <a:off x="6915150" y="3124200"/>
            <a:ext cx="1552575" cy="933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replica ladder</a:t>
            </a:r>
            <a:endParaRPr lang="zh-CN" sz="1050"/>
          </a:p>
          <a:p>
            <a:pPr algn="ctr"/>
            <a:r>
              <a:rPr lang="zh-CN" sz="1050" i="1">
                <a:solidFill>
                  <a:srgbClr val="222222"/>
                </a:solidFill>
                <a:latin typeface="Arial"/>
                <a:ea typeface="Arial"/>
                <a:cs typeface="Arial"/>
              </a:rPr>
              <a:t>β</a:t>
            </a:r>
            <a:r>
              <a:rPr lang="zh-CN" sz="1050" baseline="-2500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 &lt; ⋯ &lt; </a:t>
            </a:r>
            <a:r>
              <a:rPr lang="zh-CN" sz="1050" i="1">
                <a:solidFill>
                  <a:srgbClr val="222222"/>
                </a:solidFill>
                <a:latin typeface="Arial"/>
                <a:ea typeface="Arial"/>
                <a:cs typeface="Arial"/>
              </a:rPr>
              <a:t>β</a:t>
            </a:r>
            <a:r>
              <a:rPr lang="zh-CN" sz="1050" i="1" baseline="-25000">
                <a:solidFill>
                  <a:srgbClr val="222222"/>
                </a:solidFill>
                <a:latin typeface="Arial"/>
                <a:ea typeface="Arial"/>
                <a:cs typeface="Arial"/>
              </a:rPr>
              <a:t>L</a:t>
            </a:r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,</a:t>
            </a:r>
            <a:endParaRPr lang="zh-CN" sz="1050"/>
          </a:p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in-denoising</a:t>
            </a:r>
            <a:endParaRPr lang="zh-CN" sz="1050"/>
          </a:p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guidance</a:t>
            </a:r>
            <a:endParaRPr lang="zh-CN" sz="1050"/>
          </a:p>
        </p:txBody>
      </p:sp>
      <p:sp>
        <p:nvSpPr>
          <p:cNvPr id="59" name="TextBox 59"/>
          <p:cNvSpPr txBox="1"/>
          <p:nvPr/>
        </p:nvSpPr>
        <p:spPr>
          <a:xfrm>
            <a:off x="8467725" y="2647950"/>
            <a:ext cx="895350" cy="704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clustered</a:t>
            </a:r>
            <a:endParaRPr lang="zh-CN" sz="950"/>
          </a:p>
          <a:p>
            <a:pPr algn="ctr"/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success</a:t>
            </a:r>
            <a:endParaRPr lang="zh-CN" sz="950"/>
          </a:p>
          <a:p>
            <a:pPr algn="ctr"/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modes</a:t>
            </a:r>
            <a:endParaRPr lang="zh-CN" sz="950"/>
          </a:p>
        </p:txBody>
      </p:sp>
      <p:sp>
        <p:nvSpPr>
          <p:cNvPr id="60" name="TextBox 60"/>
          <p:cNvSpPr txBox="1"/>
          <p:nvPr/>
        </p:nvSpPr>
        <p:spPr>
          <a:xfrm>
            <a:off x="9344025" y="2266950"/>
            <a:ext cx="1171575" cy="876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Coverage-</a:t>
            </a:r>
            <a:endParaRPr lang="zh-CN" sz="1250"/>
          </a:p>
          <a:p>
            <a:pPr algn="ctr"/>
            <a:r>
              <a:rPr lang="zh-CN" sz="1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constrained</a:t>
            </a:r>
            <a:endParaRPr lang="zh-CN" sz="1250"/>
          </a:p>
          <a:p>
            <a:pPr algn="ctr"/>
            <a:r>
              <a:rPr lang="zh-CN" sz="1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distillation</a:t>
            </a:r>
            <a:endParaRPr lang="zh-CN" sz="1250"/>
          </a:p>
        </p:txBody>
      </p:sp>
      <p:sp>
        <p:nvSpPr>
          <p:cNvPr id="61" name="TextBox 61"/>
          <p:cNvSpPr txBox="1"/>
          <p:nvPr/>
        </p:nvSpPr>
        <p:spPr>
          <a:xfrm>
            <a:off x="9344025" y="3200400"/>
            <a:ext cx="1171575" cy="609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per-cluster</a:t>
            </a:r>
            <a:endParaRPr lang="zh-CN" sz="1050"/>
          </a:p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quotas </a:t>
            </a:r>
            <a:r>
              <a:rPr lang="zh-CN" sz="1050" i="1">
                <a:solidFill>
                  <a:srgbClr val="222222"/>
                </a:solidFill>
                <a:latin typeface="Arial"/>
                <a:ea typeface="Arial"/>
                <a:cs typeface="Arial"/>
              </a:rPr>
              <a:t>ρ</a:t>
            </a:r>
            <a:endParaRPr lang="zh-CN" sz="1050"/>
          </a:p>
        </p:txBody>
      </p:sp>
      <p:sp>
        <p:nvSpPr>
          <p:cNvPr id="62" name="TextBox 62"/>
          <p:cNvSpPr txBox="1"/>
          <p:nvPr/>
        </p:nvSpPr>
        <p:spPr>
          <a:xfrm>
            <a:off x="10534650" y="2838450"/>
            <a:ext cx="952500" cy="590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candidate</a:t>
            </a:r>
            <a:endParaRPr lang="zh-CN" sz="950"/>
          </a:p>
          <a:p>
            <a:pPr algn="ctr"/>
            <a:r>
              <a:rPr lang="zh-CN" sz="950" i="1">
                <a:solidFill>
                  <a:srgbClr val="333333"/>
                </a:solidFill>
                <a:latin typeface="Arial"/>
                <a:ea typeface="Arial"/>
                <a:cs typeface="Arial"/>
              </a:rPr>
              <a:t>π(m+1)</a:t>
            </a:r>
            <a:endParaRPr lang="zh-CN" sz="950"/>
          </a:p>
        </p:txBody>
      </p:sp>
      <p:sp>
        <p:nvSpPr>
          <p:cNvPr id="63" name="TextBox 63"/>
          <p:cNvSpPr txBox="1"/>
          <p:nvPr/>
        </p:nvSpPr>
        <p:spPr>
          <a:xfrm>
            <a:off x="5581650" y="4953000"/>
            <a:ext cx="4038600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mechanism, two roles — disjoint data</a:t>
            </a:r>
            <a:endParaRPr lang="zh-CN" sz="1250"/>
          </a:p>
        </p:txBody>
      </p:sp>
      <p:sp>
        <p:nvSpPr>
          <p:cNvPr id="64" name="TextBox 64"/>
          <p:cNvSpPr txBox="1"/>
          <p:nvPr/>
        </p:nvSpPr>
        <p:spPr>
          <a:xfrm>
            <a:off x="5705475" y="5753100"/>
            <a:ext cx="2867025" cy="590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Paired evaluation on</a:t>
            </a:r>
            <a:endParaRPr lang="zh-CN" sz="1250"/>
          </a:p>
          <a:p>
            <a:pPr algn="ctr"/>
            <a:r>
              <a:rPr lang="zh-CN" sz="1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anchored distribution </a:t>
            </a:r>
            <a:r>
              <a:rPr lang="zh-CN" sz="125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  <a:r>
              <a:rPr lang="zh-CN" sz="1250" b="1" baseline="-250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anchor</a:t>
            </a:r>
            <a:endParaRPr lang="zh-CN" sz="1250"/>
          </a:p>
        </p:txBody>
      </p:sp>
      <p:sp>
        <p:nvSpPr>
          <p:cNvPr id="65" name="TextBox 65"/>
          <p:cNvSpPr txBox="1"/>
          <p:nvPr/>
        </p:nvSpPr>
        <p:spPr>
          <a:xfrm>
            <a:off x="5705475" y="6343650"/>
            <a:ext cx="2867025" cy="5905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damage = incumbent succeeds ∧</a:t>
            </a:r>
            <a:endParaRPr lang="zh-CN" sz="1050"/>
          </a:p>
          <a:p>
            <a:pPr algn="ctr"/>
            <a:r>
              <a:rPr lang="zh-CN"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candidate fails (Bernoulli)</a:t>
            </a:r>
            <a:endParaRPr lang="zh-CN" sz="1050"/>
          </a:p>
        </p:txBody>
      </p:sp>
      <p:sp>
        <p:nvSpPr>
          <p:cNvPr id="66" name="TextBox 66"/>
          <p:cNvSpPr txBox="1"/>
          <p:nvPr/>
        </p:nvSpPr>
        <p:spPr>
          <a:xfrm>
            <a:off x="9715500" y="5791200"/>
            <a:ext cx="990600" cy="514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damage</a:t>
            </a:r>
            <a:endParaRPr lang="zh-CN" sz="950"/>
          </a:p>
          <a:p>
            <a:pPr algn="ctr"/>
            <a:r>
              <a:rPr lang="zh-CN" sz="950">
                <a:solidFill>
                  <a:srgbClr val="333333"/>
                </a:solidFill>
                <a:latin typeface="Arial"/>
                <a:ea typeface="Arial"/>
                <a:cs typeface="Arial"/>
              </a:rPr>
              <a:t>counts</a:t>
            </a:r>
            <a:endParaRPr lang="zh-CN" sz="950"/>
          </a:p>
        </p:txBody>
      </p:sp>
      <p:sp>
        <p:nvSpPr>
          <p:cNvPr id="67" name="TextBox 67"/>
          <p:cNvSpPr txBox="1"/>
          <p:nvPr/>
        </p:nvSpPr>
        <p:spPr>
          <a:xfrm>
            <a:off x="7753350" y="7239000"/>
            <a:ext cx="1447800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9D3F05"/>
                </a:solidFill>
                <a:latin typeface="Arial"/>
                <a:ea typeface="Arial"/>
                <a:cs typeface="Arial"/>
              </a:rPr>
              <a:t>CERT SPLIT</a:t>
            </a:r>
            <a:endParaRPr lang="zh-CN" sz="1300"/>
          </a:p>
        </p:txBody>
      </p:sp>
      <p:sp>
        <p:nvSpPr>
          <p:cNvPr id="68" name="TextBox 68"/>
          <p:cNvSpPr txBox="1"/>
          <p:nvPr/>
        </p:nvSpPr>
        <p:spPr>
          <a:xfrm>
            <a:off x="11515725" y="2914650"/>
            <a:ext cx="1666875" cy="704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913804"/>
                </a:solidFill>
                <a:latin typeface="Arial"/>
                <a:ea typeface="Arial"/>
                <a:cs typeface="Arial"/>
              </a:rPr>
              <a:t>LTT</a:t>
            </a:r>
            <a:endParaRPr lang="zh-CN" sz="1300"/>
          </a:p>
          <a:p>
            <a:pPr algn="ctr"/>
            <a:r>
              <a:rPr lang="zh-CN" sz="1300" b="1">
                <a:solidFill>
                  <a:srgbClr val="913804"/>
                </a:solidFill>
                <a:latin typeface="Arial"/>
                <a:ea typeface="Arial"/>
                <a:cs typeface="Arial"/>
              </a:rPr>
              <a:t>certificate gate</a:t>
            </a:r>
            <a:endParaRPr lang="zh-CN" sz="1300"/>
          </a:p>
        </p:txBody>
      </p:sp>
      <p:sp>
        <p:nvSpPr>
          <p:cNvPr id="69" name="TextBox 69"/>
          <p:cNvSpPr txBox="1"/>
          <p:nvPr/>
        </p:nvSpPr>
        <p:spPr>
          <a:xfrm>
            <a:off x="11925300" y="3924300"/>
            <a:ext cx="1200150" cy="495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100" i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</a:t>
            </a:r>
            <a:r>
              <a:rPr lang="zh-CN" sz="1100">
                <a:solidFill>
                  <a:srgbClr val="222222"/>
                </a:solidFill>
                <a:latin typeface="Arial"/>
                <a:ea typeface="Arial"/>
                <a:cs typeface="Arial"/>
              </a:rPr>
              <a:t> ≤ </a:t>
            </a:r>
            <a:r>
              <a:rPr lang="zh-CN" sz="1100" i="1">
                <a:solidFill>
                  <a:srgbClr val="222222"/>
                </a:solidFill>
                <a:latin typeface="Arial"/>
                <a:ea typeface="Arial"/>
                <a:cs typeface="Arial"/>
              </a:rPr>
              <a:t>ε</a:t>
            </a:r>
            <a:endParaRPr lang="zh-CN" sz="900"/>
          </a:p>
          <a:p>
            <a:pPr algn="l"/>
            <a:r>
              <a:rPr lang="zh-CN" sz="900">
                <a:solidFill>
                  <a:srgbClr val="222222"/>
                </a:solidFill>
                <a:latin typeface="Arial"/>
                <a:ea typeface="Arial"/>
                <a:cs typeface="Arial"/>
              </a:rPr>
              <a:t>at confidence 1−</a:t>
            </a:r>
            <a:r>
              <a:rPr lang="zh-CN" sz="900" i="1">
                <a:solidFill>
                  <a:srgbClr val="222222"/>
                </a:solidFill>
                <a:latin typeface="Arial"/>
                <a:ea typeface="Arial"/>
                <a:cs typeface="Arial"/>
              </a:rPr>
              <a:t>δ</a:t>
            </a:r>
            <a:endParaRPr lang="zh-CN" sz="900"/>
          </a:p>
        </p:txBody>
      </p:sp>
      <p:sp>
        <p:nvSpPr>
          <p:cNvPr id="70" name="TextBox 70"/>
          <p:cNvSpPr txBox="1"/>
          <p:nvPr/>
        </p:nvSpPr>
        <p:spPr>
          <a:xfrm>
            <a:off x="11925300" y="4991100"/>
            <a:ext cx="12001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panel: KL budget</a:t>
            </a:r>
            <a:endParaRPr lang="zh-CN" sz="1000"/>
          </a:p>
        </p:txBody>
      </p:sp>
      <p:sp>
        <p:nvSpPr>
          <p:cNvPr id="71" name="TextBox 71"/>
          <p:cNvSpPr txBox="1"/>
          <p:nvPr/>
        </p:nvSpPr>
        <p:spPr>
          <a:xfrm>
            <a:off x="11925300" y="5619750"/>
            <a:ext cx="1200150" cy="552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panel: </a:t>
            </a:r>
            <a:r>
              <a:rPr lang="zh-CN" sz="1000" i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  <a:r>
              <a:rPr lang="zh-CN" sz="1000" baseline="-25000">
                <a:solidFill>
                  <a:srgbClr val="222222"/>
                </a:solidFill>
                <a:latin typeface="Arial"/>
                <a:ea typeface="Arial"/>
                <a:cs typeface="Arial"/>
              </a:rPr>
              <a:t>eff</a:t>
            </a:r>
            <a:endParaRPr lang="zh-CN" sz="1000"/>
          </a:p>
          <a:p>
            <a:pPr algn="l"/>
            <a:r>
              <a:rPr lang="zh-CN"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non-decreasing</a:t>
            </a:r>
            <a:endParaRPr lang="zh-CN" sz="1000"/>
          </a:p>
        </p:txBody>
      </p:sp>
      <p:sp>
        <p:nvSpPr>
          <p:cNvPr id="72" name="TextBox 72"/>
          <p:cNvSpPr txBox="1"/>
          <p:nvPr/>
        </p:nvSpPr>
        <p:spPr>
          <a:xfrm>
            <a:off x="12973050" y="1504950"/>
            <a:ext cx="1447800" cy="876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A6212"/>
                </a:solidFill>
                <a:latin typeface="Arial"/>
                <a:ea typeface="Arial"/>
                <a:cs typeface="Arial"/>
              </a:rPr>
              <a:t>certified →</a:t>
            </a:r>
            <a:endParaRPr lang="zh-CN" sz="1150"/>
          </a:p>
          <a:p>
            <a:pPr algn="ctr"/>
            <a:r>
              <a:rPr lang="zh-CN" sz="1150" b="1">
                <a:solidFill>
                  <a:srgbClr val="0A6212"/>
                </a:solidFill>
                <a:latin typeface="Arial"/>
                <a:ea typeface="Arial"/>
                <a:cs typeface="Arial"/>
              </a:rPr>
              <a:t>ship </a:t>
            </a:r>
            <a:r>
              <a:rPr lang="zh-CN" sz="1150" b="1" i="1">
                <a:solidFill>
                  <a:srgbClr val="0A6212"/>
                </a:solidFill>
                <a:latin typeface="Arial"/>
                <a:ea typeface="Arial"/>
                <a:cs typeface="Arial"/>
              </a:rPr>
              <a:t>π(m+1)</a:t>
            </a:r>
            <a:r>
              <a:rPr lang="zh-CN" sz="1150" b="1">
                <a:solidFill>
                  <a:srgbClr val="0A6212"/>
                </a:solidFill>
                <a:latin typeface="Arial"/>
                <a:ea typeface="Arial"/>
                <a:cs typeface="Arial"/>
              </a:rPr>
              <a:t>,</a:t>
            </a:r>
            <a:endParaRPr lang="zh-CN" sz="1150"/>
          </a:p>
          <a:p>
            <a:pPr algn="ctr"/>
            <a:r>
              <a:rPr lang="zh-CN" sz="1150" b="1">
                <a:solidFill>
                  <a:srgbClr val="0A6212"/>
                </a:solidFill>
                <a:latin typeface="Arial"/>
                <a:ea typeface="Arial"/>
                <a:cs typeface="Arial"/>
              </a:rPr>
              <a:t>re-fork</a:t>
            </a:r>
            <a:endParaRPr lang="zh-CN" sz="1150"/>
          </a:p>
        </p:txBody>
      </p:sp>
      <p:sp>
        <p:nvSpPr>
          <p:cNvPr id="73" name="TextBox 73"/>
          <p:cNvSpPr txBox="1"/>
          <p:nvPr/>
        </p:nvSpPr>
        <p:spPr>
          <a:xfrm>
            <a:off x="13125450" y="7048500"/>
            <a:ext cx="1333500" cy="647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CC0605"/>
                </a:solidFill>
                <a:latin typeface="Arial"/>
                <a:ea typeface="Arial"/>
                <a:cs typeface="Arial"/>
              </a:rPr>
              <a:t>rejected →</a:t>
            </a:r>
            <a:endParaRPr lang="zh-CN" sz="1150"/>
          </a:p>
          <a:p>
            <a:pPr algn="ctr"/>
            <a:r>
              <a:rPr lang="zh-CN" sz="1150" b="1">
                <a:solidFill>
                  <a:srgbClr val="CC0605"/>
                </a:solidFill>
                <a:latin typeface="Arial"/>
                <a:ea typeface="Arial"/>
                <a:cs typeface="Arial"/>
              </a:rPr>
              <a:t>keep </a:t>
            </a:r>
            <a:r>
              <a:rPr lang="zh-CN" sz="1150" b="1" i="1">
                <a:solidFill>
                  <a:srgbClr val="CC0605"/>
                </a:solidFill>
                <a:latin typeface="Arial"/>
                <a:ea typeface="Arial"/>
                <a:cs typeface="Arial"/>
              </a:rPr>
              <a:t>π(m)</a:t>
            </a:r>
            <a:endParaRPr lang="zh-CN" sz="1150"/>
          </a:p>
        </p:txBody>
      </p:sp>
      <p:sp>
        <p:nvSpPr>
          <p:cNvPr id="74" name="TextBox 74"/>
          <p:cNvSpPr txBox="1"/>
          <p:nvPr/>
        </p:nvSpPr>
        <p:spPr>
          <a:xfrm>
            <a:off x="13106400" y="8362950"/>
            <a:ext cx="1276350" cy="571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17181B"/>
                </a:solidFill>
                <a:latin typeface="Arial"/>
                <a:ea typeface="Arial"/>
                <a:cs typeface="Arial"/>
              </a:rPr>
              <a:t>incumbent</a:t>
            </a:r>
            <a:endParaRPr lang="zh-CN" sz="1200"/>
          </a:p>
          <a:p>
            <a:pPr algn="ctr"/>
            <a:r>
              <a:rPr lang="zh-CN" sz="1200" b="1">
                <a:solidFill>
                  <a:srgbClr val="17181B"/>
                </a:solidFill>
                <a:latin typeface="Arial"/>
                <a:ea typeface="Arial"/>
                <a:cs typeface="Arial"/>
              </a:rPr>
              <a:t>unchanged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